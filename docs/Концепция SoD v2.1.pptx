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1"/>
  </p:notesMasterIdLst>
  <p:sldIdLst>
    <p:sldId id="256" r:id="rId2"/>
    <p:sldId id="280" r:id="rId3"/>
    <p:sldId id="281" r:id="rId4"/>
    <p:sldId id="285" r:id="rId5"/>
    <p:sldId id="282" r:id="rId6"/>
    <p:sldId id="286" r:id="rId7"/>
    <p:sldId id="287" r:id="rId8"/>
    <p:sldId id="284" r:id="rId9"/>
    <p:sldId id="288" r:id="rId10"/>
  </p:sldIdLst>
  <p:sldSz cx="243713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CFF"/>
    <a:srgbClr val="EBFFD8"/>
    <a:srgbClr val="E5F1FF"/>
    <a:srgbClr val="FFF1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CBCBCB"/>
          </a:solidFill>
        </a:fill>
      </a:tcStyle>
    </a:wholeTbl>
    <a:band2H>
      <a:tcTxStyle/>
      <a:tcStyle>
        <a:tcBdr/>
        <a:fill>
          <a:solidFill>
            <a:srgbClr val="E7E7E7"/>
          </a:solidFill>
        </a:fill>
      </a:tcStyle>
    </a:band2H>
    <a:firstCol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381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381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FFF9E7"/>
          </a:solidFill>
        </a:fill>
      </a:tcStyle>
    </a:wholeTbl>
    <a:band2H>
      <a:tcTxStyle/>
      <a:tcStyle>
        <a:tcBdr/>
        <a:fill>
          <a:solidFill>
            <a:srgbClr val="FFFCF4"/>
          </a:solidFill>
        </a:fill>
      </a:tcStyle>
    </a:band2H>
    <a:firstCol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381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381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F7FFF0"/>
          </a:solidFill>
        </a:fill>
      </a:tcStyle>
    </a:wholeTbl>
    <a:band2H>
      <a:tcTxStyle/>
      <a:tcStyle>
        <a:tcBdr/>
        <a:fill>
          <a:solidFill>
            <a:srgbClr val="FBFFF8"/>
          </a:solidFill>
        </a:fill>
      </a:tcStyle>
    </a:band2H>
    <a:firstCol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381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381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E5A05"/>
        </a:fontRef>
        <a:srgbClr val="0E5A05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9E6"/>
          </a:solidFill>
        </a:fill>
      </a:tcStyle>
    </a:wholeTbl>
    <a:band2H>
      <a:tcTxStyle/>
      <a:tcStyle>
        <a:tcBdr/>
        <a:fill>
          <a:solidFill>
            <a:srgbClr val="F8FFFF"/>
          </a:solidFill>
        </a:fill>
      </a:tcStyle>
    </a:band2H>
    <a:firstCol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E5A05"/>
        </a:fontRef>
        <a:srgbClr val="0E5A05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E5A05"/>
              </a:solidFill>
              <a:prstDash val="solid"/>
              <a:round/>
            </a:ln>
          </a:top>
          <a:bottom>
            <a:ln w="25400" cap="flat">
              <a:solidFill>
                <a:srgbClr val="0E5A05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8FFFF"/>
          </a:solidFill>
        </a:fill>
      </a:tcStyle>
    </a:lastRow>
    <a:fir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E5A05"/>
              </a:solidFill>
              <a:prstDash val="solid"/>
              <a:round/>
            </a:ln>
          </a:top>
          <a:bottom>
            <a:ln w="25400" cap="flat">
              <a:solidFill>
                <a:srgbClr val="0E5A05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CAD0CA"/>
          </a:solidFill>
        </a:fill>
      </a:tcStyle>
    </a:wholeTbl>
    <a:band2H>
      <a:tcTxStyle/>
      <a:tcStyle>
        <a:tcBdr/>
        <a:fill>
          <a:solidFill>
            <a:srgbClr val="E6E9E6"/>
          </a:solidFill>
        </a:fill>
      </a:tcStyle>
    </a:band2H>
    <a:firstCol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0E5A05"/>
          </a:solidFill>
        </a:fill>
      </a:tcStyle>
    </a:firstCol>
    <a:la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381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0E5A05"/>
          </a:solidFill>
        </a:fill>
      </a:tcStyle>
    </a:lastRow>
    <a:fir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381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0E5A0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0E5A05"/>
              </a:solidFill>
              <a:prstDash val="solid"/>
              <a:round/>
            </a:ln>
          </a:left>
          <a:right>
            <a:ln w="12700" cap="flat">
              <a:solidFill>
                <a:srgbClr val="0E5A05"/>
              </a:solidFill>
              <a:prstDash val="solid"/>
              <a:round/>
            </a:ln>
          </a:right>
          <a:top>
            <a:ln w="12700" cap="flat">
              <a:solidFill>
                <a:srgbClr val="0E5A05"/>
              </a:solidFill>
              <a:prstDash val="solid"/>
              <a:round/>
            </a:ln>
          </a:top>
          <a:bottom>
            <a:ln w="12700" cap="flat">
              <a:solidFill>
                <a:srgbClr val="0E5A05"/>
              </a:solidFill>
              <a:prstDash val="solid"/>
              <a:round/>
            </a:ln>
          </a:bottom>
          <a:insideH>
            <a:ln w="12700" cap="flat">
              <a:solidFill>
                <a:srgbClr val="0E5A05"/>
              </a:solidFill>
              <a:prstDash val="solid"/>
              <a:round/>
            </a:ln>
          </a:insideH>
          <a:insideV>
            <a:ln w="12700" cap="flat">
              <a:solidFill>
                <a:srgbClr val="0E5A05"/>
              </a:solidFill>
              <a:prstDash val="solid"/>
              <a:round/>
            </a:ln>
          </a:insideV>
        </a:tcBdr>
        <a:fill>
          <a:solidFill>
            <a:srgbClr val="0E5A05">
              <a:alpha val="20000"/>
            </a:srgbClr>
          </a:solidFill>
        </a:fill>
      </a:tcStyle>
    </a:wholeTbl>
    <a:band2H>
      <a:tcTxStyle/>
      <a:tcStyle>
        <a:tcBdr/>
        <a:fill>
          <a:solidFill>
            <a:schemeClr val="accent6">
              <a:hueOff val="-5353846"/>
              <a:satOff val="-95121"/>
              <a:lumOff val="8039"/>
            </a:schemeClr>
          </a:solidFill>
        </a:fill>
      </a:tcStyle>
    </a:band2H>
    <a:firstCol>
      <a:tcTxStyle b="on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0E5A05"/>
              </a:solidFill>
              <a:prstDash val="solid"/>
              <a:round/>
            </a:ln>
          </a:left>
          <a:right>
            <a:ln w="12700" cap="flat">
              <a:solidFill>
                <a:srgbClr val="0E5A05"/>
              </a:solidFill>
              <a:prstDash val="solid"/>
              <a:round/>
            </a:ln>
          </a:right>
          <a:top>
            <a:ln w="12700" cap="flat">
              <a:solidFill>
                <a:srgbClr val="0E5A05"/>
              </a:solidFill>
              <a:prstDash val="solid"/>
              <a:round/>
            </a:ln>
          </a:top>
          <a:bottom>
            <a:ln w="12700" cap="flat">
              <a:solidFill>
                <a:srgbClr val="0E5A05"/>
              </a:solidFill>
              <a:prstDash val="solid"/>
              <a:round/>
            </a:ln>
          </a:bottom>
          <a:insideH>
            <a:ln w="12700" cap="flat">
              <a:solidFill>
                <a:srgbClr val="0E5A05"/>
              </a:solidFill>
              <a:prstDash val="solid"/>
              <a:round/>
            </a:ln>
          </a:insideH>
          <a:insideV>
            <a:ln w="12700" cap="flat">
              <a:solidFill>
                <a:srgbClr val="0E5A05"/>
              </a:solidFill>
              <a:prstDash val="solid"/>
              <a:round/>
            </a:ln>
          </a:insideV>
        </a:tcBdr>
        <a:fill>
          <a:solidFill>
            <a:srgbClr val="0E5A05">
              <a:alpha val="20000"/>
            </a:srgbClr>
          </a:solidFill>
        </a:fill>
      </a:tcStyle>
    </a:firstCol>
    <a:lastRow>
      <a:tcTxStyle b="on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0E5A05"/>
              </a:solidFill>
              <a:prstDash val="solid"/>
              <a:round/>
            </a:ln>
          </a:left>
          <a:right>
            <a:ln w="12700" cap="flat">
              <a:solidFill>
                <a:srgbClr val="0E5A05"/>
              </a:solidFill>
              <a:prstDash val="solid"/>
              <a:round/>
            </a:ln>
          </a:right>
          <a:top>
            <a:ln w="50800" cap="flat">
              <a:solidFill>
                <a:srgbClr val="0E5A05"/>
              </a:solidFill>
              <a:prstDash val="solid"/>
              <a:round/>
            </a:ln>
          </a:top>
          <a:bottom>
            <a:ln w="12700" cap="flat">
              <a:solidFill>
                <a:srgbClr val="0E5A05"/>
              </a:solidFill>
              <a:prstDash val="solid"/>
              <a:round/>
            </a:ln>
          </a:bottom>
          <a:insideH>
            <a:ln w="12700" cap="flat">
              <a:solidFill>
                <a:srgbClr val="0E5A05"/>
              </a:solidFill>
              <a:prstDash val="solid"/>
              <a:round/>
            </a:ln>
          </a:insideH>
          <a:insideV>
            <a:ln w="12700" cap="flat">
              <a:solidFill>
                <a:srgbClr val="0E5A05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0E5A05"/>
              </a:solidFill>
              <a:prstDash val="solid"/>
              <a:round/>
            </a:ln>
          </a:left>
          <a:right>
            <a:ln w="12700" cap="flat">
              <a:solidFill>
                <a:srgbClr val="0E5A05"/>
              </a:solidFill>
              <a:prstDash val="solid"/>
              <a:round/>
            </a:ln>
          </a:right>
          <a:top>
            <a:ln w="12700" cap="flat">
              <a:solidFill>
                <a:srgbClr val="0E5A05"/>
              </a:solidFill>
              <a:prstDash val="solid"/>
              <a:round/>
            </a:ln>
          </a:top>
          <a:bottom>
            <a:ln w="25400" cap="flat">
              <a:solidFill>
                <a:srgbClr val="0E5A05"/>
              </a:solidFill>
              <a:prstDash val="solid"/>
              <a:round/>
            </a:ln>
          </a:bottom>
          <a:insideH>
            <a:ln w="12700" cap="flat">
              <a:solidFill>
                <a:srgbClr val="0E5A05"/>
              </a:solidFill>
              <a:prstDash val="solid"/>
              <a:round/>
            </a:ln>
          </a:insideH>
          <a:insideV>
            <a:ln w="12700" cap="flat">
              <a:solidFill>
                <a:srgbClr val="0E5A05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/>
    <p:restoredTop sz="96327"/>
  </p:normalViewPr>
  <p:slideViewPr>
    <p:cSldViewPr snapToGrid="0">
      <p:cViewPr>
        <p:scale>
          <a:sx n="75" d="100"/>
          <a:sy n="75" d="100"/>
        </p:scale>
        <p:origin x="299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Shape 79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5" name="Shape 79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ользовательский макет">
    <p:bg>
      <p:bgPr>
        <a:solidFill>
          <a:srgbClr val="0D59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5" descr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371" y="0"/>
            <a:ext cx="17322806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Рисунок 2" descr="Изображение выглядит как Бумага для творчества, Декоративный картон, бумага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id="{162F53C0-219A-971C-872F-7F4769AB95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371431">
            <a:off x="4219946" y="-541944"/>
            <a:ext cx="14665253" cy="12325615"/>
          </a:xfrm>
          <a:prstGeom prst="rect">
            <a:avLst/>
          </a:prstGeom>
        </p:spPr>
      </p:pic>
      <p:pic>
        <p:nvPicPr>
          <p:cNvPr id="12" name="Рисунок 3" descr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08026" y="1409706"/>
            <a:ext cx="3308370" cy="2481279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 3"/>
          <p:cNvSpPr txBox="1"/>
          <p:nvPr/>
        </p:nvSpPr>
        <p:spPr>
          <a:xfrm>
            <a:off x="23256611" y="13030207"/>
            <a:ext cx="70705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000" spc="-39">
                <a:solidFill>
                  <a:schemeClr val="accent6">
                    <a:hueOff val="-5353846"/>
                    <a:satOff val="-95121"/>
                    <a:lumOff val="8039"/>
                  </a:schemeClr>
                </a:solidFill>
                <a:latin typeface="X5 Sans Regular"/>
                <a:ea typeface="X5 Sans Regular"/>
                <a:cs typeface="X5 Sans Regular"/>
                <a:sym typeface="X5 Sans Regular"/>
              </a:defRPr>
            </a:lvl1pPr>
          </a:lstStyle>
          <a:p>
            <a:r>
              <a:t>X5.ru</a:t>
            </a:r>
          </a:p>
        </p:txBody>
      </p:sp>
      <p:sp>
        <p:nvSpPr>
          <p:cNvPr id="14" name="Текст текст текст"/>
          <p:cNvSpPr txBox="1">
            <a:spLocks noGrp="1"/>
          </p:cNvSpPr>
          <p:nvPr>
            <p:ph type="title" hasCustomPrompt="1"/>
          </p:nvPr>
        </p:nvSpPr>
        <p:spPr>
          <a:xfrm>
            <a:off x="481171" y="505673"/>
            <a:ext cx="8084156" cy="2871392"/>
          </a:xfrm>
          <a:prstGeom prst="rect">
            <a:avLst/>
          </a:prstGeom>
        </p:spPr>
        <p:txBody>
          <a:bodyPr anchor="t"/>
          <a:lstStyle>
            <a:lvl1pPr>
              <a:defRPr sz="7200">
                <a:solidFill>
                  <a:srgbClr val="C4EB91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15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08001" y="3872793"/>
            <a:ext cx="6212127" cy="198429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600">
                <a:solidFill>
                  <a:srgbClr val="C4EB91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  <a:lvl2pPr marL="1161991" indent="-247637">
              <a:buFontTx/>
              <a:defRPr sz="2600">
                <a:solidFill>
                  <a:srgbClr val="C4EB91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2pPr>
            <a:lvl3pPr marL="2125874" indent="-297165">
              <a:buFontTx/>
              <a:defRPr sz="2600">
                <a:solidFill>
                  <a:srgbClr val="C4EB91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3pPr>
            <a:lvl4pPr marL="3073246" indent="-330183">
              <a:buFontTx/>
              <a:defRPr sz="2600">
                <a:solidFill>
                  <a:srgbClr val="C4EB91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4pPr>
            <a:lvl5pPr marL="3987600" indent="-330183">
              <a:buFontTx/>
              <a:defRPr sz="2600">
                <a:solidFill>
                  <a:srgbClr val="C4EB91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5pPr>
          </a:lstStyle>
          <a:p>
            <a:r>
              <a:t>Текст текст текст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7" name="Рисунок 2" descr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1" y="7823207"/>
            <a:ext cx="24384005" cy="5892804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Image 7" descr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6087" y="8369300"/>
            <a:ext cx="3880528" cy="3595611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6B63BA3-FA28-9DA0-185B-BF30ABB0043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7368" y="12724068"/>
            <a:ext cx="699282" cy="494614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4283" y="343749"/>
            <a:ext cx="3072689" cy="3597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  <a:lvl2pPr marL="1104844" indent="-190490">
              <a:lnSpc>
                <a:spcPct val="100000"/>
              </a:lnSpc>
              <a:buFontTx/>
              <a:defRPr sz="2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2pPr>
            <a:lvl3pPr marL="2057297" indent="-228588">
              <a:lnSpc>
                <a:spcPct val="100000"/>
              </a:lnSpc>
              <a:buFontTx/>
              <a:defRPr sz="2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3pPr>
            <a:lvl4pPr marL="2997050" indent="-253987">
              <a:lnSpc>
                <a:spcPct val="100000"/>
              </a:lnSpc>
              <a:buFontTx/>
              <a:defRPr sz="2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4pPr>
            <a:lvl5pPr marL="3911403" indent="-253987">
              <a:lnSpc>
                <a:spcPct val="100000"/>
              </a:lnSpc>
              <a:buFontTx/>
              <a:defRPr sz="2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5pPr>
          </a:lstStyle>
          <a:p>
            <a:r>
              <a:t>Текст текст текст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81" name="Текст 68"/>
          <p:cNvSpPr>
            <a:spLocks noGrp="1"/>
          </p:cNvSpPr>
          <p:nvPr>
            <p:ph type="body" sz="quarter" idx="21" hasCustomPrompt="1"/>
          </p:nvPr>
        </p:nvSpPr>
        <p:spPr>
          <a:xfrm>
            <a:off x="8370375" y="343748"/>
            <a:ext cx="3820832" cy="4613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2" name="Текст 68"/>
          <p:cNvSpPr>
            <a:spLocks noGrp="1"/>
          </p:cNvSpPr>
          <p:nvPr>
            <p:ph type="body" sz="quarter" idx="22" hasCustomPrompt="1"/>
          </p:nvPr>
        </p:nvSpPr>
        <p:spPr>
          <a:xfrm>
            <a:off x="16827411" y="328927"/>
            <a:ext cx="7048464" cy="11809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6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3" name="Текст 68"/>
          <p:cNvSpPr>
            <a:spLocks noGrp="1"/>
          </p:cNvSpPr>
          <p:nvPr>
            <p:ph type="body" sz="quarter" idx="23" hasCustomPrompt="1"/>
          </p:nvPr>
        </p:nvSpPr>
        <p:spPr>
          <a:xfrm>
            <a:off x="431797" y="2801086"/>
            <a:ext cx="4669345" cy="41172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4" name="Текст 68"/>
          <p:cNvSpPr>
            <a:spLocks noGrp="1"/>
          </p:cNvSpPr>
          <p:nvPr>
            <p:ph type="body" sz="quarter" idx="24" hasCustomPrompt="1"/>
          </p:nvPr>
        </p:nvSpPr>
        <p:spPr>
          <a:xfrm>
            <a:off x="431797" y="3278804"/>
            <a:ext cx="4669345" cy="12371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200"/>
              </a:lnSpc>
              <a:buSzTx/>
              <a:buFontTx/>
              <a:buNone/>
              <a:defRPr sz="4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5" name="Текст 68"/>
          <p:cNvSpPr>
            <a:spLocks noGrp="1"/>
          </p:cNvSpPr>
          <p:nvPr>
            <p:ph type="body" sz="quarter" idx="25" hasCustomPrompt="1"/>
          </p:nvPr>
        </p:nvSpPr>
        <p:spPr>
          <a:xfrm>
            <a:off x="6451566" y="2791511"/>
            <a:ext cx="4669345" cy="41172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6" name="Текст 68"/>
          <p:cNvSpPr>
            <a:spLocks noGrp="1"/>
          </p:cNvSpPr>
          <p:nvPr>
            <p:ph type="body" sz="quarter" idx="26" hasCustomPrompt="1"/>
          </p:nvPr>
        </p:nvSpPr>
        <p:spPr>
          <a:xfrm>
            <a:off x="6451566" y="3269229"/>
            <a:ext cx="4669345" cy="12371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200"/>
              </a:lnSpc>
              <a:buSzTx/>
              <a:buFontTx/>
              <a:buNone/>
              <a:defRPr sz="4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7" name="Текст 68"/>
          <p:cNvSpPr>
            <a:spLocks noGrp="1"/>
          </p:cNvSpPr>
          <p:nvPr>
            <p:ph type="body" sz="quarter" idx="27" hasCustomPrompt="1"/>
          </p:nvPr>
        </p:nvSpPr>
        <p:spPr>
          <a:xfrm>
            <a:off x="12413278" y="2765766"/>
            <a:ext cx="4669345" cy="41172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8" name="Текст 68"/>
          <p:cNvSpPr>
            <a:spLocks noGrp="1"/>
          </p:cNvSpPr>
          <p:nvPr>
            <p:ph type="body" sz="quarter" idx="28" hasCustomPrompt="1"/>
          </p:nvPr>
        </p:nvSpPr>
        <p:spPr>
          <a:xfrm>
            <a:off x="12413278" y="3243484"/>
            <a:ext cx="4669345" cy="123711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200"/>
              </a:lnSpc>
              <a:buSzTx/>
              <a:buFontTx/>
              <a:buNone/>
              <a:defRPr sz="4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9" name="Текст 68"/>
          <p:cNvSpPr>
            <a:spLocks noGrp="1"/>
          </p:cNvSpPr>
          <p:nvPr>
            <p:ph type="body" sz="quarter" idx="29" hasCustomPrompt="1"/>
          </p:nvPr>
        </p:nvSpPr>
        <p:spPr>
          <a:xfrm>
            <a:off x="18324128" y="2765766"/>
            <a:ext cx="4669345" cy="41172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90" name="Текст 68"/>
          <p:cNvSpPr>
            <a:spLocks noGrp="1"/>
          </p:cNvSpPr>
          <p:nvPr>
            <p:ph type="body" sz="quarter" idx="30" hasCustomPrompt="1"/>
          </p:nvPr>
        </p:nvSpPr>
        <p:spPr>
          <a:xfrm>
            <a:off x="18324128" y="3243484"/>
            <a:ext cx="4669345" cy="123711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200"/>
              </a:lnSpc>
              <a:buSzTx/>
              <a:buFontTx/>
              <a:buNone/>
              <a:defRPr sz="4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91" name="Текст 68"/>
          <p:cNvSpPr>
            <a:spLocks noGrp="1"/>
          </p:cNvSpPr>
          <p:nvPr>
            <p:ph type="body" sz="quarter" idx="31" hasCustomPrompt="1"/>
          </p:nvPr>
        </p:nvSpPr>
        <p:spPr>
          <a:xfrm>
            <a:off x="431796" y="4749036"/>
            <a:ext cx="4669346" cy="20272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8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92" name="Текст 68"/>
          <p:cNvSpPr>
            <a:spLocks noGrp="1"/>
          </p:cNvSpPr>
          <p:nvPr>
            <p:ph type="body" sz="quarter" idx="32" hasCustomPrompt="1"/>
          </p:nvPr>
        </p:nvSpPr>
        <p:spPr>
          <a:xfrm>
            <a:off x="6451567" y="4749036"/>
            <a:ext cx="4669345" cy="14993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8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93" name="Текст 68"/>
          <p:cNvSpPr>
            <a:spLocks noGrp="1"/>
          </p:cNvSpPr>
          <p:nvPr>
            <p:ph type="body" sz="quarter" idx="33" hasCustomPrompt="1"/>
          </p:nvPr>
        </p:nvSpPr>
        <p:spPr>
          <a:xfrm>
            <a:off x="12413277" y="4749036"/>
            <a:ext cx="4669345" cy="14993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8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94" name="Текст 68"/>
          <p:cNvSpPr>
            <a:spLocks noGrp="1"/>
          </p:cNvSpPr>
          <p:nvPr>
            <p:ph type="body" sz="quarter" idx="34" hasCustomPrompt="1"/>
          </p:nvPr>
        </p:nvSpPr>
        <p:spPr>
          <a:xfrm>
            <a:off x="18324129" y="4749036"/>
            <a:ext cx="4669345" cy="21138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8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95" name="Текст 68"/>
          <p:cNvSpPr>
            <a:spLocks noGrp="1"/>
          </p:cNvSpPr>
          <p:nvPr>
            <p:ph type="body" sz="quarter" idx="35" hasCustomPrompt="1"/>
          </p:nvPr>
        </p:nvSpPr>
        <p:spPr>
          <a:xfrm>
            <a:off x="410025" y="6946889"/>
            <a:ext cx="4669346" cy="2027209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buFontTx/>
              <a:buAutoNum type="arabicPeriod"/>
              <a:defRPr sz="18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
Текст текст текст</a:t>
            </a:r>
          </a:p>
        </p:txBody>
      </p:sp>
      <p:sp>
        <p:nvSpPr>
          <p:cNvPr id="696" name="Текст 68"/>
          <p:cNvSpPr>
            <a:spLocks noGrp="1"/>
          </p:cNvSpPr>
          <p:nvPr>
            <p:ph type="body" sz="quarter" idx="36" hasCustomPrompt="1"/>
          </p:nvPr>
        </p:nvSpPr>
        <p:spPr>
          <a:xfrm>
            <a:off x="6429795" y="6541829"/>
            <a:ext cx="4669345" cy="6454596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buFontTx/>
              <a:buAutoNum type="arabicPeriod"/>
              <a:defRPr sz="18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
Текст текст текст
Текст текст текст
Текст текст текст
Текст текст текст</a:t>
            </a:r>
          </a:p>
        </p:txBody>
      </p:sp>
      <p:sp>
        <p:nvSpPr>
          <p:cNvPr id="697" name="Текст 68"/>
          <p:cNvSpPr>
            <a:spLocks noGrp="1"/>
          </p:cNvSpPr>
          <p:nvPr>
            <p:ph type="body" sz="quarter" idx="37" hasCustomPrompt="1"/>
          </p:nvPr>
        </p:nvSpPr>
        <p:spPr>
          <a:xfrm>
            <a:off x="12391507" y="6395815"/>
            <a:ext cx="4669345" cy="4293957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buFontTx/>
              <a:buAutoNum type="arabicPeriod"/>
              <a:defRPr sz="18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
Текст текст текст
Текст текст текст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6291" y="730251"/>
            <a:ext cx="21029832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1676291" y="3651250"/>
            <a:ext cx="21029832" cy="870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22293014" y="12881590"/>
            <a:ext cx="413109" cy="39247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400">
                <a:solidFill>
                  <a:srgbClr val="8899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0" r:id="rId2"/>
  </p:sldLayoutIdLst>
  <p:transition spd="med"/>
  <p:txStyles>
    <p:titleStyle>
      <a:lvl1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457176" marR="0" indent="-457176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1pPr>
      <a:lvl2pPr marL="1447727" marR="0" indent="-533373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2pPr>
      <a:lvl3pPr marL="2468756" marR="0" indent="-640047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3pPr>
      <a:lvl4pPr marL="3454227" marR="0" indent="-711164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4pPr>
      <a:lvl5pPr marL="4368581" marR="0" indent="-711164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5pPr>
      <a:lvl6pPr marL="5282936" marR="0" indent="-711164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6pPr>
      <a:lvl7pPr marL="6197290" marR="0" indent="-711164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7pPr>
      <a:lvl8pPr marL="7111644" marR="0" indent="-711164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8pPr>
      <a:lvl9pPr marL="8025997" marR="0" indent="-711163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5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C9B8F833-F9FB-50E8-F58F-89D22A184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0F74B353-F98E-C0D6-D9B5-E79F82A0932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974483EF-5FEA-44CF-BE5E-39A5AC919E69}"/>
              </a:ext>
            </a:extLst>
          </p:cNvPr>
          <p:cNvSpPr/>
          <p:nvPr/>
        </p:nvSpPr>
        <p:spPr>
          <a:xfrm>
            <a:off x="372083" y="302452"/>
            <a:ext cx="8356556" cy="969757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 anchor="ctr"/>
          <a:lstStyle/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Слайд – 1</a:t>
            </a:r>
            <a:r>
              <a:rPr lang="en-US" sz="2800" dirty="0">
                <a:latin typeface="X5 Sans" panose="020B0403020203020204" pitchFamily="34" charset="0"/>
                <a:ea typeface="X5 Sans" panose="020B0403020203020204" pitchFamily="34" charset="0"/>
              </a:rPr>
              <a:t> - 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Общее описание подхода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24B16EC-E4CB-402E-AA72-328458B1CEC8}"/>
              </a:ext>
            </a:extLst>
          </p:cNvPr>
          <p:cNvSpPr/>
          <p:nvPr/>
        </p:nvSpPr>
        <p:spPr>
          <a:xfrm>
            <a:off x="372083" y="1272209"/>
            <a:ext cx="21983700" cy="1129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Цель: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выстроить единый процесс управления </a:t>
            </a:r>
            <a:r>
              <a:rPr lang="ru-RU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-рисками — от понимания фактического содержания ролей до предотвращения недопустимых сочетаний полномочий.</a:t>
            </a:r>
          </a:p>
          <a:p>
            <a:endParaRPr lang="en-US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Работа строится в два этапа: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1 этап — платформы и продукты (исключая ТОРГ системы):</a:t>
            </a:r>
          </a:p>
          <a:p>
            <a:pPr marL="457200" lvl="0" indent="76200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 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Сфера</a:t>
            </a:r>
          </a:p>
          <a:p>
            <a:pPr marL="457200" lvl="0" indent="76200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Орбита</a:t>
            </a:r>
          </a:p>
          <a:p>
            <a:pPr marL="457200" lvl="0" indent="76200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АУРА 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2 этап — ТОРГ и другие ключевые информационные системы.</a:t>
            </a:r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Подход ко второму этапу будет уточнён по результатам первого. Далее в презентации рассматривается первый этап.</a:t>
            </a:r>
          </a:p>
          <a:p>
            <a:endParaRPr lang="en-US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Для первичного инициирования </a:t>
            </a:r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1 этапа 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работ на стороне ДР формируется дорожная карта по всему периметру выбранных платформ и входящих в них продуктов. При этом отдельно выделяются </a:t>
            </a:r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пилотные продукты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, на которых подход апробируется и уточняется до масштабирования. По результатам пилота и до масштабирования осуществляется утверждение ВНД.</a:t>
            </a: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Дорожная карта формируется таким образом, чтобы предусмотреть последовательное обследование продуктов во всех активах, где они используются. </a:t>
            </a:r>
          </a:p>
          <a:p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В рамках первого этапа </a:t>
            </a:r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продукт является единицей обследования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, которая определяет охват информационных систем, ролей, полномочий и пользователей.</a:t>
            </a:r>
          </a:p>
          <a:p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Для реализации выбранного подхода ключевое значение имеет корректное функциональное описание ролей и его соответствие полному техническому наполнению ролей. </a:t>
            </a:r>
          </a:p>
          <a:p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45203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9A3AD58F-9003-4FD6-A054-7A0D8E5CDDE0}"/>
              </a:ext>
            </a:extLst>
          </p:cNvPr>
          <p:cNvSpPr/>
          <p:nvPr/>
        </p:nvSpPr>
        <p:spPr>
          <a:xfrm>
            <a:off x="372083" y="302452"/>
            <a:ext cx="8356556" cy="969757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 anchor="ctr"/>
          <a:lstStyle/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Слайд – </a:t>
            </a:r>
            <a:r>
              <a:rPr lang="en-US" sz="2800" dirty="0">
                <a:latin typeface="X5 Sans" panose="020B0403020203020204" pitchFamily="34" charset="0"/>
                <a:ea typeface="X5 Sans" panose="020B0403020203020204" pitchFamily="34" charset="0"/>
              </a:rPr>
              <a:t>2 - 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Участники и ответственность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77251E6-A660-4EEC-BF85-490967C9C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577501"/>
              </p:ext>
            </p:extLst>
          </p:nvPr>
        </p:nvGraphicFramePr>
        <p:xfrm>
          <a:off x="219683" y="1894604"/>
          <a:ext cx="23250653" cy="8069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2923">
                  <a:extLst>
                    <a:ext uri="{9D8B030D-6E8A-4147-A177-3AD203B41FA5}">
                      <a16:colId xmlns:a16="http://schemas.microsoft.com/office/drawing/2014/main" val="1246407831"/>
                    </a:ext>
                  </a:extLst>
                </a:gridCol>
                <a:gridCol w="15906531">
                  <a:extLst>
                    <a:ext uri="{9D8B030D-6E8A-4147-A177-3AD203B41FA5}">
                      <a16:colId xmlns:a16="http://schemas.microsoft.com/office/drawing/2014/main" val="2535713833"/>
                    </a:ext>
                  </a:extLst>
                </a:gridCol>
                <a:gridCol w="4231199">
                  <a:extLst>
                    <a:ext uri="{9D8B030D-6E8A-4147-A177-3AD203B41FA5}">
                      <a16:colId xmlns:a16="http://schemas.microsoft.com/office/drawing/2014/main" val="2574587143"/>
                    </a:ext>
                  </a:extLst>
                </a:gridCol>
              </a:tblGrid>
              <a:tr h="484599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ysClr val="windowText" lastClr="000000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Участники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ysClr val="windowText" lastClr="000000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Ответственность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ysClr val="windowText" lastClr="000000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Направления концепции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848339"/>
                  </a:ext>
                </a:extLst>
              </a:tr>
              <a:tr h="757697">
                <a:tc rowSpan="3"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ЦЭ по </a:t>
                      </a:r>
                      <a:r>
                        <a:rPr lang="ru-RU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СУРиВК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(активы)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Инициирование процесса управления </a:t>
                      </a:r>
                      <a:r>
                        <a:rPr lang="en-US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SoD</a:t>
                      </a:r>
                      <a:r>
                        <a:rPr lang="en-US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рисками в активе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Формирование и актуализация матрицы </a:t>
                      </a:r>
                      <a:r>
                        <a:rPr lang="en-US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SoD</a:t>
                      </a:r>
                      <a:r>
                        <a:rPr lang="en-US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-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рисков и технических правил разделения полномочий.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Идентификация и актуализация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645802"/>
                  </a:ext>
                </a:extLst>
              </a:tr>
              <a:tr h="677111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Ввод и актуализация технических правил разделения полномочий в АСУД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Инициирование устранения </a:t>
                      </a:r>
                      <a:r>
                        <a:rPr lang="ru-RU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внутриролевых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конфликтов через запрос в БЕ Тех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Консультация для бизнеса по внедрению компенсирующих контролей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Ведение реестра компенсирующих контрольных процедур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Митигация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рисков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557384"/>
                  </a:ext>
                </a:extLst>
              </a:tr>
              <a:tr h="677111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highlight>
                            <a:srgbClr val="F5DCFF"/>
                          </a:highlight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Согласование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присвоения конфликтующих ролей сотруднику в процессе управления доступами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Обеспечение мониторинга новых конфликтов на пользователях в рамках действующей матрицы </a:t>
                      </a:r>
                      <a:r>
                        <a:rPr lang="en-US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SoD</a:t>
                      </a:r>
                      <a:r>
                        <a:rPr lang="en-US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рисков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Мониторинг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251173"/>
                  </a:ext>
                </a:extLst>
              </a:tr>
              <a:tr h="591820">
                <a:tc rowSpan="2"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БЕ Тех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Предоставление данных о ролях, включая техническое наполнение и фактических присвоениях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формирование описания функционала роли с учетом полного технического наполнения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Идентификация и актуализация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952996"/>
                  </a:ext>
                </a:extLst>
              </a:tr>
              <a:tr h="398301">
                <a:tc vMerge="1">
                  <a:txBody>
                    <a:bodyPr/>
                    <a:lstStyle/>
                    <a:p>
                      <a:pPr algn="l"/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Корректировка ролей и информирование бизнеса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Изъятие конфликтных ролей по запросу бизнеса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Митигация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рисков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163483"/>
                  </a:ext>
                </a:extLst>
              </a:tr>
              <a:tr h="324087">
                <a:tc row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Руководитель подразделения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Предоставление информации о бизнес-функционале используемых в подразделении ролей в ИС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Подтверждение выявленных ЦЭ конфликтов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Идентификация и актуализация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225641"/>
                  </a:ext>
                </a:extLst>
              </a:tr>
              <a:tr h="398301">
                <a:tc vMerge="1">
                  <a:txBody>
                    <a:bodyPr/>
                    <a:lstStyle/>
                    <a:p>
                      <a:pPr algn="l"/>
                      <a:endParaRPr lang="ru-RU" sz="20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Разделение функционала сотрудников имеющих конфликтующие роли и инициирование изъятия конфликтующих ролей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Разработка и исполнение компенсирующих контролей там где невозможно разделить функционал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Митигация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рисков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08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ДР УК (владелец БП управления рисками </a:t>
                      </a:r>
                      <a:r>
                        <a:rPr lang="en-US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SoD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Формирование и поддержка актуальности методологии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Консультирование ЦЭ в случае методологических вопросов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Разрешение вопросов взаимодействия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Все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396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ЦЭ по </a:t>
                      </a:r>
                      <a:r>
                        <a:rPr lang="ru-RU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СУРиВК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(БПБ)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Администрирование матрицы рисков </a:t>
                      </a:r>
                      <a:r>
                        <a:rPr lang="en-US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SoD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, включая исключение дублирования рисков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496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88793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AA833083-5267-40D9-9B14-826B0C13F3DA}"/>
              </a:ext>
            </a:extLst>
          </p:cNvPr>
          <p:cNvSpPr/>
          <p:nvPr/>
        </p:nvSpPr>
        <p:spPr>
          <a:xfrm>
            <a:off x="372082" y="302452"/>
            <a:ext cx="9845343" cy="969757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 anchor="ctr"/>
          <a:lstStyle/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Слайд – 3 – Подготовка и планирование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E80F161-4C79-4CF0-804B-F8ACCC01F9EA}"/>
              </a:ext>
            </a:extLst>
          </p:cNvPr>
          <p:cNvSpPr/>
          <p:nvPr/>
        </p:nvSpPr>
        <p:spPr>
          <a:xfrm>
            <a:off x="372082" y="1610139"/>
            <a:ext cx="22681095" cy="8956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atin typeface="X5 Sans" panose="020B0403020203020204" pitchFamily="34" charset="0"/>
                <a:ea typeface="X5 Sans" panose="020B0403020203020204" pitchFamily="34" charset="0"/>
              </a:rPr>
              <a:t>Цель:</a:t>
            </a: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 определить охват, последовательность и участников.</a:t>
            </a:r>
          </a:p>
          <a:p>
            <a:endParaRPr lang="ru-RU" sz="32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 ДР УК инициирует старт работ по формированию дорожной карты в разрезе платформ и продуктов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 Владелец платформы предоставляет перечень продуктов платформы.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 Для выбранного продукта владелец продукта предоставляет следующие данные:</a:t>
            </a:r>
          </a:p>
          <a:p>
            <a:pPr marL="457200" lvl="1" indent="0">
              <a:buSzPts val="1000"/>
              <a:tabLst>
                <a:tab pos="9144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  <a:cs typeface="Times New Roman" panose="02020603050405020304" pitchFamily="18" charset="0"/>
              </a:rPr>
              <a:t>границы и назначение продукта;</a:t>
            </a:r>
          </a:p>
          <a:p>
            <a:pPr marL="457200" lvl="1" indent="0">
              <a:buSzPts val="1000"/>
              <a:tabLst>
                <a:tab pos="9144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  <a:cs typeface="Times New Roman" panose="02020603050405020304" pitchFamily="18" charset="0"/>
              </a:rPr>
              <a:t>используемые информационные системы;</a:t>
            </a:r>
          </a:p>
          <a:p>
            <a:pPr marL="457200" lvl="1" indent="0">
              <a:buSzPts val="1000"/>
              <a:tabLst>
                <a:tab pos="9144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  <a:cs typeface="Times New Roman" panose="02020603050405020304" pitchFamily="18" charset="0"/>
              </a:rPr>
              <a:t>подразделения-пользователи </a:t>
            </a: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(включая руководителей)</a:t>
            </a: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  <a:cs typeface="Times New Roman" panose="02020603050405020304" pitchFamily="18" charset="0"/>
              </a:rPr>
              <a:t>;</a:t>
            </a:r>
          </a:p>
          <a:p>
            <a:pPr marL="457200" lvl="1" indent="0">
              <a:buSzPts val="1000"/>
              <a:tabLst>
                <a:tab pos="9144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  <a:cs typeface="Times New Roman" panose="02020603050405020304" pitchFamily="18" charset="0"/>
              </a:rPr>
              <a:t>функциональных экспертов от БЕ тех.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 ДР УК координирует процесс планирования и выбора платформ для включения в дорожную карту</a:t>
            </a: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  <a:cs typeface="Times New Roman" panose="02020603050405020304" pitchFamily="18" charset="0"/>
              </a:rPr>
              <a:t> ЦЭ участвует в планировании и определении приоритетов для формирования дорожной карты</a:t>
            </a:r>
          </a:p>
          <a:p>
            <a:pPr marL="457200" lvl="1" indent="0">
              <a:buSzPts val="1000"/>
              <a:tabLst>
                <a:tab pos="914400" algn="l"/>
              </a:tabLst>
            </a:pPr>
            <a:endParaRPr lang="ru-RU" sz="3200" dirty="0">
              <a:latin typeface="X5 Sans" panose="020B0403020203020204" pitchFamily="34" charset="0"/>
              <a:ea typeface="X5 Sans" panose="020B0403020203020204" pitchFamily="34" charset="0"/>
              <a:cs typeface="Times New Roman" panose="02020603050405020304" pitchFamily="18" charset="0"/>
            </a:endParaRPr>
          </a:p>
          <a:p>
            <a:pPr marL="457200" lvl="1" indent="0">
              <a:buSzPts val="1000"/>
              <a:tabLst>
                <a:tab pos="914400" algn="l"/>
              </a:tabLst>
            </a:pPr>
            <a:endParaRPr lang="ru-RU" sz="3200" dirty="0">
              <a:latin typeface="X5 Sans" panose="020B0403020203020204" pitchFamily="34" charset="0"/>
              <a:ea typeface="X5 Sans" panose="020B0403020203020204" pitchFamily="34" charset="0"/>
              <a:cs typeface="Times New Roman" panose="02020603050405020304" pitchFamily="18" charset="0"/>
            </a:endParaRPr>
          </a:p>
          <a:p>
            <a:r>
              <a:rPr lang="ru-RU" sz="3200" b="1" dirty="0">
                <a:latin typeface="X5 Sans" panose="020B0403020203020204" pitchFamily="34" charset="0"/>
                <a:ea typeface="X5 Sans" panose="020B0403020203020204" pitchFamily="34" charset="0"/>
              </a:rPr>
              <a:t>Результат блока:</a:t>
            </a:r>
            <a:endParaRPr lang="ru-RU" sz="32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Годовое планирование в разрезе активов и продуктов/ИС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перечень ИС и ролей;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состав подразделений-пользователей продуктов (включая руководителей);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сроки и план работ.</a:t>
            </a:r>
          </a:p>
        </p:txBody>
      </p:sp>
    </p:spTree>
    <p:extLst>
      <p:ext uri="{BB962C8B-B14F-4D97-AF65-F5344CB8AC3E}">
        <p14:creationId xmlns:p14="http://schemas.microsoft.com/office/powerpoint/2010/main" val="221622402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AA833083-5267-40D9-9B14-826B0C13F3DA}"/>
              </a:ext>
            </a:extLst>
          </p:cNvPr>
          <p:cNvSpPr/>
          <p:nvPr/>
        </p:nvSpPr>
        <p:spPr>
          <a:xfrm>
            <a:off x="372082" y="302452"/>
            <a:ext cx="9845343" cy="969757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 anchor="ctr"/>
          <a:lstStyle/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Слайд – 4 – Идентификация рисков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2F0E5E-DE6D-42D5-80CB-98CA25A1450D}"/>
              </a:ext>
            </a:extLst>
          </p:cNvPr>
          <p:cNvSpPr/>
          <p:nvPr/>
        </p:nvSpPr>
        <p:spPr>
          <a:xfrm>
            <a:off x="372082" y="1680222"/>
            <a:ext cx="10877166" cy="8956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X5 Sans" panose="020B0403020203020204" pitchFamily="34" charset="0"/>
                <a:ea typeface="X5 Sans" panose="020B0403020203020204" pitchFamily="34" charset="0"/>
              </a:rPr>
              <a:t>Цель:</a:t>
            </a: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 определить какие сочетания полномочий образуют конфликты и сформировать матрицу </a:t>
            </a:r>
            <a:r>
              <a:rPr lang="en-US" sz="2400" dirty="0" err="1"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en-US" sz="2400" dirty="0">
                <a:latin typeface="X5 Sans" panose="020B0403020203020204" pitchFamily="34" charset="0"/>
                <a:ea typeface="X5 Sans" panose="020B0403020203020204" pitchFamily="34" charset="0"/>
              </a:rPr>
              <a:t>-</a:t>
            </a: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рисков для последующей </a:t>
            </a:r>
            <a:r>
              <a:rPr lang="ru-RU" sz="2400" dirty="0" err="1">
                <a:latin typeface="X5 Sans" panose="020B0403020203020204" pitchFamily="34" charset="0"/>
                <a:ea typeface="X5 Sans" panose="020B0403020203020204" pitchFamily="34" charset="0"/>
              </a:rPr>
              <a:t>митигации</a:t>
            </a: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 и контроля.</a:t>
            </a:r>
          </a:p>
          <a:p>
            <a:endParaRPr lang="en-US" sz="2400" b="1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400" b="1" dirty="0">
                <a:latin typeface="X5 Sans" panose="020B0403020203020204" pitchFamily="34" charset="0"/>
                <a:ea typeface="X5 Sans" panose="020B0403020203020204" pitchFamily="34" charset="0"/>
              </a:rPr>
              <a:t>1. Получение технических данных</a:t>
            </a:r>
          </a:p>
          <a:p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ЦЭ запрашивает, а БЕ Тех предоставляет: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Перечень ролей для выбранных продуктов/ИС и их технический состав: </a:t>
            </a:r>
          </a:p>
          <a:p>
            <a:pPr marL="342900" lvl="0" indent="284163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права и разрешённые операции; </a:t>
            </a:r>
          </a:p>
          <a:p>
            <a:pPr marL="342900" lvl="0" indent="284163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объекты доступа;</a:t>
            </a:r>
          </a:p>
          <a:p>
            <a:pPr marL="342900" lvl="0" indent="284163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параметры и ограничения;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фактические назначения ролей сотрудникам, включая ФИО, должности, подразделения пользователей и актив.</a:t>
            </a:r>
          </a:p>
          <a:p>
            <a:pPr marL="34290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функциональное описание роли (что именно позволяет делать роль). При необходимости, для формирования корректного описания роли БЕ Тех запрашивает, а руководители подразделений предоставляют информацию о том:</a:t>
            </a:r>
          </a:p>
          <a:p>
            <a:pPr marL="622300" lvl="0" indent="-26670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для каких рабочих операций используется роль;</a:t>
            </a:r>
          </a:p>
          <a:p>
            <a:pPr marL="622300" lvl="0" indent="-26670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над какими бизнес-объектами выполняются действия;</a:t>
            </a:r>
          </a:p>
          <a:p>
            <a:pPr marL="622300" lvl="0" indent="-26670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для чего роль требуется подразделению и каким должностям роль необходима.</a:t>
            </a:r>
          </a:p>
          <a:p>
            <a:pPr marL="622300" lvl="0" indent="-26670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Если известно – какие полномочия внутри роли не используются</a:t>
            </a:r>
          </a:p>
          <a:p>
            <a:endParaRPr lang="ru-RU" sz="24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A7255AF-43BE-4A81-ADEB-C2C3E81D2EDA}"/>
              </a:ext>
            </a:extLst>
          </p:cNvPr>
          <p:cNvSpPr/>
          <p:nvPr/>
        </p:nvSpPr>
        <p:spPr>
          <a:xfrm>
            <a:off x="11608904" y="1680222"/>
            <a:ext cx="1207321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X5 Sans" panose="020B0403020203020204" pitchFamily="34" charset="0"/>
                <a:ea typeface="X5 Sans" panose="020B0403020203020204" pitchFamily="34" charset="0"/>
              </a:rPr>
              <a:t>3. Формирование и подтверждение гипотез</a:t>
            </a:r>
          </a:p>
          <a:p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ЦЭ присваивает для каждого значимого функционального полномочия внутри роли </a:t>
            </a:r>
            <a:r>
              <a:rPr lang="en-US" sz="2400" dirty="0">
                <a:latin typeface="X5 Sans" panose="020B0403020203020204" pitchFamily="34" charset="0"/>
                <a:ea typeface="X5 Sans" panose="020B0403020203020204" pitchFamily="34" charset="0"/>
              </a:rPr>
              <a:t>SOD-</a:t>
            </a: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класс AUT / CUS / REC / VER и формирует потенциальные сценарии злоупотреблений определяя: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конфликтующие действия внутри ролей и между ними;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связь бизнес-объектов в отношении которых выполняются действия;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возможное последствие;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последовательности выполнения конфликтующих действий с возможностью сокрытия;</a:t>
            </a:r>
          </a:p>
          <a:p>
            <a:pPr>
              <a:buSzPts val="1000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Руководители подразделений и владельцы продуктов подтверждают / не подтверждают предложенные сценарии</a:t>
            </a:r>
          </a:p>
          <a:p>
            <a:r>
              <a:rPr lang="ru-RU" sz="2400" b="1" dirty="0">
                <a:latin typeface="X5 Sans" panose="020B0403020203020204" pitchFamily="34" charset="0"/>
                <a:ea typeface="X5 Sans" panose="020B0403020203020204" pitchFamily="34" charset="0"/>
              </a:rPr>
              <a:t>4. Формирование матрицы рисков.</a:t>
            </a:r>
          </a:p>
          <a:p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Подтверждённые риски включаются ЦЭ в </a:t>
            </a:r>
            <a:r>
              <a:rPr lang="ru-RU" sz="2400" b="1" dirty="0">
                <a:latin typeface="X5 Sans" panose="020B0403020203020204" pitchFamily="34" charset="0"/>
                <a:ea typeface="X5 Sans" panose="020B0403020203020204" pitchFamily="34" charset="0"/>
              </a:rPr>
              <a:t>матрицу </a:t>
            </a:r>
            <a:r>
              <a:rPr lang="ru-RU" sz="2400" b="1" dirty="0" err="1"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ru-RU" sz="2400" b="1" dirty="0">
                <a:latin typeface="X5 Sans" panose="020B0403020203020204" pitchFamily="34" charset="0"/>
                <a:ea typeface="X5 Sans" panose="020B0403020203020204" pitchFamily="34" charset="0"/>
              </a:rPr>
              <a:t>-рисков </a:t>
            </a: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(согласно шаблону в </a:t>
            </a:r>
            <a:r>
              <a:rPr lang="ru-RU" sz="2400" dirty="0">
                <a:highlight>
                  <a:srgbClr val="F5DCFF"/>
                </a:highlight>
                <a:latin typeface="X5 Sans" panose="020B0403020203020204" pitchFamily="34" charset="0"/>
                <a:ea typeface="X5 Sans" panose="020B0403020203020204" pitchFamily="34" charset="0"/>
              </a:rPr>
              <a:t>приложении 1</a:t>
            </a: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).</a:t>
            </a:r>
            <a:endParaRPr lang="en-US" sz="24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endParaRPr lang="ru-RU" sz="24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3F62477-283E-4941-B955-965E9E7B7782}"/>
              </a:ext>
            </a:extLst>
          </p:cNvPr>
          <p:cNvSpPr/>
          <p:nvPr/>
        </p:nvSpPr>
        <p:spPr>
          <a:xfrm>
            <a:off x="919506" y="11545618"/>
            <a:ext cx="941221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X5 Sans" panose="020B0403020203020204" pitchFamily="34" charset="0"/>
                <a:ea typeface="X5 Sans" panose="020B0403020203020204" pitchFamily="34" charset="0"/>
              </a:rPr>
              <a:t>Результат блока:</a:t>
            </a:r>
            <a:endParaRPr lang="ru-RU" sz="24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интерпретированный состав ролей;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подтверждённые и отклонённые гипотезы </a:t>
            </a:r>
            <a:r>
              <a:rPr lang="en-US" sz="2400" dirty="0" err="1"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en-US" sz="2400" dirty="0">
                <a:latin typeface="X5 Sans" panose="020B0403020203020204" pitchFamily="34" charset="0"/>
                <a:ea typeface="X5 Sans" panose="020B0403020203020204" pitchFamily="34" charset="0"/>
              </a:rPr>
              <a:t>-</a:t>
            </a: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рисков;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матрица </a:t>
            </a:r>
            <a:r>
              <a:rPr lang="ru-RU" sz="2400" dirty="0" err="1"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-рисков;</a:t>
            </a:r>
          </a:p>
        </p:txBody>
      </p:sp>
    </p:spTree>
    <p:extLst>
      <p:ext uri="{BB962C8B-B14F-4D97-AF65-F5344CB8AC3E}">
        <p14:creationId xmlns:p14="http://schemas.microsoft.com/office/powerpoint/2010/main" val="48452072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AA833083-5267-40D9-9B14-826B0C13F3DA}"/>
              </a:ext>
            </a:extLst>
          </p:cNvPr>
          <p:cNvSpPr/>
          <p:nvPr/>
        </p:nvSpPr>
        <p:spPr>
          <a:xfrm>
            <a:off x="372082" y="302452"/>
            <a:ext cx="9845343" cy="969757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 anchor="ctr"/>
          <a:lstStyle/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Слайд – 5 – </a:t>
            </a:r>
            <a:r>
              <a:rPr lang="ru-RU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митигация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рисков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5563365-3632-4920-A885-AAFADB6E0677}"/>
              </a:ext>
            </a:extLst>
          </p:cNvPr>
          <p:cNvSpPr/>
          <p:nvPr/>
        </p:nvSpPr>
        <p:spPr>
          <a:xfrm>
            <a:off x="218660" y="1272209"/>
            <a:ext cx="20971566" cy="10864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Цель: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устранить недопустимые сочетания полномочий внутри одной роли. </a:t>
            </a: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Устранить / снизить до приемлемого уровня риски на пользователях.</a:t>
            </a:r>
          </a:p>
          <a:p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Для каждого подтверждённого риска ЦЭ формирует технические правила разделения полномочий.</a:t>
            </a:r>
          </a:p>
          <a:p>
            <a:pPr lvl="0"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2. ЦЭ анализирует реестр фактических </a:t>
            </a:r>
            <a:r>
              <a:rPr lang="ru-RU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присвоенией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и направляет руководителям подразделений.</a:t>
            </a:r>
          </a:p>
          <a:p>
            <a:pPr lvl="0">
              <a:tabLst>
                <a:tab pos="457200" algn="l"/>
              </a:tabLst>
            </a:pPr>
            <a:endParaRPr lang="ru-RU" sz="2800" b="1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lvl="0">
              <a:tabLst>
                <a:tab pos="457200" algn="l"/>
              </a:tabLst>
            </a:pPr>
            <a:r>
              <a:rPr lang="ru-RU" sz="2800" b="1" dirty="0">
                <a:highlight>
                  <a:srgbClr val="F5DCFF"/>
                </a:highlight>
                <a:latin typeface="X5 Sans" panose="020B0403020203020204" pitchFamily="34" charset="0"/>
                <a:ea typeface="X5 Sans" panose="020B0403020203020204" pitchFamily="34" charset="0"/>
              </a:rPr>
              <a:t>3. Для </a:t>
            </a:r>
            <a:r>
              <a:rPr lang="ru-RU" sz="2800" b="1" dirty="0" err="1">
                <a:highlight>
                  <a:srgbClr val="F5DCFF"/>
                </a:highlight>
                <a:latin typeface="X5 Sans" panose="020B0403020203020204" pitchFamily="34" charset="0"/>
                <a:ea typeface="X5 Sans" panose="020B0403020203020204" pitchFamily="34" charset="0"/>
              </a:rPr>
              <a:t>внутриролевых</a:t>
            </a:r>
            <a:r>
              <a:rPr lang="ru-RU" sz="2800" b="1" dirty="0">
                <a:highlight>
                  <a:srgbClr val="F5DCFF"/>
                </a:highlight>
                <a:latin typeface="X5 Sans" panose="020B0403020203020204" pitchFamily="34" charset="0"/>
                <a:ea typeface="X5 Sans" panose="020B0403020203020204" pitchFamily="34" charset="0"/>
              </a:rPr>
              <a:t> конфликтов:</a:t>
            </a:r>
          </a:p>
          <a:p>
            <a:pPr lvl="0"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3.1. ЦЭ должны инициировать устранение конфликтов внутри ролей: 1) исключение избыточных прав из роли 2) разделение роли на две для разведения конфликтных прав.</a:t>
            </a:r>
          </a:p>
          <a:p>
            <a:pPr lvl="0"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3.2. БЕ Тех выполняет изменение ролей согласно запросу ЦЭ при этом уведомляет руководителей подразделений-пользователей ролей о предстоящих изменениях ролей до внедрения. </a:t>
            </a:r>
          </a:p>
          <a:p>
            <a:pPr lvl="0"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3.3. ЦЭ вносит корректировки в матрицу </a:t>
            </a:r>
            <a:r>
              <a:rPr lang="en-US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en-US" sz="2800" dirty="0">
                <a:latin typeface="X5 Sans" panose="020B0403020203020204" pitchFamily="34" charset="0"/>
                <a:ea typeface="X5 Sans" panose="020B0403020203020204" pitchFamily="34" charset="0"/>
              </a:rPr>
              <a:t>-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рисков согласно проведенным изменениям ролей:</a:t>
            </a:r>
          </a:p>
          <a:p>
            <a:pPr lvl="0"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3.4. ЦЭ вносит в АСУД технические правила разделения полномочий и настраивает блокировку присвоения таких ролей одному сотруднику без отдельного согласования.</a:t>
            </a:r>
          </a:p>
          <a:p>
            <a:pPr lvl="0">
              <a:tabLst>
                <a:tab pos="457200" algn="l"/>
              </a:tabLst>
            </a:pPr>
            <a:endParaRPr lang="ru-RU" sz="2800" b="1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lvl="0">
              <a:tabLst>
                <a:tab pos="457200" algn="l"/>
              </a:tabLst>
            </a:pPr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4. Для </a:t>
            </a:r>
            <a:r>
              <a:rPr lang="ru-RU" sz="2800" b="1" dirty="0" err="1">
                <a:latin typeface="X5 Sans" panose="020B0403020203020204" pitchFamily="34" charset="0"/>
                <a:ea typeface="X5 Sans" panose="020B0403020203020204" pitchFamily="34" charset="0"/>
              </a:rPr>
              <a:t>межролевых</a:t>
            </a:r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 конфликтов (параллельно с п.3):</a:t>
            </a:r>
          </a:p>
          <a:p>
            <a:pPr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4.1. ЦЭ вносит в АСУД технические правила разделения полномочий и настраивает блокировку присвоения таких ролей одному сотруднику без отдельного согласования.</a:t>
            </a:r>
          </a:p>
          <a:p>
            <a:pPr lvl="0"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4.2. Руководители должны: 1) перераспределить обязанности и инициировать отзыв одной из ролей создающих конфликт у сотрудников. 2) если в силу организационных ограничений перераспределение обязанностей невозможно – предусмотреть компенсирующие контроли и направить информацию о них в ЦЭ.</a:t>
            </a:r>
          </a:p>
          <a:p>
            <a:endParaRPr lang="ru-RU" sz="2800" b="1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Результат блока:</a:t>
            </a:r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Устранены конфликты внутри ролей;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устранены пользовательские конфликты либо предусмотрены компенсирующие контроли;</a:t>
            </a:r>
          </a:p>
        </p:txBody>
      </p:sp>
      <p:sp>
        <p:nvSpPr>
          <p:cNvPr id="9" name="Shape 22">
            <a:extLst>
              <a:ext uri="{FF2B5EF4-FFF2-40B4-BE49-F238E27FC236}">
                <a16:creationId xmlns:a16="http://schemas.microsoft.com/office/drawing/2014/main" id="{72D5685B-F189-4F5F-91B7-D7BBB4E22DBD}"/>
              </a:ext>
            </a:extLst>
          </p:cNvPr>
          <p:cNvSpPr/>
          <p:nvPr/>
        </p:nvSpPr>
        <p:spPr>
          <a:xfrm>
            <a:off x="16002000" y="787330"/>
            <a:ext cx="8150640" cy="1704648"/>
          </a:xfrm>
          <a:prstGeom prst="roundRect">
            <a:avLst>
              <a:gd name="adj" fmla="val 11937"/>
            </a:avLst>
          </a:prstGeom>
          <a:solidFill>
            <a:srgbClr val="F5DCFF"/>
          </a:solidFill>
          <a:ln w="12700">
            <a:noFill/>
          </a:ln>
        </p:spPr>
        <p:txBody>
          <a:bodyPr lIns="45719" rIns="45719" anchor="ctr"/>
          <a:lstStyle/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Устранение конфликтов внутри ролей используемых в других активах производится после рассмотрения в последнем активе этим активом.  </a:t>
            </a:r>
            <a:endParaRPr sz="28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19727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6DE73782-667E-4F2E-B05D-71691C712B2A}"/>
              </a:ext>
            </a:extLst>
          </p:cNvPr>
          <p:cNvSpPr/>
          <p:nvPr/>
        </p:nvSpPr>
        <p:spPr>
          <a:xfrm>
            <a:off x="372083" y="302452"/>
            <a:ext cx="9646560" cy="969757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 anchor="ctr"/>
          <a:lstStyle/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Слайд – 6 – мониторинг и контроль присвоения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EF75BE7-2383-4290-B177-ADF5841E5032}"/>
              </a:ext>
            </a:extLst>
          </p:cNvPr>
          <p:cNvSpPr/>
          <p:nvPr/>
        </p:nvSpPr>
        <p:spPr>
          <a:xfrm>
            <a:off x="372083" y="1469273"/>
            <a:ext cx="2037521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Цель: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не допускать возникновения подтверждённых </a:t>
            </a:r>
            <a:r>
              <a:rPr lang="ru-RU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-конфликтов на пользователях.</a:t>
            </a:r>
          </a:p>
          <a:p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1. Контроль предоставления доступа</a:t>
            </a: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Запрос на предоставление доступа автоматические проверяется АСУД и при выявлении конфликтов отклоняется или направляется на дополнительное </a:t>
            </a:r>
            <a:r>
              <a:rPr lang="ru-RU" sz="2800" dirty="0">
                <a:highlight>
                  <a:srgbClr val="F5DCFF"/>
                </a:highlight>
                <a:latin typeface="X5 Sans" panose="020B0403020203020204" pitchFamily="34" charset="0"/>
                <a:ea typeface="X5 Sans" panose="020B0403020203020204" pitchFamily="34" charset="0"/>
              </a:rPr>
              <a:t>согласование сотруднику ЦЭ.</a:t>
            </a:r>
          </a:p>
          <a:p>
            <a:endParaRPr lang="ru-RU" sz="2800" b="1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2. Операционный мониторинг</a:t>
            </a: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ЦЭ регулярно выгружает отчет по конфликтам из АСУД. По выявленным конфликтам процесс реализуется согласно шагу «</a:t>
            </a:r>
            <a:r>
              <a:rPr lang="ru-RU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Митигация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рисков».</a:t>
            </a:r>
          </a:p>
          <a:p>
            <a:endParaRPr lang="ru-RU" sz="2800" b="1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Результат блока:</a:t>
            </a:r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выявление известных конфликтов на пользователях и запуск процесса </a:t>
            </a:r>
            <a:r>
              <a:rPr lang="ru-RU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митигации</a:t>
            </a:r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07271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6DE73782-667E-4F2E-B05D-71691C712B2A}"/>
              </a:ext>
            </a:extLst>
          </p:cNvPr>
          <p:cNvSpPr/>
          <p:nvPr/>
        </p:nvSpPr>
        <p:spPr>
          <a:xfrm>
            <a:off x="372083" y="302452"/>
            <a:ext cx="8356556" cy="969757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 anchor="ctr"/>
          <a:lstStyle/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Слайд – 7 – актуализация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ECA4178-1A05-4EBD-B051-43B725055803}"/>
              </a:ext>
            </a:extLst>
          </p:cNvPr>
          <p:cNvSpPr/>
          <p:nvPr/>
        </p:nvSpPr>
        <p:spPr>
          <a:xfrm>
            <a:off x="372082" y="1272209"/>
            <a:ext cx="18501133" cy="1129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Цель: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поддерживать матрицу рисков и технические правила в соответствии с фактическим состоянием продуктов, систем и ролей.</a:t>
            </a:r>
            <a:endParaRPr lang="en-US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Актуализация проводится: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периодически, не реже одного раза в год;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внепланово при существенных изменениях.</a:t>
            </a:r>
          </a:p>
          <a:p>
            <a:endParaRPr lang="en-US" sz="2800" b="1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Периодический пересмотр включает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БЕ Тех предоставляет перечень изменений:</a:t>
            </a:r>
          </a:p>
          <a:p>
            <a:pPr marL="715963" lvl="0" indent="-274638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Новые измененные продукты, используемые в них ИС и роли;</a:t>
            </a:r>
          </a:p>
          <a:p>
            <a:pPr marL="715963" lvl="0" indent="-274638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фактические назначения ролей сотрудникам, включая ФИО, должности, подразделения пользователей и актив.</a:t>
            </a:r>
          </a:p>
          <a:p>
            <a:pPr marL="715963" indent="-274638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функциональное описание новых/измененных ролей (что именно позволяет делать роль)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По новым/измененным ролям ЦЭ запрашивает, а руководители подразделений предоставляют информацию о том:</a:t>
            </a:r>
          </a:p>
          <a:p>
            <a:pPr marL="625475" lvl="0" indent="-260350">
              <a:buSzPts val="1000"/>
              <a:buFont typeface="Symbol" panose="05050102010706020507" pitchFamily="18" charset="2"/>
              <a:buChar char=""/>
              <a:tabLst>
                <a:tab pos="625475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для каких рабочих операций используется роль;</a:t>
            </a:r>
          </a:p>
          <a:p>
            <a:pPr marL="625475" lvl="0" indent="-260350">
              <a:buSzPts val="1000"/>
              <a:buFont typeface="Symbol" panose="05050102010706020507" pitchFamily="18" charset="2"/>
              <a:buChar char=""/>
              <a:tabLst>
                <a:tab pos="625475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над какими бизнес-объектами выполняются действия;</a:t>
            </a:r>
          </a:p>
          <a:p>
            <a:pPr marL="625475" lvl="0" indent="-260350">
              <a:buSzPts val="1000"/>
              <a:buFont typeface="Symbol" panose="05050102010706020507" pitchFamily="18" charset="2"/>
              <a:buChar char=""/>
              <a:tabLst>
                <a:tab pos="625475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для чего роль требуется подразделению и каким должностям роль необходима.</a:t>
            </a:r>
          </a:p>
          <a:p>
            <a:pPr marL="625475" lvl="0" indent="-260350">
              <a:buSzPts val="1000"/>
              <a:buFont typeface="Symbol" panose="05050102010706020507" pitchFamily="18" charset="2"/>
              <a:buChar char=""/>
              <a:tabLst>
                <a:tab pos="625475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Если известно – какие полномочия внутри роли не используются</a:t>
            </a:r>
          </a:p>
          <a:p>
            <a:pPr marL="457200" lvl="0" indent="-457200">
              <a:buFont typeface="+mj-lt"/>
              <a:buAutoNum type="arabicPeriod" startAt="3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ЦЭ на основании полученных от БЕ Тех и от руководителей подразделений описаний изменений актуализирует матрицу </a:t>
            </a:r>
            <a:r>
              <a:rPr lang="en-US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en-US" sz="2800" dirty="0">
                <a:latin typeface="X5 Sans" panose="020B0403020203020204" pitchFamily="34" charset="0"/>
                <a:ea typeface="X5 Sans" panose="020B0403020203020204" pitchFamily="34" charset="0"/>
              </a:rPr>
              <a:t>-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рисков и технические правила разделения полномочий и запускает процесс согласно шагу «</a:t>
            </a:r>
            <a:r>
              <a:rPr lang="ru-RU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Митигация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рисков».</a:t>
            </a:r>
          </a:p>
          <a:p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Результат блока:</a:t>
            </a:r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актуальная матрица </a:t>
            </a:r>
            <a:r>
              <a:rPr lang="ru-RU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-рисков;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актуальные технические правила;</a:t>
            </a:r>
          </a:p>
        </p:txBody>
      </p:sp>
    </p:spTree>
    <p:extLst>
      <p:ext uri="{BB962C8B-B14F-4D97-AF65-F5344CB8AC3E}">
        <p14:creationId xmlns:p14="http://schemas.microsoft.com/office/powerpoint/2010/main" val="210682044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6DE73782-667E-4F2E-B05D-71691C712B2A}"/>
              </a:ext>
            </a:extLst>
          </p:cNvPr>
          <p:cNvSpPr/>
          <p:nvPr/>
        </p:nvSpPr>
        <p:spPr>
          <a:xfrm>
            <a:off x="372082" y="302452"/>
            <a:ext cx="11515117" cy="969757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 anchor="ctr"/>
          <a:lstStyle/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Слайд – 8 – ближайшие шаги и прочие вопросы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F778E-0427-4355-A65A-C777A906010B}"/>
              </a:ext>
            </a:extLst>
          </p:cNvPr>
          <p:cNvSpPr txBox="1"/>
          <p:nvPr/>
        </p:nvSpPr>
        <p:spPr>
          <a:xfrm>
            <a:off x="379966" y="8411920"/>
            <a:ext cx="21337034" cy="40318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200" b="1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Открыт</a:t>
            </a:r>
            <a:r>
              <a:rPr lang="ru-RU" sz="3200" b="1" dirty="0">
                <a:latin typeface="X5 Sans" panose="020B0403020203020204" pitchFamily="34" charset="0"/>
                <a:ea typeface="X5 Sans" panose="020B0403020203020204" pitchFamily="34" charset="0"/>
              </a:rPr>
              <a:t>ые</a:t>
            </a:r>
            <a:r>
              <a:rPr kumimoji="0" lang="ru-RU" sz="3200" b="1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 вопросы и риски</a:t>
            </a:r>
            <a:r>
              <a:rPr lang="ru-RU" sz="3200" b="1" dirty="0">
                <a:latin typeface="X5 Sans" panose="020B0403020203020204" pitchFamily="34" charset="0"/>
                <a:ea typeface="X5 Sans" panose="020B0403020203020204" pitchFamily="34" charset="0"/>
              </a:rPr>
              <a:t>:</a:t>
            </a:r>
          </a:p>
          <a:p>
            <a:pPr marL="514350" marR="0" indent="-5143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Отсутствие нужной экспертизы и ресурсов </a:t>
            </a: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у ЦЭ в активах</a:t>
            </a:r>
          </a:p>
          <a:p>
            <a:pPr marL="514350" marR="0" indent="-5143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Отсутствие предусмотренного бюджета на оплату услуг БЕ Тех в рамках проекта</a:t>
            </a:r>
          </a:p>
          <a:p>
            <a:pPr marL="514350" marR="0" indent="-5143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Отсутствие у БЕ Тех / ЦЭ экспертизы по работе с настройками конфликтов в АСУД, включая настройки блокировки конфликтных присвоений и отчетов по конфликтам</a:t>
            </a:r>
          </a:p>
          <a:p>
            <a:pPr marL="514350" marR="0" indent="-5143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Часть ключевых рисков </a:t>
            </a:r>
            <a:r>
              <a:rPr kumimoji="0" lang="en-US" sz="3200" b="0" i="0" u="none" strike="noStrike" cap="none" spc="0" normalizeH="0" baseline="0" dirty="0" err="1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SoD</a:t>
            </a: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 может быть выявлен</a:t>
            </a: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а</a:t>
            </a: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 </a:t>
            </a: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не ранее второго этапа, при анализе критичных ИС (ТОРГ)</a:t>
            </a:r>
            <a:endParaRPr kumimoji="0" lang="ru-RU" sz="3200" b="0" i="0" u="none" strike="noStrike" cap="none" spc="0" normalizeH="0" baseline="0" dirty="0">
              <a:ln>
                <a:noFill/>
              </a:ln>
              <a:solidFill>
                <a:srgbClr val="0E5A05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  <a:p>
            <a:pPr marL="514350" marR="0" indent="-5143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endParaRPr kumimoji="0" lang="ru-RU" sz="3200" b="0" i="0" u="none" strike="noStrike" cap="none" spc="0" normalizeH="0" baseline="0" dirty="0">
              <a:ln>
                <a:noFill/>
              </a:ln>
              <a:solidFill>
                <a:srgbClr val="0E5A05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91D0EF7-5317-49C2-B28C-A0C01E8E0050}"/>
              </a:ext>
            </a:extLst>
          </p:cNvPr>
          <p:cNvSpPr/>
          <p:nvPr/>
        </p:nvSpPr>
        <p:spPr>
          <a:xfrm>
            <a:off x="379966" y="1272209"/>
            <a:ext cx="20938461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atin typeface="X5 Sans" panose="020B0403020203020204" pitchFamily="34" charset="0"/>
                <a:ea typeface="X5 Sans" panose="020B0403020203020204" pitchFamily="34" charset="0"/>
              </a:rPr>
              <a:t>Дальнейшие шаги: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 err="1">
                <a:latin typeface="X5 Sans" panose="020B0403020203020204" pitchFamily="34" charset="0"/>
                <a:ea typeface="X5 Sans" panose="020B0403020203020204" pitchFamily="34" charset="0"/>
              </a:rPr>
              <a:t>Финализация</a:t>
            </a: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 концепции и формирование проекта дорожной карты – </a:t>
            </a:r>
            <a:r>
              <a:rPr lang="ru-RU" sz="3200" dirty="0">
                <a:solidFill>
                  <a:srgbClr val="FF0000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28 августа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ДР получает согласование концепции:*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Дирекция по внутреннему аудиту (Иван Ворона)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Финансовая дирекция (Николай Иванов)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БЕ Технологии (Александр Костин)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Направление «Организационная эффективность» (Денис Дудоров)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Подписание приказа о внедрении концепции, назначении ответственных и формированию дорожной карты и (Игорь </a:t>
            </a:r>
            <a:r>
              <a:rPr lang="ru-RU" sz="3200" dirty="0" err="1">
                <a:latin typeface="X5 Sans" panose="020B0403020203020204" pitchFamily="34" charset="0"/>
                <a:ea typeface="X5 Sans" panose="020B0403020203020204" pitchFamily="34" charset="0"/>
              </a:rPr>
              <a:t>Шехтерман</a:t>
            </a: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Рассмотрение на Аудиторском комитете (</a:t>
            </a:r>
            <a:r>
              <a:rPr lang="ru-RU" sz="3200" dirty="0">
                <a:solidFill>
                  <a:srgbClr val="FF0000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20-е числа сентября</a:t>
            </a: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Формирование методологии (до 1 октября)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Запуск пилота согласно дорожной карты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Формализация ВНД и запуск целевого процесса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89447-B115-41EC-8D74-B2AF6D97EA7D}"/>
              </a:ext>
            </a:extLst>
          </p:cNvPr>
          <p:cNvSpPr txBox="1"/>
          <p:nvPr/>
        </p:nvSpPr>
        <p:spPr>
          <a:xfrm>
            <a:off x="972576" y="12233132"/>
            <a:ext cx="153783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i="1" dirty="0">
                <a:solidFill>
                  <a:srgbClr val="FF0000"/>
                </a:solidFill>
              </a:rPr>
              <a:t>* На встрече проговорили, что период отпусков может не позволить выполнить 2 и 3 пункты до проведения Аудиторского комитета</a:t>
            </a:r>
          </a:p>
        </p:txBody>
      </p:sp>
    </p:spTree>
    <p:extLst>
      <p:ext uri="{BB962C8B-B14F-4D97-AF65-F5344CB8AC3E}">
        <p14:creationId xmlns:p14="http://schemas.microsoft.com/office/powerpoint/2010/main" val="323068143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E5A05"/>
      </a:dk1>
      <a:lt1>
        <a:srgbClr val="E7F1FF"/>
      </a:lt1>
      <a:dk2>
        <a:srgbClr val="A7A7A7"/>
      </a:dk2>
      <a:lt2>
        <a:srgbClr val="535353"/>
      </a:lt2>
      <a:accent1>
        <a:srgbClr val="262626"/>
      </a:accent1>
      <a:accent2>
        <a:srgbClr val="3750AC"/>
      </a:accent2>
      <a:accent3>
        <a:srgbClr val="FEF0BD"/>
      </a:accent3>
      <a:accent4>
        <a:srgbClr val="E6F0FF"/>
      </a:accent4>
      <a:accent5>
        <a:srgbClr val="F5DCFF"/>
      </a:accent5>
      <a:accent6>
        <a:srgbClr val="EBFED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8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E5A05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E5A05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E5A05"/>
      </a:dk1>
      <a:lt1>
        <a:srgbClr val="59555A"/>
      </a:lt1>
      <a:dk2>
        <a:srgbClr val="A7A7A7"/>
      </a:dk2>
      <a:lt2>
        <a:srgbClr val="535353"/>
      </a:lt2>
      <a:accent1>
        <a:srgbClr val="262626"/>
      </a:accent1>
      <a:accent2>
        <a:srgbClr val="3750AC"/>
      </a:accent2>
      <a:accent3>
        <a:srgbClr val="FEF0BD"/>
      </a:accent3>
      <a:accent4>
        <a:srgbClr val="E6F0FF"/>
      </a:accent4>
      <a:accent5>
        <a:srgbClr val="F5DCFF"/>
      </a:accent5>
      <a:accent6>
        <a:srgbClr val="EBFED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8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E5A05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E5A05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1464</Words>
  <Application>Microsoft Office PowerPoint</Application>
  <PresentationFormat>Произвольный</PresentationFormat>
  <Paragraphs>175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9" baseType="lpstr">
      <vt:lpstr>Arial</vt:lpstr>
      <vt:lpstr>Calibri</vt:lpstr>
      <vt:lpstr>Courier New</vt:lpstr>
      <vt:lpstr>Symbol</vt:lpstr>
      <vt:lpstr>Times New Roman</vt:lpstr>
      <vt:lpstr>Wingdings</vt:lpstr>
      <vt:lpstr>X5 Sans</vt:lpstr>
      <vt:lpstr>X5 Sans Medium</vt:lpstr>
      <vt:lpstr>X5 Sans Regular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modified xsi:type="dcterms:W3CDTF">2026-07-23T12:22:29Z</dcterms:modified>
</cp:coreProperties>
</file>