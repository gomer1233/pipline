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6"/>
  </p:notesMasterIdLst>
  <p:sldIdLst>
    <p:sldId id="2147480745" r:id="rId2"/>
    <p:sldId id="2147480743" r:id="rId3"/>
    <p:sldId id="299" r:id="rId4"/>
    <p:sldId id="2147480746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marov, Andrey" initials="KA" lastIdx="35" clrIdx="0">
    <p:extLst>
      <p:ext uri="{19B8F6BF-5375-455C-9EA6-DF929625EA0E}">
        <p15:presenceInfo xmlns:p15="http://schemas.microsoft.com/office/powerpoint/2012/main" userId="S-1-5-21-259409611-3423039362-4275811807-1443406" providerId="AD"/>
      </p:ext>
    </p:extLst>
  </p:cmAuthor>
  <p:cmAuthor id="2" name="Yuchkina, Svetlana" initials="YS" lastIdx="1" clrIdx="1">
    <p:extLst>
      <p:ext uri="{19B8F6BF-5375-455C-9EA6-DF929625EA0E}">
        <p15:presenceInfo xmlns:p15="http://schemas.microsoft.com/office/powerpoint/2012/main" userId="S-1-5-21-259409611-3423039362-4275811807-5211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23884F"/>
    <a:srgbClr val="F1F2F5"/>
    <a:srgbClr val="FEFEFE"/>
    <a:srgbClr val="DDEEE1"/>
    <a:srgbClr val="237E4C"/>
    <a:srgbClr val="CD3339"/>
    <a:srgbClr val="3F4AD7"/>
    <a:srgbClr val="F8FFFF"/>
    <a:srgbClr val="2E4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58" y="58"/>
      </p:cViewPr>
      <p:guideLst>
        <p:guide orient="horz" pos="23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D1271-901D-40C9-837A-02EA7C42A229}" type="datetimeFigureOut">
              <a:rPr lang="ru-RU" smtClean="0"/>
              <a:t>17.09.2026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EAE-75CE-4737-AF10-E8EA39EAE0E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672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27260" y="171875"/>
            <a:ext cx="1537145" cy="179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  <a:lvl2pPr marL="552422" indent="-95245">
              <a:lnSpc>
                <a:spcPct val="100000"/>
              </a:lnSpc>
              <a:buFontTx/>
              <a:defRPr sz="1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2pPr>
            <a:lvl3pPr marL="1028649" indent="-114294">
              <a:lnSpc>
                <a:spcPct val="100000"/>
              </a:lnSpc>
              <a:buFontTx/>
              <a:defRPr sz="1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3pPr>
            <a:lvl4pPr marL="1498525" indent="-126994">
              <a:lnSpc>
                <a:spcPct val="100000"/>
              </a:lnSpc>
              <a:buFontTx/>
              <a:defRPr sz="1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4pPr>
            <a:lvl5pPr marL="1955702" indent="-126994">
              <a:lnSpc>
                <a:spcPct val="100000"/>
              </a:lnSpc>
              <a:buFontTx/>
              <a:defRPr sz="1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5pPr>
          </a:lstStyle>
          <a:p>
            <a:r>
              <a:t>Текст текст 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81" name="Текст 68"/>
          <p:cNvSpPr>
            <a:spLocks noGrp="1"/>
          </p:cNvSpPr>
          <p:nvPr>
            <p:ph type="body" sz="quarter" idx="21" hasCustomPrompt="1"/>
          </p:nvPr>
        </p:nvSpPr>
        <p:spPr>
          <a:xfrm>
            <a:off x="4187368" y="171874"/>
            <a:ext cx="1911412" cy="2306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>
                <a:solidFill>
                  <a:srgbClr val="272727"/>
                </a:solidFill>
                <a:latin typeface="X5 Sans Medium"/>
                <a:ea typeface="X5 Sans Medium"/>
                <a:cs typeface="X5 Sans Medium"/>
                <a:sym typeface="X5 Sans Medium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2" name="Текст 68"/>
          <p:cNvSpPr>
            <a:spLocks noGrp="1"/>
          </p:cNvSpPr>
          <p:nvPr>
            <p:ph type="body" sz="quarter" idx="22" hasCustomPrompt="1"/>
          </p:nvPr>
        </p:nvSpPr>
        <p:spPr>
          <a:xfrm>
            <a:off x="8418090" y="164464"/>
            <a:ext cx="3526068" cy="5904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3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3" name="Текст 68"/>
          <p:cNvSpPr>
            <a:spLocks noGrp="1"/>
          </p:cNvSpPr>
          <p:nvPr>
            <p:ph type="body" sz="quarter" idx="23" hasCustomPrompt="1"/>
          </p:nvPr>
        </p:nvSpPr>
        <p:spPr>
          <a:xfrm>
            <a:off x="216011" y="1400543"/>
            <a:ext cx="2335889" cy="2058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4" name="Текст 68"/>
          <p:cNvSpPr>
            <a:spLocks noGrp="1"/>
          </p:cNvSpPr>
          <p:nvPr>
            <p:ph type="body" sz="quarter" idx="24" hasCustomPrompt="1"/>
          </p:nvPr>
        </p:nvSpPr>
        <p:spPr>
          <a:xfrm>
            <a:off x="216011" y="1639402"/>
            <a:ext cx="2335889" cy="618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5" name="Текст 68"/>
          <p:cNvSpPr>
            <a:spLocks noGrp="1"/>
          </p:cNvSpPr>
          <p:nvPr>
            <p:ph type="body" sz="quarter" idx="25" hasCustomPrompt="1"/>
          </p:nvPr>
        </p:nvSpPr>
        <p:spPr>
          <a:xfrm>
            <a:off x="3227464" y="1395756"/>
            <a:ext cx="2335889" cy="2058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6" name="Текст 68"/>
          <p:cNvSpPr>
            <a:spLocks noGrp="1"/>
          </p:cNvSpPr>
          <p:nvPr>
            <p:ph type="body" sz="quarter" idx="26" hasCustomPrompt="1"/>
          </p:nvPr>
        </p:nvSpPr>
        <p:spPr>
          <a:xfrm>
            <a:off x="3227464" y="1634615"/>
            <a:ext cx="2335889" cy="618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7" name="Текст 68"/>
          <p:cNvSpPr>
            <a:spLocks noGrp="1"/>
          </p:cNvSpPr>
          <p:nvPr>
            <p:ph type="body" sz="quarter" idx="27" hasCustomPrompt="1"/>
          </p:nvPr>
        </p:nvSpPr>
        <p:spPr>
          <a:xfrm>
            <a:off x="6209874" y="1382883"/>
            <a:ext cx="2335889" cy="2058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8" name="Текст 68"/>
          <p:cNvSpPr>
            <a:spLocks noGrp="1"/>
          </p:cNvSpPr>
          <p:nvPr>
            <p:ph type="body" sz="quarter" idx="28" hasCustomPrompt="1"/>
          </p:nvPr>
        </p:nvSpPr>
        <p:spPr>
          <a:xfrm>
            <a:off x="6209874" y="1621742"/>
            <a:ext cx="2335889" cy="6185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89" name="Текст 68"/>
          <p:cNvSpPr>
            <a:spLocks noGrp="1"/>
          </p:cNvSpPr>
          <p:nvPr>
            <p:ph type="body" sz="quarter" idx="29" hasCustomPrompt="1"/>
          </p:nvPr>
        </p:nvSpPr>
        <p:spPr>
          <a:xfrm>
            <a:off x="9166839" y="1382883"/>
            <a:ext cx="2335889" cy="2058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0" name="Текст 68"/>
          <p:cNvSpPr>
            <a:spLocks noGrp="1"/>
          </p:cNvSpPr>
          <p:nvPr>
            <p:ph type="body" sz="quarter" idx="30" hasCustomPrompt="1"/>
          </p:nvPr>
        </p:nvSpPr>
        <p:spPr>
          <a:xfrm>
            <a:off x="9166839" y="1621742"/>
            <a:ext cx="2335889" cy="6185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00"/>
              </a:lnSpc>
              <a:buSzTx/>
              <a:buFontTx/>
              <a:buNone/>
              <a:defRPr sz="20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1" name="Текст 68"/>
          <p:cNvSpPr>
            <a:spLocks noGrp="1"/>
          </p:cNvSpPr>
          <p:nvPr>
            <p:ph type="body" sz="quarter" idx="31" hasCustomPrompt="1"/>
          </p:nvPr>
        </p:nvSpPr>
        <p:spPr>
          <a:xfrm>
            <a:off x="216010" y="2374518"/>
            <a:ext cx="2335890" cy="10136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9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2" name="Текст 68"/>
          <p:cNvSpPr>
            <a:spLocks noGrp="1"/>
          </p:cNvSpPr>
          <p:nvPr>
            <p:ph type="body" sz="quarter" idx="32" hasCustomPrompt="1"/>
          </p:nvPr>
        </p:nvSpPr>
        <p:spPr>
          <a:xfrm>
            <a:off x="3227465" y="2374518"/>
            <a:ext cx="2335889" cy="749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9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3" name="Текст 68"/>
          <p:cNvSpPr>
            <a:spLocks noGrp="1"/>
          </p:cNvSpPr>
          <p:nvPr>
            <p:ph type="body" sz="quarter" idx="33" hasCustomPrompt="1"/>
          </p:nvPr>
        </p:nvSpPr>
        <p:spPr>
          <a:xfrm>
            <a:off x="6209873" y="2374518"/>
            <a:ext cx="2335889" cy="749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9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4" name="Текст 68"/>
          <p:cNvSpPr>
            <a:spLocks noGrp="1"/>
          </p:cNvSpPr>
          <p:nvPr>
            <p:ph type="body" sz="quarter" idx="34" hasCustomPrompt="1"/>
          </p:nvPr>
        </p:nvSpPr>
        <p:spPr>
          <a:xfrm>
            <a:off x="9166839" y="2374518"/>
            <a:ext cx="2335889" cy="10569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9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</a:t>
            </a:r>
          </a:p>
        </p:txBody>
      </p:sp>
      <p:sp>
        <p:nvSpPr>
          <p:cNvPr id="695" name="Текст 68"/>
          <p:cNvSpPr>
            <a:spLocks noGrp="1"/>
          </p:cNvSpPr>
          <p:nvPr>
            <p:ph type="body" sz="quarter" idx="35" hasCustomPrompt="1"/>
          </p:nvPr>
        </p:nvSpPr>
        <p:spPr>
          <a:xfrm>
            <a:off x="205119" y="3473444"/>
            <a:ext cx="2335890" cy="101360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buFontTx/>
              <a:buAutoNum type="arabicPeriod"/>
              <a:defRPr sz="9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</a:t>
            </a:r>
          </a:p>
        </p:txBody>
      </p:sp>
      <p:sp>
        <p:nvSpPr>
          <p:cNvPr id="696" name="Текст 68"/>
          <p:cNvSpPr>
            <a:spLocks noGrp="1"/>
          </p:cNvSpPr>
          <p:nvPr>
            <p:ph type="body" sz="quarter" idx="36" hasCustomPrompt="1"/>
          </p:nvPr>
        </p:nvSpPr>
        <p:spPr>
          <a:xfrm>
            <a:off x="3216573" y="3270915"/>
            <a:ext cx="2335889" cy="3227298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buFontTx/>
              <a:buAutoNum type="arabicPeriod"/>
              <a:defRPr sz="9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
Текст текст текст
Текст текст текст</a:t>
            </a:r>
          </a:p>
        </p:txBody>
      </p:sp>
      <p:sp>
        <p:nvSpPr>
          <p:cNvPr id="697" name="Текст 68"/>
          <p:cNvSpPr>
            <a:spLocks noGrp="1"/>
          </p:cNvSpPr>
          <p:nvPr>
            <p:ph type="body" sz="quarter" idx="37" hasCustomPrompt="1"/>
          </p:nvPr>
        </p:nvSpPr>
        <p:spPr>
          <a:xfrm>
            <a:off x="6198982" y="3197908"/>
            <a:ext cx="2335889" cy="2146979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buFontTx/>
              <a:buAutoNum type="arabicPeriod"/>
              <a:defRPr sz="900" b="1">
                <a:solidFill>
                  <a:srgbClr val="272727"/>
                </a:solidFill>
                <a:latin typeface="X5 Sans"/>
                <a:ea typeface="X5 Sans"/>
                <a:cs typeface="X5 Sans"/>
                <a:sym typeface="X5 Sans"/>
              </a:defRPr>
            </a:lvl1pPr>
          </a:lstStyle>
          <a:p>
            <a:r>
              <a:t>Текст текст текст
Текст текст текст
Текст текст текст</a:t>
            </a:r>
          </a:p>
        </p:txBody>
      </p:sp>
    </p:spTree>
    <p:extLst>
      <p:ext uri="{BB962C8B-B14F-4D97-AF65-F5344CB8AC3E}">
        <p14:creationId xmlns:p14="http://schemas.microsoft.com/office/powerpoint/2010/main" val="32835325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582" y="365126"/>
            <a:ext cx="10520395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582" y="1825625"/>
            <a:ext cx="10520395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083905" y="6400414"/>
            <a:ext cx="27507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9988"/>
                </a:solidFill>
              </a:defRPr>
            </a:lvl1pPr>
          </a:lstStyle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053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 spd="med"/>
  <p:txStyles>
    <p:titleStyle>
      <a:lvl1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354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228588" marR="0" indent="-228588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723864" marR="0" indent="-266687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1234378" marR="0" indent="-320024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1727114" marR="0" indent="-355582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2184291" marR="0" indent="-355582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2641468" marR="0" indent="-355582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3098645" marR="0" indent="-355582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3555822" marR="0" indent="-355582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4012999" marR="0" indent="-355582" algn="l" defTabSz="914354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2286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4572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6858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9144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1430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3716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6002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828800" algn="r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microsoft.com/office/2007/relationships/hdphoto" Target="../media/hdphoto1.wdp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4D805C3-2480-4AC8-ABB9-6A1AAE4EAA4A}"/>
              </a:ext>
            </a:extLst>
          </p:cNvPr>
          <p:cNvSpPr/>
          <p:nvPr/>
        </p:nvSpPr>
        <p:spPr>
          <a:xfrm>
            <a:off x="8217568" y="2396928"/>
            <a:ext cx="3716658" cy="3793505"/>
          </a:xfrm>
          <a:prstGeom prst="roundRect">
            <a:avLst>
              <a:gd name="adj" fmla="val 4484"/>
            </a:avLst>
          </a:prstGeom>
          <a:solidFill>
            <a:srgbClr val="FEFEFE"/>
          </a:solidFill>
          <a:ln w="12700" cap="flat">
            <a:solidFill>
              <a:srgbClr val="237E4C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BF75489-CA19-494E-B39F-55C2F3BEE0CB}"/>
              </a:ext>
            </a:extLst>
          </p:cNvPr>
          <p:cNvSpPr/>
          <p:nvPr/>
        </p:nvSpPr>
        <p:spPr>
          <a:xfrm>
            <a:off x="4237671" y="2414043"/>
            <a:ext cx="3716658" cy="3793505"/>
          </a:xfrm>
          <a:prstGeom prst="roundRect">
            <a:avLst>
              <a:gd name="adj" fmla="val 5581"/>
            </a:avLst>
          </a:prstGeom>
          <a:solidFill>
            <a:srgbClr val="FEF6F7"/>
          </a:solidFill>
          <a:ln w="12700" cap="flat">
            <a:solidFill>
              <a:srgbClr val="CD3339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D7F224A-ABF5-4F14-AC5C-543FF85E2E08}"/>
              </a:ext>
            </a:extLst>
          </p:cNvPr>
          <p:cNvSpPr/>
          <p:nvPr/>
        </p:nvSpPr>
        <p:spPr>
          <a:xfrm>
            <a:off x="257774" y="2396928"/>
            <a:ext cx="3716658" cy="3793505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12700" cap="flat">
            <a:solidFill>
              <a:srgbClr val="1658B1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720AAA6-FF96-4001-823A-E254CFDBA6A4}"/>
              </a:ext>
            </a:extLst>
          </p:cNvPr>
          <p:cNvSpPr/>
          <p:nvPr/>
        </p:nvSpPr>
        <p:spPr>
          <a:xfrm>
            <a:off x="162406" y="207772"/>
            <a:ext cx="11460179" cy="41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ru-RU" sz="2000" b="1" dirty="0">
                <a:latin typeface="X5 Sans" panose="020B0403020203020204" pitchFamily="34" charset="0"/>
                <a:ea typeface="X5 Sans" panose="020B0403020203020204" pitchFamily="34" charset="0"/>
                <a:cs typeface="Inter Bold" pitchFamily="34" charset="-120"/>
              </a:rPr>
              <a:t>Цель проекта</a:t>
            </a:r>
            <a:endParaRPr lang="ru-RU" sz="20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B63F754-4D30-49C2-9DB3-428714B95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322" y="2627364"/>
            <a:ext cx="706519" cy="706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3115C8-081D-43DB-B019-9AC4B1006C06}"/>
              </a:ext>
            </a:extLst>
          </p:cNvPr>
          <p:cNvSpPr txBox="1"/>
          <p:nvPr/>
        </p:nvSpPr>
        <p:spPr>
          <a:xfrm>
            <a:off x="5431367" y="2676561"/>
            <a:ext cx="227114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600" b="1" dirty="0">
                <a:solidFill>
                  <a:srgbClr val="CD333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Конфликты полномочий</a:t>
            </a:r>
            <a:endParaRPr kumimoji="0" lang="ru-RU" sz="1600" b="1" i="0" u="none" strike="noStrike" cap="none" spc="0" normalizeH="0" baseline="0" dirty="0">
              <a:ln>
                <a:noFill/>
              </a:ln>
              <a:solidFill>
                <a:srgbClr val="CD3339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5D99A-AECB-4E31-B8A3-7DFE9A353A4A}"/>
              </a:ext>
            </a:extLst>
          </p:cNvPr>
          <p:cNvSpPr txBox="1"/>
          <p:nvPr/>
        </p:nvSpPr>
        <p:spPr>
          <a:xfrm>
            <a:off x="488010" y="4072581"/>
            <a:ext cx="3201006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Технические роли и доступы </a:t>
            </a:r>
            <a:r>
              <a:rPr lang="ru-RU" sz="14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формируются в разных информационных системах, а их присвоение не всегда оценивается на предмет наличия конфликтных полномочий в ролях и на пользователях</a:t>
            </a: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DD4421B-1471-49D2-9059-B32041DD1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87" y="2722780"/>
            <a:ext cx="609987" cy="5355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7B445C2-5045-48ED-900A-D683CBA8C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576" y="2718813"/>
            <a:ext cx="588351" cy="5883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AD6C8E3-5D50-4E3F-A6CD-2020A6893E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748" y="2558698"/>
            <a:ext cx="810268" cy="810268"/>
          </a:xfrm>
          <a:prstGeom prst="rect">
            <a:avLst/>
          </a:prstGeom>
        </p:spPr>
      </p:pic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DFC1937C-5CE6-4A70-99B0-81356EAC64DB}"/>
              </a:ext>
            </a:extLst>
          </p:cNvPr>
          <p:cNvGrpSpPr/>
          <p:nvPr/>
        </p:nvGrpSpPr>
        <p:grpSpPr>
          <a:xfrm>
            <a:off x="742532" y="3467507"/>
            <a:ext cx="360000" cy="360000"/>
            <a:chOff x="558438" y="3072474"/>
            <a:chExt cx="648000" cy="648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B02E3A08-0973-4D2C-905D-99E71EA8FCDF}"/>
                </a:ext>
              </a:extLst>
            </p:cNvPr>
            <p:cNvSpPr/>
            <p:nvPr/>
          </p:nvSpPr>
          <p:spPr>
            <a:xfrm>
              <a:off x="558438" y="3072474"/>
              <a:ext cx="648000" cy="648000"/>
            </a:xfrm>
            <a:prstGeom prst="ellipse">
              <a:avLst/>
            </a:prstGeom>
            <a:solidFill>
              <a:srgbClr val="EEF3FB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96546D1A-2AF3-465E-8687-E8824A2EF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801" y="3139116"/>
              <a:ext cx="453274" cy="453274"/>
            </a:xfrm>
            <a:prstGeom prst="rect">
              <a:avLst/>
            </a:prstGeom>
          </p:spPr>
        </p:pic>
      </p:grp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99A4706-CCBD-4BBF-81FB-A923FC9B53EC}"/>
              </a:ext>
            </a:extLst>
          </p:cNvPr>
          <p:cNvCxnSpPr>
            <a:cxnSpLocks/>
          </p:cNvCxnSpPr>
          <p:nvPr/>
        </p:nvCxnSpPr>
        <p:spPr>
          <a:xfrm>
            <a:off x="1269557" y="2963576"/>
            <a:ext cx="432243" cy="0"/>
          </a:xfrm>
          <a:prstGeom prst="straightConnector1">
            <a:avLst/>
          </a:prstGeom>
          <a:noFill/>
          <a:ln w="12700" cap="flat">
            <a:solidFill>
              <a:srgbClr val="2E48CC"/>
            </a:solidFill>
            <a:prstDash val="sysDot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8BEA93B8-247E-45FC-80B3-74240748EE5C}"/>
              </a:ext>
            </a:extLst>
          </p:cNvPr>
          <p:cNvCxnSpPr>
            <a:cxnSpLocks/>
          </p:cNvCxnSpPr>
          <p:nvPr/>
        </p:nvCxnSpPr>
        <p:spPr>
          <a:xfrm>
            <a:off x="2430512" y="2963576"/>
            <a:ext cx="395238" cy="0"/>
          </a:xfrm>
          <a:prstGeom prst="straightConnector1">
            <a:avLst/>
          </a:prstGeom>
          <a:noFill/>
          <a:ln w="12700" cap="flat">
            <a:solidFill>
              <a:srgbClr val="2E48CC"/>
            </a:solidFill>
            <a:prstDash val="sysDot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1D6F6EC9-C60A-4768-B8F2-8C3E68F08A5F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 flipH="1">
            <a:off x="922532" y="3258344"/>
            <a:ext cx="2349" cy="209163"/>
          </a:xfrm>
          <a:prstGeom prst="straightConnector1">
            <a:avLst/>
          </a:prstGeom>
          <a:noFill/>
          <a:ln w="12700" cap="flat">
            <a:solidFill>
              <a:srgbClr val="2E48CC"/>
            </a:solidFill>
            <a:prstDash val="sysDot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91A4F4C-7445-419E-A390-226CD2CF5414}"/>
              </a:ext>
            </a:extLst>
          </p:cNvPr>
          <p:cNvCxnSpPr>
            <a:cxnSpLocks/>
          </p:cNvCxnSpPr>
          <p:nvPr/>
        </p:nvCxnSpPr>
        <p:spPr>
          <a:xfrm>
            <a:off x="2095054" y="3262020"/>
            <a:ext cx="0" cy="213892"/>
          </a:xfrm>
          <a:prstGeom prst="straightConnector1">
            <a:avLst/>
          </a:prstGeom>
          <a:noFill/>
          <a:ln w="12700" cap="flat">
            <a:solidFill>
              <a:srgbClr val="2E48CC"/>
            </a:solidFill>
            <a:prstDash val="sysDot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1EDC6935-5C31-4371-B237-A30D0C2AFC70}"/>
              </a:ext>
            </a:extLst>
          </p:cNvPr>
          <p:cNvCxnSpPr>
            <a:cxnSpLocks/>
          </p:cNvCxnSpPr>
          <p:nvPr/>
        </p:nvCxnSpPr>
        <p:spPr>
          <a:xfrm>
            <a:off x="3283882" y="3227601"/>
            <a:ext cx="0" cy="248311"/>
          </a:xfrm>
          <a:prstGeom prst="straightConnector1">
            <a:avLst/>
          </a:prstGeom>
          <a:noFill/>
          <a:ln w="12700" cap="flat">
            <a:solidFill>
              <a:srgbClr val="2E48CC"/>
            </a:solidFill>
            <a:prstDash val="sysDot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31AC09FF-FFF3-48E9-AC53-00B7BD639646}"/>
              </a:ext>
            </a:extLst>
          </p:cNvPr>
          <p:cNvCxnSpPr>
            <a:cxnSpLocks/>
          </p:cNvCxnSpPr>
          <p:nvPr/>
        </p:nvCxnSpPr>
        <p:spPr>
          <a:xfrm>
            <a:off x="924880" y="3307164"/>
            <a:ext cx="2376000" cy="0"/>
          </a:xfrm>
          <a:prstGeom prst="line">
            <a:avLst/>
          </a:prstGeom>
          <a:noFill/>
          <a:ln w="12700" cap="flat">
            <a:solidFill>
              <a:srgbClr val="2E48CC"/>
            </a:solidFill>
            <a:prstDash val="sysDot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A981AEBE-106A-4BFF-8C0D-14560BFCBFDA}"/>
              </a:ext>
            </a:extLst>
          </p:cNvPr>
          <p:cNvGrpSpPr/>
          <p:nvPr/>
        </p:nvGrpSpPr>
        <p:grpSpPr>
          <a:xfrm>
            <a:off x="1901751" y="3467452"/>
            <a:ext cx="360000" cy="360000"/>
            <a:chOff x="558438" y="3072474"/>
            <a:chExt cx="648000" cy="648000"/>
          </a:xfrm>
        </p:grpSpPr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43E1DEB3-B4A8-4D18-8B4D-670BC21975BD}"/>
                </a:ext>
              </a:extLst>
            </p:cNvPr>
            <p:cNvSpPr/>
            <p:nvPr/>
          </p:nvSpPr>
          <p:spPr>
            <a:xfrm>
              <a:off x="558438" y="3072474"/>
              <a:ext cx="648000" cy="648000"/>
            </a:xfrm>
            <a:prstGeom prst="ellipse">
              <a:avLst/>
            </a:prstGeom>
            <a:solidFill>
              <a:srgbClr val="EEF3FB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pic>
          <p:nvPicPr>
            <p:cNvPr id="57" name="Рисунок 56">
              <a:extLst>
                <a:ext uri="{FF2B5EF4-FFF2-40B4-BE49-F238E27FC236}">
                  <a16:creationId xmlns:a16="http://schemas.microsoft.com/office/drawing/2014/main" id="{254EF95D-44FD-4F91-8BC9-6E50EE721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801" y="3139116"/>
              <a:ext cx="453274" cy="453274"/>
            </a:xfrm>
            <a:prstGeom prst="rect">
              <a:avLst/>
            </a:prstGeom>
          </p:spPr>
        </p:pic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19A33681-12F5-4F8F-A952-F7BD6C3551FF}"/>
              </a:ext>
            </a:extLst>
          </p:cNvPr>
          <p:cNvGrpSpPr/>
          <p:nvPr/>
        </p:nvGrpSpPr>
        <p:grpSpPr>
          <a:xfrm>
            <a:off x="3103882" y="3467452"/>
            <a:ext cx="360000" cy="360000"/>
            <a:chOff x="558438" y="3072474"/>
            <a:chExt cx="648000" cy="648000"/>
          </a:xfrm>
        </p:grpSpPr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2D42FD1A-3B8E-45C6-B4BD-6D8CEB0893EC}"/>
                </a:ext>
              </a:extLst>
            </p:cNvPr>
            <p:cNvSpPr/>
            <p:nvPr/>
          </p:nvSpPr>
          <p:spPr>
            <a:xfrm>
              <a:off x="558438" y="3072474"/>
              <a:ext cx="648000" cy="648000"/>
            </a:xfrm>
            <a:prstGeom prst="ellipse">
              <a:avLst/>
            </a:prstGeom>
            <a:solidFill>
              <a:srgbClr val="EEF3FB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pic>
          <p:nvPicPr>
            <p:cNvPr id="60" name="Рисунок 59">
              <a:extLst>
                <a:ext uri="{FF2B5EF4-FFF2-40B4-BE49-F238E27FC236}">
                  <a16:creationId xmlns:a16="http://schemas.microsoft.com/office/drawing/2014/main" id="{308153AE-9DFA-4FD2-8A22-F48D3BF7C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801" y="3139116"/>
              <a:ext cx="453274" cy="453274"/>
            </a:xfrm>
            <a:prstGeom prst="rect">
              <a:avLst/>
            </a:prstGeom>
          </p:spPr>
        </p:pic>
      </p:grp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55A9F621-7400-4A08-B963-F19356C41EB7}"/>
              </a:ext>
            </a:extLst>
          </p:cNvPr>
          <p:cNvSpPr/>
          <p:nvPr/>
        </p:nvSpPr>
        <p:spPr>
          <a:xfrm>
            <a:off x="199627" y="940764"/>
            <a:ext cx="11676452" cy="830997"/>
          </a:xfrm>
          <a:prstGeom prst="roundRect">
            <a:avLst/>
          </a:prstGeom>
          <a:solidFill>
            <a:srgbClr val="F1F2F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DB97C9F1-16BA-4847-A5FD-9781545A33A6}"/>
              </a:ext>
            </a:extLst>
          </p:cNvPr>
          <p:cNvSpPr/>
          <p:nvPr/>
        </p:nvSpPr>
        <p:spPr>
          <a:xfrm>
            <a:off x="326010" y="2024172"/>
            <a:ext cx="324000" cy="324000"/>
          </a:xfrm>
          <a:prstGeom prst="ellipse">
            <a:avLst/>
          </a:prstGeom>
          <a:solidFill>
            <a:srgbClr val="3F4AD7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8FFFF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1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8FFFF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6ACFB8-2557-465F-AF6A-4DA60D263004}"/>
              </a:ext>
            </a:extLst>
          </p:cNvPr>
          <p:cNvSpPr txBox="1"/>
          <p:nvPr/>
        </p:nvSpPr>
        <p:spPr>
          <a:xfrm>
            <a:off x="699496" y="2024172"/>
            <a:ext cx="2826767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600" b="1" dirty="0">
                <a:solidFill>
                  <a:srgbClr val="3F4AD7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Текущее состояние</a:t>
            </a:r>
            <a:endParaRPr kumimoji="0" lang="ru-RU" sz="1600" b="1" i="0" u="none" strike="noStrike" cap="none" spc="0" normalizeH="0" baseline="0" dirty="0">
              <a:ln>
                <a:noFill/>
              </a:ln>
              <a:solidFill>
                <a:srgbClr val="3F4AD7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0551D790-F38C-4956-9C9F-CEF44068BC92}"/>
              </a:ext>
            </a:extLst>
          </p:cNvPr>
          <p:cNvSpPr/>
          <p:nvPr/>
        </p:nvSpPr>
        <p:spPr>
          <a:xfrm>
            <a:off x="4330359" y="2022332"/>
            <a:ext cx="324000" cy="324000"/>
          </a:xfrm>
          <a:prstGeom prst="ellipse">
            <a:avLst/>
          </a:prstGeom>
          <a:solidFill>
            <a:srgbClr val="C0000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rgbClr val="F8FFFF"/>
                </a:solidFill>
              </a:rPr>
              <a:t>2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8FFFF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28F467-C9E4-4B3A-8508-6751D7E33F74}"/>
              </a:ext>
            </a:extLst>
          </p:cNvPr>
          <p:cNvSpPr txBox="1"/>
          <p:nvPr/>
        </p:nvSpPr>
        <p:spPr>
          <a:xfrm>
            <a:off x="4742225" y="2024172"/>
            <a:ext cx="321210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CD3339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Проблематика</a:t>
            </a:r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A7BA4F02-F2F6-47C7-9EE0-21B943103382}"/>
              </a:ext>
            </a:extLst>
          </p:cNvPr>
          <p:cNvSpPr/>
          <p:nvPr/>
        </p:nvSpPr>
        <p:spPr>
          <a:xfrm>
            <a:off x="8286409" y="2032526"/>
            <a:ext cx="324000" cy="324000"/>
          </a:xfrm>
          <a:prstGeom prst="ellipse">
            <a:avLst/>
          </a:prstGeom>
          <a:solidFill>
            <a:srgbClr val="23884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F8FFFF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3</a:t>
            </a:r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96194D61-72B9-45BA-B444-8C083BE5EC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980" y="2571742"/>
            <a:ext cx="767469" cy="76746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3E3C65CA-FCB0-4693-8818-1753BA9D689C}"/>
              </a:ext>
            </a:extLst>
          </p:cNvPr>
          <p:cNvSpPr txBox="1"/>
          <p:nvPr/>
        </p:nvSpPr>
        <p:spPr>
          <a:xfrm>
            <a:off x="9143003" y="2583869"/>
            <a:ext cx="2271145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80808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Целевое состояние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9E8134-9F7F-4A52-9E08-8FD4F18BC348}"/>
              </a:ext>
            </a:extLst>
          </p:cNvPr>
          <p:cNvSpPr txBox="1"/>
          <p:nvPr/>
        </p:nvSpPr>
        <p:spPr>
          <a:xfrm>
            <a:off x="9143003" y="2849828"/>
            <a:ext cx="2733076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rgbClr val="080808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Единый процесс управления разграничением полномочий позвол</a:t>
            </a:r>
            <a:r>
              <a:rPr lang="ru-RU" sz="14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ит</a:t>
            </a: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rgbClr val="080808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:</a:t>
            </a:r>
          </a:p>
        </p:txBody>
      </p: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2802C77B-D452-4DBD-99E5-7EAE8DFBF6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20" y="1131353"/>
            <a:ext cx="449312" cy="449312"/>
          </a:xfrm>
          <a:prstGeom prst="rect">
            <a:avLst/>
          </a:prstGeom>
        </p:spPr>
      </p:pic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C945726A-039F-4E38-9AC0-0D41D345809B}"/>
              </a:ext>
            </a:extLst>
          </p:cNvPr>
          <p:cNvSpPr/>
          <p:nvPr/>
        </p:nvSpPr>
        <p:spPr>
          <a:xfrm>
            <a:off x="1048443" y="1063622"/>
            <a:ext cx="107368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Выстроить единый процесс управления разграничением полномочий в информационных системах Х5 для предотвращения злоупотребления сотрудников из-за наличия конфликтов полномочий</a:t>
            </a:r>
            <a:endParaRPr lang="ru-RU" sz="1600" dirty="0">
              <a:solidFill>
                <a:srgbClr val="080808"/>
              </a:solidFill>
              <a:highlight>
                <a:srgbClr val="FFFF00"/>
              </a:highlight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4AB46F-DD1D-4018-B997-10CE7E93CF64}"/>
              </a:ext>
            </a:extLst>
          </p:cNvPr>
          <p:cNvSpPr txBox="1"/>
          <p:nvPr/>
        </p:nvSpPr>
        <p:spPr>
          <a:xfrm>
            <a:off x="9052176" y="3587600"/>
            <a:ext cx="273307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Выявить конфликты в бизнес-ролях</a:t>
            </a:r>
            <a:endParaRPr kumimoji="0" lang="ru-RU" sz="140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cxnSp>
        <p:nvCxnSpPr>
          <p:cNvPr id="92" name="Прямая соединительная линия 91">
            <a:extLst>
              <a:ext uri="{FF2B5EF4-FFF2-40B4-BE49-F238E27FC236}">
                <a16:creationId xmlns:a16="http://schemas.microsoft.com/office/drawing/2014/main" id="{5EDA4894-7D9D-4E64-978C-D51516096CF3}"/>
              </a:ext>
            </a:extLst>
          </p:cNvPr>
          <p:cNvCxnSpPr/>
          <p:nvPr/>
        </p:nvCxnSpPr>
        <p:spPr>
          <a:xfrm>
            <a:off x="9096449" y="4089809"/>
            <a:ext cx="2664000" cy="0"/>
          </a:xfrm>
          <a:prstGeom prst="line">
            <a:avLst/>
          </a:prstGeom>
          <a:noFill/>
          <a:ln w="12700" cap="flat">
            <a:solidFill>
              <a:schemeClr val="tx2">
                <a:lumMod val="40000"/>
                <a:lumOff val="6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D18B3C72-5FDF-4266-8519-9C666D11E695}"/>
              </a:ext>
            </a:extLst>
          </p:cNvPr>
          <p:cNvSpPr txBox="1"/>
          <p:nvPr/>
        </p:nvSpPr>
        <p:spPr>
          <a:xfrm>
            <a:off x="9052176" y="4205647"/>
            <a:ext cx="288205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Устранить конфликты в ролях в ИС и у пользователей</a:t>
            </a:r>
            <a:endParaRPr kumimoji="0" lang="ru-RU" sz="140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id="{77D5DDAC-B87B-4CB3-B622-B73847A32710}"/>
              </a:ext>
            </a:extLst>
          </p:cNvPr>
          <p:cNvCxnSpPr/>
          <p:nvPr/>
        </p:nvCxnSpPr>
        <p:spPr>
          <a:xfrm>
            <a:off x="9096449" y="4735300"/>
            <a:ext cx="2664000" cy="0"/>
          </a:xfrm>
          <a:prstGeom prst="line">
            <a:avLst/>
          </a:prstGeom>
          <a:noFill/>
          <a:ln w="12700" cap="flat">
            <a:solidFill>
              <a:schemeClr val="tx2">
                <a:lumMod val="40000"/>
                <a:lumOff val="6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Прямоугольник: скругленные углы 94">
            <a:extLst>
              <a:ext uri="{FF2B5EF4-FFF2-40B4-BE49-F238E27FC236}">
                <a16:creationId xmlns:a16="http://schemas.microsoft.com/office/drawing/2014/main" id="{B42AE988-4132-4B3F-8F9E-978151703357}"/>
              </a:ext>
            </a:extLst>
          </p:cNvPr>
          <p:cNvSpPr/>
          <p:nvPr/>
        </p:nvSpPr>
        <p:spPr>
          <a:xfrm>
            <a:off x="8327005" y="3576364"/>
            <a:ext cx="660007" cy="545689"/>
          </a:xfrm>
          <a:prstGeom prst="roundRect">
            <a:avLst/>
          </a:prstGeom>
          <a:solidFill>
            <a:srgbClr val="DDEEE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9354CAEB-3906-4C70-8478-D04DC7AF4A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063" y="3618707"/>
            <a:ext cx="459957" cy="459957"/>
          </a:xfrm>
          <a:prstGeom prst="rect">
            <a:avLst/>
          </a:prstGeom>
        </p:spPr>
      </p:pic>
      <p:sp>
        <p:nvSpPr>
          <p:cNvPr id="96" name="Прямоугольник: скругленные углы 95">
            <a:extLst>
              <a:ext uri="{FF2B5EF4-FFF2-40B4-BE49-F238E27FC236}">
                <a16:creationId xmlns:a16="http://schemas.microsoft.com/office/drawing/2014/main" id="{56A77CA6-B976-4EF1-99DD-72B328F2DDF6}"/>
              </a:ext>
            </a:extLst>
          </p:cNvPr>
          <p:cNvSpPr/>
          <p:nvPr/>
        </p:nvSpPr>
        <p:spPr>
          <a:xfrm>
            <a:off x="8327005" y="4213756"/>
            <a:ext cx="660007" cy="545689"/>
          </a:xfrm>
          <a:prstGeom prst="roundRect">
            <a:avLst/>
          </a:prstGeom>
          <a:solidFill>
            <a:srgbClr val="DDEEE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97" name="Прямоугольник: скругленные углы 96">
            <a:extLst>
              <a:ext uri="{FF2B5EF4-FFF2-40B4-BE49-F238E27FC236}">
                <a16:creationId xmlns:a16="http://schemas.microsoft.com/office/drawing/2014/main" id="{7C5FBBAB-C3A9-4BFF-8E26-2A9303F8961C}"/>
              </a:ext>
            </a:extLst>
          </p:cNvPr>
          <p:cNvSpPr/>
          <p:nvPr/>
        </p:nvSpPr>
        <p:spPr>
          <a:xfrm>
            <a:off x="8327005" y="4863509"/>
            <a:ext cx="660007" cy="545689"/>
          </a:xfrm>
          <a:prstGeom prst="roundRect">
            <a:avLst/>
          </a:prstGeom>
          <a:solidFill>
            <a:srgbClr val="DDEEE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65E37353-B344-4E4E-AED3-609214F12F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063" y="4255187"/>
            <a:ext cx="459957" cy="459957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8F58FB1-F7AA-4931-8DDC-1B6B0CCFBA36}"/>
              </a:ext>
            </a:extLst>
          </p:cNvPr>
          <p:cNvSpPr txBox="1"/>
          <p:nvPr/>
        </p:nvSpPr>
        <p:spPr>
          <a:xfrm>
            <a:off x="9052176" y="4879545"/>
            <a:ext cx="273307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Предотвращать появление новых конфликтов</a:t>
            </a:r>
            <a:endParaRPr kumimoji="0" lang="ru-RU" sz="140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cxnSp>
        <p:nvCxnSpPr>
          <p:cNvPr id="100" name="Прямая соединительная линия 99">
            <a:extLst>
              <a:ext uri="{FF2B5EF4-FFF2-40B4-BE49-F238E27FC236}">
                <a16:creationId xmlns:a16="http://schemas.microsoft.com/office/drawing/2014/main" id="{481DBEAF-79D8-463D-B41D-54CA88C79E3B}"/>
              </a:ext>
            </a:extLst>
          </p:cNvPr>
          <p:cNvCxnSpPr/>
          <p:nvPr/>
        </p:nvCxnSpPr>
        <p:spPr>
          <a:xfrm>
            <a:off x="9096449" y="5409198"/>
            <a:ext cx="2664000" cy="0"/>
          </a:xfrm>
          <a:prstGeom prst="line">
            <a:avLst/>
          </a:prstGeom>
          <a:noFill/>
          <a:ln w="12700" cap="flat">
            <a:solidFill>
              <a:schemeClr val="tx2">
                <a:lumMod val="40000"/>
                <a:lumOff val="6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A7F2FD8B-FBD5-4B2D-8B56-622FA902B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983" y="4926292"/>
            <a:ext cx="420122" cy="420122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6DD048CB-C32E-48E9-9732-0243718F7C7F}"/>
              </a:ext>
            </a:extLst>
          </p:cNvPr>
          <p:cNvSpPr txBox="1"/>
          <p:nvPr/>
        </p:nvSpPr>
        <p:spPr>
          <a:xfrm>
            <a:off x="8722122" y="2024172"/>
            <a:ext cx="321210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600" b="1" dirty="0">
                <a:solidFill>
                  <a:srgbClr val="23884F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Предлагаемое решение</a:t>
            </a:r>
            <a:endParaRPr kumimoji="0" lang="ru-RU" sz="1600" b="1" i="0" u="none" strike="noStrike" cap="none" spc="0" normalizeH="0" baseline="0" dirty="0">
              <a:ln>
                <a:noFill/>
              </a:ln>
              <a:solidFill>
                <a:srgbClr val="23884F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04" name="Прямоугольник: скругленные углы 103">
            <a:extLst>
              <a:ext uri="{FF2B5EF4-FFF2-40B4-BE49-F238E27FC236}">
                <a16:creationId xmlns:a16="http://schemas.microsoft.com/office/drawing/2014/main" id="{32410B89-5F02-4434-A09F-9F7E314574FF}"/>
              </a:ext>
            </a:extLst>
          </p:cNvPr>
          <p:cNvSpPr/>
          <p:nvPr/>
        </p:nvSpPr>
        <p:spPr>
          <a:xfrm>
            <a:off x="4389737" y="3467452"/>
            <a:ext cx="3412526" cy="786212"/>
          </a:xfrm>
          <a:prstGeom prst="roundRect">
            <a:avLst>
              <a:gd name="adj" fmla="val 13851"/>
            </a:avLst>
          </a:prstGeom>
          <a:solidFill>
            <a:srgbClr val="FEFEFE"/>
          </a:solidFill>
          <a:ln>
            <a:solidFill>
              <a:srgbClr val="F1F2F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837A5800-C98D-48A6-A79C-06F9638DC266}"/>
              </a:ext>
            </a:extLst>
          </p:cNvPr>
          <p:cNvSpPr/>
          <p:nvPr/>
        </p:nvSpPr>
        <p:spPr>
          <a:xfrm>
            <a:off x="5270353" y="3545342"/>
            <a:ext cx="24779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Совершить действие (создать, изменить, провести, переместить)</a:t>
            </a:r>
          </a:p>
        </p:txBody>
      </p:sp>
      <p:sp>
        <p:nvSpPr>
          <p:cNvPr id="112" name="Прямоугольник: скругленные углы 111">
            <a:extLst>
              <a:ext uri="{FF2B5EF4-FFF2-40B4-BE49-F238E27FC236}">
                <a16:creationId xmlns:a16="http://schemas.microsoft.com/office/drawing/2014/main" id="{E58F9BB4-7DB8-475D-9E93-A792689D7E24}"/>
              </a:ext>
            </a:extLst>
          </p:cNvPr>
          <p:cNvSpPr/>
          <p:nvPr/>
        </p:nvSpPr>
        <p:spPr>
          <a:xfrm>
            <a:off x="4389737" y="4408992"/>
            <a:ext cx="3412526" cy="706851"/>
          </a:xfrm>
          <a:prstGeom prst="roundRect">
            <a:avLst>
              <a:gd name="adj" fmla="val 13851"/>
            </a:avLst>
          </a:prstGeom>
          <a:solidFill>
            <a:srgbClr val="FEFEFE"/>
          </a:solidFill>
          <a:ln>
            <a:solidFill>
              <a:srgbClr val="F1F2F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780BA98C-1369-469B-BF9F-5860E4D59868}"/>
              </a:ext>
            </a:extLst>
          </p:cNvPr>
          <p:cNvGrpSpPr/>
          <p:nvPr/>
        </p:nvGrpSpPr>
        <p:grpSpPr>
          <a:xfrm>
            <a:off x="5867867" y="4150595"/>
            <a:ext cx="360000" cy="360000"/>
            <a:chOff x="5172947" y="4485779"/>
            <a:chExt cx="360000" cy="360000"/>
          </a:xfrm>
        </p:grpSpPr>
        <p:sp>
          <p:nvSpPr>
            <p:cNvPr id="110" name="Овал 109">
              <a:extLst>
                <a:ext uri="{FF2B5EF4-FFF2-40B4-BE49-F238E27FC236}">
                  <a16:creationId xmlns:a16="http://schemas.microsoft.com/office/drawing/2014/main" id="{25950717-348D-4F07-B958-1AEB7E491722}"/>
                </a:ext>
              </a:extLst>
            </p:cNvPr>
            <p:cNvSpPr/>
            <p:nvPr/>
          </p:nvSpPr>
          <p:spPr>
            <a:xfrm>
              <a:off x="5172947" y="4485779"/>
              <a:ext cx="360000" cy="360000"/>
            </a:xfrm>
            <a:prstGeom prst="ellipse">
              <a:avLst/>
            </a:prstGeom>
            <a:solidFill>
              <a:srgbClr val="F8FFFF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pic>
          <p:nvPicPr>
            <p:cNvPr id="109" name="Рисунок 108">
              <a:extLst>
                <a:ext uri="{FF2B5EF4-FFF2-40B4-BE49-F238E27FC236}">
                  <a16:creationId xmlns:a16="http://schemas.microsoft.com/office/drawing/2014/main" id="{CCACEF85-F415-4B63-8CB6-0C1420DC4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0219" y="4552025"/>
              <a:ext cx="231631" cy="231631"/>
            </a:xfrm>
            <a:prstGeom prst="rect">
              <a:avLst/>
            </a:prstGeom>
          </p:spPr>
        </p:pic>
      </p:grp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C8547615-E0EF-4980-AB51-31F2430F0D17}"/>
              </a:ext>
            </a:extLst>
          </p:cNvPr>
          <p:cNvSpPr/>
          <p:nvPr/>
        </p:nvSpPr>
        <p:spPr>
          <a:xfrm>
            <a:off x="5270353" y="4462669"/>
            <a:ext cx="2531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Подтвердить, учесть или проконтролировать это действие самостоятельно</a:t>
            </a:r>
          </a:p>
        </p:txBody>
      </p:sp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15E010AD-9D65-44AC-A248-AD9F0A6713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220" y="3588066"/>
            <a:ext cx="568552" cy="568552"/>
          </a:xfrm>
          <a:prstGeom prst="rect">
            <a:avLst/>
          </a:prstGeom>
        </p:spPr>
      </p:pic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id="{F47080DE-8761-4464-A89F-5E0B1BBDDE11}"/>
              </a:ext>
            </a:extLst>
          </p:cNvPr>
          <p:cNvCxnSpPr>
            <a:cxnSpLocks/>
          </p:cNvCxnSpPr>
          <p:nvPr/>
        </p:nvCxnSpPr>
        <p:spPr>
          <a:xfrm>
            <a:off x="4340198" y="5308461"/>
            <a:ext cx="3527385" cy="0"/>
          </a:xfrm>
          <a:prstGeom prst="line">
            <a:avLst/>
          </a:prstGeom>
          <a:noFill/>
          <a:ln w="12700" cap="flat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9AF8E813-D00A-4D5D-B3EE-B273EECD3A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322" y="4488354"/>
            <a:ext cx="523456" cy="523456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A2C38888-FBCB-4EDE-BC61-68F729EF2BEB}"/>
              </a:ext>
            </a:extLst>
          </p:cNvPr>
          <p:cNvSpPr txBox="1"/>
          <p:nvPr/>
        </p:nvSpPr>
        <p:spPr>
          <a:xfrm>
            <a:off x="5189131" y="5408730"/>
            <a:ext cx="251410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Это создает возможность для злоупотребления и сокрытия информации об этом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pic>
        <p:nvPicPr>
          <p:cNvPr id="128" name="Рисунок 127">
            <a:extLst>
              <a:ext uri="{FF2B5EF4-FFF2-40B4-BE49-F238E27FC236}">
                <a16:creationId xmlns:a16="http://schemas.microsoft.com/office/drawing/2014/main" id="{9C75F2D2-890C-46BE-9682-B0E2B7EE0CF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717" y="5408730"/>
            <a:ext cx="725016" cy="725016"/>
          </a:xfrm>
          <a:prstGeom prst="rect">
            <a:avLst/>
          </a:prstGeom>
        </p:spPr>
      </p:pic>
      <p:sp>
        <p:nvSpPr>
          <p:cNvPr id="131" name="Стрелка: вниз 130">
            <a:extLst>
              <a:ext uri="{FF2B5EF4-FFF2-40B4-BE49-F238E27FC236}">
                <a16:creationId xmlns:a16="http://schemas.microsoft.com/office/drawing/2014/main" id="{A075F85F-C14E-424D-B732-96DCE8D5687C}"/>
              </a:ext>
            </a:extLst>
          </p:cNvPr>
          <p:cNvSpPr/>
          <p:nvPr/>
        </p:nvSpPr>
        <p:spPr>
          <a:xfrm rot="16200000">
            <a:off x="3877948" y="3415370"/>
            <a:ext cx="479690" cy="23975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2" name="Стрелка: вниз 131">
            <a:extLst>
              <a:ext uri="{FF2B5EF4-FFF2-40B4-BE49-F238E27FC236}">
                <a16:creationId xmlns:a16="http://schemas.microsoft.com/office/drawing/2014/main" id="{B5554951-88BE-4F3A-AC92-CC105D63E3E6}"/>
              </a:ext>
            </a:extLst>
          </p:cNvPr>
          <p:cNvSpPr/>
          <p:nvPr/>
        </p:nvSpPr>
        <p:spPr>
          <a:xfrm rot="16200000">
            <a:off x="7854645" y="3415370"/>
            <a:ext cx="479690" cy="23975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70" name="Прямоугольник: скругленные углы 69">
            <a:extLst>
              <a:ext uri="{FF2B5EF4-FFF2-40B4-BE49-F238E27FC236}">
                <a16:creationId xmlns:a16="http://schemas.microsoft.com/office/drawing/2014/main" id="{B77E118E-20AB-497D-A2B5-4E9835A0861F}"/>
              </a:ext>
            </a:extLst>
          </p:cNvPr>
          <p:cNvSpPr/>
          <p:nvPr/>
        </p:nvSpPr>
        <p:spPr>
          <a:xfrm>
            <a:off x="8327005" y="5521534"/>
            <a:ext cx="660007" cy="545689"/>
          </a:xfrm>
          <a:prstGeom prst="roundRect">
            <a:avLst/>
          </a:prstGeom>
          <a:solidFill>
            <a:srgbClr val="DDEEE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0353AD-8E61-4EA4-85E8-46FABC02B277}"/>
              </a:ext>
            </a:extLst>
          </p:cNvPr>
          <p:cNvSpPr txBox="1"/>
          <p:nvPr/>
        </p:nvSpPr>
        <p:spPr>
          <a:xfrm>
            <a:off x="9052176" y="5537570"/>
            <a:ext cx="273307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08080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Закрыть кросс-системные риски</a:t>
            </a:r>
            <a:endParaRPr kumimoji="0" lang="ru-RU" sz="1400" i="0" u="none" strike="noStrike" cap="none" spc="0" normalizeH="0" baseline="0" dirty="0">
              <a:ln>
                <a:noFill/>
              </a:ln>
              <a:solidFill>
                <a:srgbClr val="080808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6ED1C602-2380-4D8D-A8B3-5D04FF4731BB}"/>
              </a:ext>
            </a:extLst>
          </p:cNvPr>
          <p:cNvCxnSpPr/>
          <p:nvPr/>
        </p:nvCxnSpPr>
        <p:spPr>
          <a:xfrm>
            <a:off x="9096449" y="6067223"/>
            <a:ext cx="2664000" cy="0"/>
          </a:xfrm>
          <a:prstGeom prst="line">
            <a:avLst/>
          </a:prstGeom>
          <a:noFill/>
          <a:ln w="12700" cap="flat">
            <a:solidFill>
              <a:schemeClr val="tx2">
                <a:lumMod val="40000"/>
                <a:lumOff val="6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C21B6A-0A29-4E6D-BD53-88C4B4E1BC8B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007" y="5570540"/>
            <a:ext cx="464073" cy="46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3756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Прямоугольник: скругленные углы 132">
            <a:extLst>
              <a:ext uri="{FF2B5EF4-FFF2-40B4-BE49-F238E27FC236}">
                <a16:creationId xmlns:a16="http://schemas.microsoft.com/office/drawing/2014/main" id="{478F17B9-0EFC-4DD8-8E9F-A13DDAB7DD05}"/>
              </a:ext>
            </a:extLst>
          </p:cNvPr>
          <p:cNvSpPr/>
          <p:nvPr/>
        </p:nvSpPr>
        <p:spPr>
          <a:xfrm>
            <a:off x="9101510" y="6576109"/>
            <a:ext cx="765292" cy="272294"/>
          </a:xfrm>
          <a:prstGeom prst="roundRect">
            <a:avLst>
              <a:gd name="adj" fmla="val 28682"/>
            </a:avLst>
          </a:prstGeom>
          <a:solidFill>
            <a:srgbClr val="F8E7FF"/>
          </a:solidFill>
          <a:ln w="12700" cap="flat">
            <a:noFill/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28" name="Прямоугольник: скругленные углы 127">
            <a:extLst>
              <a:ext uri="{FF2B5EF4-FFF2-40B4-BE49-F238E27FC236}">
                <a16:creationId xmlns:a16="http://schemas.microsoft.com/office/drawing/2014/main" id="{99060617-D8ED-4650-871F-68B3572E7438}"/>
              </a:ext>
            </a:extLst>
          </p:cNvPr>
          <p:cNvSpPr/>
          <p:nvPr/>
        </p:nvSpPr>
        <p:spPr>
          <a:xfrm>
            <a:off x="3620667" y="6150882"/>
            <a:ext cx="1604547" cy="423045"/>
          </a:xfrm>
          <a:prstGeom prst="roundRect">
            <a:avLst>
              <a:gd name="adj" fmla="val 27435"/>
            </a:avLst>
          </a:prstGeom>
          <a:solidFill>
            <a:srgbClr val="FEF9EC"/>
          </a:solidFill>
          <a:ln w="12700" cap="flat">
            <a:noFill/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 sz="1600" dirty="0">
              <a:solidFill>
                <a:srgbClr val="FCFCFC"/>
              </a:solidFill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125" name="Прямоугольник: скругленные углы 124">
            <a:extLst>
              <a:ext uri="{FF2B5EF4-FFF2-40B4-BE49-F238E27FC236}">
                <a16:creationId xmlns:a16="http://schemas.microsoft.com/office/drawing/2014/main" id="{152D2689-A2C5-4022-8F48-FC3463580336}"/>
              </a:ext>
            </a:extLst>
          </p:cNvPr>
          <p:cNvSpPr/>
          <p:nvPr/>
        </p:nvSpPr>
        <p:spPr>
          <a:xfrm>
            <a:off x="302747" y="2843047"/>
            <a:ext cx="3081777" cy="438728"/>
          </a:xfrm>
          <a:prstGeom prst="roundRect">
            <a:avLst>
              <a:gd name="adj" fmla="val 21530"/>
            </a:avLst>
          </a:prstGeom>
          <a:solidFill>
            <a:srgbClr val="F3F6FB"/>
          </a:solidFill>
          <a:ln w="12700" cap="flat">
            <a:noFill/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17" name="Прямоугольник: скругленные углы 116">
            <a:extLst>
              <a:ext uri="{FF2B5EF4-FFF2-40B4-BE49-F238E27FC236}">
                <a16:creationId xmlns:a16="http://schemas.microsoft.com/office/drawing/2014/main" id="{FC8A8E3B-E8F0-4DAE-A01B-7699BC9FF38F}"/>
              </a:ext>
            </a:extLst>
          </p:cNvPr>
          <p:cNvSpPr/>
          <p:nvPr/>
        </p:nvSpPr>
        <p:spPr>
          <a:xfrm>
            <a:off x="311619" y="6138225"/>
            <a:ext cx="1865661" cy="430887"/>
          </a:xfrm>
          <a:prstGeom prst="roundRect">
            <a:avLst>
              <a:gd name="adj" fmla="val 27046"/>
            </a:avLst>
          </a:prstGeom>
          <a:solidFill>
            <a:srgbClr val="ECFAEC"/>
          </a:solidFill>
          <a:ln w="12700" cap="flat">
            <a:noFill/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EDD5D9BD-5654-4BD6-87C6-C03AD5A8F3E0}"/>
              </a:ext>
            </a:extLst>
          </p:cNvPr>
          <p:cNvSpPr/>
          <p:nvPr/>
        </p:nvSpPr>
        <p:spPr>
          <a:xfrm>
            <a:off x="352394" y="933692"/>
            <a:ext cx="11446216" cy="1337568"/>
          </a:xfrm>
          <a:prstGeom prst="roundRect">
            <a:avLst>
              <a:gd name="adj" fmla="val 9951"/>
            </a:avLst>
          </a:prstGeom>
          <a:solidFill>
            <a:srgbClr val="FBFBFC"/>
          </a:solidFill>
          <a:ln w="12700" cap="flat">
            <a:solidFill>
              <a:srgbClr val="E5E4E7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6CF5D59A-2E2B-442E-9537-3D048FEDD7AD}"/>
              </a:ext>
            </a:extLst>
          </p:cNvPr>
          <p:cNvGrpSpPr/>
          <p:nvPr/>
        </p:nvGrpSpPr>
        <p:grpSpPr>
          <a:xfrm>
            <a:off x="570466" y="1377960"/>
            <a:ext cx="2415706" cy="754161"/>
            <a:chOff x="1123784" y="2718905"/>
            <a:chExt cx="2415706" cy="562776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C026CE92-7796-4241-9537-0303F8E47D26}"/>
                </a:ext>
              </a:extLst>
            </p:cNvPr>
            <p:cNvSpPr/>
            <p:nvPr/>
          </p:nvSpPr>
          <p:spPr>
            <a:xfrm>
              <a:off x="1123784" y="2718905"/>
              <a:ext cx="2415706" cy="562776"/>
            </a:xfrm>
            <a:prstGeom prst="roundRect">
              <a:avLst>
                <a:gd name="adj" fmla="val 9951"/>
              </a:avLst>
            </a:prstGeom>
            <a:solidFill>
              <a:srgbClr val="FEFEFE"/>
            </a:solidFill>
            <a:ln w="12700" cap="flat">
              <a:solidFill>
                <a:srgbClr val="E5E4E7"/>
              </a:solidFill>
              <a:prstDash val="solid"/>
              <a:miter lim="800000"/>
            </a:ln>
            <a:effectLst>
              <a:glow rad="38100">
                <a:schemeClr val="accent1">
                  <a:satMod val="175000"/>
                  <a:alpha val="10000"/>
                </a:schemeClr>
              </a:glow>
              <a:softEdge rad="0"/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600" b="0" i="0" u="none" strike="noStrike" cap="none" spc="0" normalizeH="0" baseline="0">
                <a:ln>
                  <a:noFill/>
                </a:ln>
                <a:solidFill>
                  <a:srgbClr val="FCFCFC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A393D7-13A0-4C3B-BBB0-FEE1AED42B5C}"/>
                </a:ext>
              </a:extLst>
            </p:cNvPr>
            <p:cNvSpPr txBox="1"/>
            <p:nvPr/>
          </p:nvSpPr>
          <p:spPr>
            <a:xfrm>
              <a:off x="1744998" y="2781003"/>
              <a:ext cx="1764968" cy="413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1" i="0" u="none" strike="noStrike" cap="none" spc="0" normalizeH="0" baseline="0" dirty="0">
                  <a:ln>
                    <a:noFill/>
                  </a:ln>
                  <a:solidFill>
                    <a:srgbClr val="0E5A05"/>
                  </a:solidFill>
                  <a:effectLst/>
                  <a:uFillTx/>
                  <a:latin typeface="X5 Sans" panose="020B0403020203020204" pitchFamily="34" charset="0"/>
                  <a:ea typeface="X5 Sans" panose="020B0403020203020204" pitchFamily="34" charset="0"/>
                  <a:sym typeface="Calibri"/>
                </a:rPr>
                <a:t>Платформы</a:t>
              </a:r>
            </a:p>
            <a:p>
              <a:pPr algn="ctr"/>
              <a:r>
                <a:rPr lang="ru-RU" sz="900" dirty="0">
                  <a:solidFill>
                    <a:schemeClr val="tx2">
                      <a:lumMod val="75000"/>
                    </a:schemeClr>
                  </a:solidFill>
                  <a:latin typeface="X5 Sans" panose="020B0403020203020204" pitchFamily="34" charset="0"/>
                  <a:ea typeface="X5 Sans" panose="020B0403020203020204" pitchFamily="34" charset="0"/>
                </a:rPr>
                <a:t>Сфера </a:t>
              </a:r>
              <a:r>
                <a:rPr lang="ru-RU" sz="900" dirty="0">
                  <a:solidFill>
                    <a:schemeClr val="tx2">
                      <a:lumMod val="75000"/>
                    </a:schemeClr>
                  </a:solidFill>
                  <a:latin typeface="X5 Sans" panose="020B0403020203020204" pitchFamily="34" charset="0"/>
                  <a:ea typeface="X5 Sans" panose="020B0403020203020204" pitchFamily="34" charset="0"/>
                  <a:sym typeface="Wingdings" panose="05000000000000000000" pitchFamily="2" charset="2"/>
                </a:rPr>
                <a:t> </a:t>
              </a:r>
              <a:r>
                <a:rPr lang="ru-RU" sz="900" dirty="0" err="1">
                  <a:solidFill>
                    <a:schemeClr val="tx2">
                      <a:lumMod val="75000"/>
                    </a:schemeClr>
                  </a:solidFill>
                  <a:latin typeface="X5 Sans" panose="020B0403020203020204" pitchFamily="34" charset="0"/>
                  <a:ea typeface="X5 Sans" panose="020B0403020203020204" pitchFamily="34" charset="0"/>
                  <a:sym typeface="Wingdings" panose="05000000000000000000" pitchFamily="2" charset="2"/>
                </a:rPr>
                <a:t>Орбита+ЛогоМакс</a:t>
              </a:r>
              <a:r>
                <a:rPr lang="ru-RU" sz="900" dirty="0">
                  <a:solidFill>
                    <a:schemeClr val="tx2">
                      <a:lumMod val="75000"/>
                    </a:schemeClr>
                  </a:solidFill>
                  <a:latin typeface="X5 Sans" panose="020B0403020203020204" pitchFamily="34" charset="0"/>
                  <a:ea typeface="X5 Sans" panose="020B0403020203020204" pitchFamily="34" charset="0"/>
                  <a:sym typeface="Wingdings" panose="05000000000000000000" pitchFamily="2" charset="2"/>
                </a:rPr>
                <a:t>  Аура </a:t>
              </a:r>
              <a:endParaRPr kumimoji="0" lang="ru-RU" sz="9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endParaRPr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008CC2F9-7029-4AC4-8F10-E3CF1EFD8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6894" y="2781003"/>
              <a:ext cx="438580" cy="438580"/>
            </a:xfrm>
            <a:prstGeom prst="rect">
              <a:avLst/>
            </a:prstGeom>
          </p:spPr>
        </p:pic>
      </p:grp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9E30AFF-4095-4467-B71C-018D550BF7AC}"/>
              </a:ext>
            </a:extLst>
          </p:cNvPr>
          <p:cNvSpPr/>
          <p:nvPr/>
        </p:nvSpPr>
        <p:spPr>
          <a:xfrm>
            <a:off x="6283125" y="1384659"/>
            <a:ext cx="2363261" cy="754161"/>
          </a:xfrm>
          <a:prstGeom prst="roundRect">
            <a:avLst>
              <a:gd name="adj" fmla="val 9951"/>
            </a:avLst>
          </a:prstGeom>
          <a:solidFill>
            <a:srgbClr val="FEFEFE"/>
          </a:solidFill>
          <a:ln w="12700" cap="flat">
            <a:solidFill>
              <a:srgbClr val="E5E4E7"/>
            </a:solidFill>
            <a:prstDash val="solid"/>
            <a:miter lim="800000"/>
          </a:ln>
          <a:effectLst>
            <a:glow rad="38100">
              <a:schemeClr val="accent1">
                <a:satMod val="175000"/>
                <a:alpha val="10000"/>
              </a:schemeClr>
            </a:glow>
            <a:softEdge rad="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9BF82B-3AAE-41C1-B276-32E2F8130C1D}"/>
              </a:ext>
            </a:extLst>
          </p:cNvPr>
          <p:cNvSpPr txBox="1"/>
          <p:nvPr/>
        </p:nvSpPr>
        <p:spPr>
          <a:xfrm>
            <a:off x="6868136" y="1448168"/>
            <a:ext cx="177825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b="1" dirty="0">
                <a:latin typeface="X5 Sans" panose="020B0403020203020204" pitchFamily="34" charset="0"/>
                <a:ea typeface="X5 Sans" panose="020B0403020203020204" pitchFamily="34" charset="0"/>
              </a:rPr>
              <a:t>Информационные системы (ИС)</a:t>
            </a:r>
            <a:endParaRPr kumimoji="0" lang="ru-RU" sz="1200" b="1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0D9E7F1-ED34-4BB3-A060-A8E2B4BD0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725" y="1488877"/>
            <a:ext cx="438580" cy="438580"/>
          </a:xfrm>
          <a:prstGeom prst="rect">
            <a:avLst/>
          </a:prstGeom>
        </p:spPr>
      </p:pic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85ECE06E-DFEF-46D3-9AF5-C4536FF1B094}"/>
              </a:ext>
            </a:extLst>
          </p:cNvPr>
          <p:cNvGrpSpPr/>
          <p:nvPr/>
        </p:nvGrpSpPr>
        <p:grpSpPr>
          <a:xfrm>
            <a:off x="3462217" y="1384659"/>
            <a:ext cx="2310113" cy="754161"/>
            <a:chOff x="3800620" y="1898023"/>
            <a:chExt cx="2310113" cy="562776"/>
          </a:xfrm>
        </p:grpSpPr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FC5E41C1-4E38-4DCC-B5A9-E0FFE3052A40}"/>
                </a:ext>
              </a:extLst>
            </p:cNvPr>
            <p:cNvGrpSpPr/>
            <p:nvPr/>
          </p:nvGrpSpPr>
          <p:grpSpPr>
            <a:xfrm>
              <a:off x="3800620" y="1898023"/>
              <a:ext cx="2310113" cy="562776"/>
              <a:chOff x="3998949" y="1898023"/>
              <a:chExt cx="2310113" cy="562776"/>
            </a:xfrm>
          </p:grpSpPr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8A7F71DC-CD5C-4859-B2FC-D2DFA243E347}"/>
                  </a:ext>
                </a:extLst>
              </p:cNvPr>
              <p:cNvSpPr/>
              <p:nvPr/>
            </p:nvSpPr>
            <p:spPr>
              <a:xfrm>
                <a:off x="3998949" y="1898023"/>
                <a:ext cx="2309026" cy="562776"/>
              </a:xfrm>
              <a:prstGeom prst="roundRect">
                <a:avLst>
                  <a:gd name="adj" fmla="val 9951"/>
                </a:avLst>
              </a:prstGeom>
              <a:solidFill>
                <a:srgbClr val="FEFEFE"/>
              </a:solidFill>
              <a:ln w="12700" cap="flat">
                <a:solidFill>
                  <a:srgbClr val="E5E4E7"/>
                </a:solidFill>
                <a:prstDash val="solid"/>
                <a:miter lim="800000"/>
              </a:ln>
              <a:effectLst>
                <a:glow rad="38100">
                  <a:schemeClr val="accent1">
                    <a:satMod val="175000"/>
                    <a:alpha val="10000"/>
                  </a:schemeClr>
                </a:glow>
                <a:softEdge rad="0"/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600" b="0" i="0" u="none" strike="noStrike" cap="none" spc="0" normalizeH="0" baseline="0">
                  <a:ln>
                    <a:noFill/>
                  </a:ln>
                  <a:solidFill>
                    <a:srgbClr val="FCFCFC"/>
                  </a:solidFill>
                  <a:effectLst/>
                  <a:uFillTx/>
                  <a:latin typeface="X5 Sans" panose="020B0403020203020204" pitchFamily="34" charset="0"/>
                  <a:ea typeface="X5 Sans" panose="020B0403020203020204" pitchFamily="34" charset="0"/>
                  <a:sym typeface="Calibri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D005ADE-9E3D-4783-8A2C-E4A3A4C99E9C}"/>
                  </a:ext>
                </a:extLst>
              </p:cNvPr>
              <p:cNvSpPr txBox="1"/>
              <p:nvPr/>
            </p:nvSpPr>
            <p:spPr>
              <a:xfrm>
                <a:off x="4622037" y="2025541"/>
                <a:ext cx="1687025" cy="2067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ctr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200" b="1" dirty="0">
                    <a:latin typeface="X5 Sans" panose="020B0403020203020204" pitchFamily="34" charset="0"/>
                    <a:ea typeface="X5 Sans" panose="020B0403020203020204" pitchFamily="34" charset="0"/>
                  </a:rPr>
                  <a:t>Продукты</a:t>
                </a:r>
                <a:endParaRPr kumimoji="0" lang="ru-RU" sz="1200" b="1" i="0" u="none" strike="noStrike" cap="none" spc="0" normalizeH="0" baseline="0" dirty="0">
                  <a:ln>
                    <a:noFill/>
                  </a:ln>
                  <a:solidFill>
                    <a:srgbClr val="0E5A05"/>
                  </a:solidFill>
                  <a:effectLst/>
                  <a:uFillTx/>
                  <a:latin typeface="X5 Sans" panose="020B0403020203020204" pitchFamily="34" charset="0"/>
                  <a:ea typeface="X5 Sans" panose="020B0403020203020204" pitchFamily="34" charset="0"/>
                  <a:sym typeface="Calibri"/>
                </a:endParaRPr>
              </a:p>
            </p:txBody>
          </p:sp>
        </p:grp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83735248-961A-4943-91AE-F79F54A06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4518" y="1933728"/>
              <a:ext cx="595501" cy="461532"/>
            </a:xfrm>
            <a:prstGeom prst="rect">
              <a:avLst/>
            </a:prstGeom>
          </p:spPr>
        </p:pic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98E1CD30-E8B1-4669-A8B4-71410B502A38}"/>
              </a:ext>
            </a:extLst>
          </p:cNvPr>
          <p:cNvGrpSpPr/>
          <p:nvPr/>
        </p:nvGrpSpPr>
        <p:grpSpPr>
          <a:xfrm>
            <a:off x="9166520" y="1384659"/>
            <a:ext cx="2456065" cy="754161"/>
            <a:chOff x="9210429" y="1907312"/>
            <a:chExt cx="2456065" cy="562776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E0E04CFD-5E2A-4B35-A8EC-5DD7B61B4926}"/>
                </a:ext>
              </a:extLst>
            </p:cNvPr>
            <p:cNvSpPr/>
            <p:nvPr/>
          </p:nvSpPr>
          <p:spPr>
            <a:xfrm>
              <a:off x="9210429" y="1907312"/>
              <a:ext cx="2309025" cy="562776"/>
            </a:xfrm>
            <a:prstGeom prst="roundRect">
              <a:avLst>
                <a:gd name="adj" fmla="val 9951"/>
              </a:avLst>
            </a:prstGeom>
            <a:solidFill>
              <a:srgbClr val="FEFEFE"/>
            </a:solidFill>
            <a:ln w="12700" cap="flat">
              <a:solidFill>
                <a:srgbClr val="E5E4E7"/>
              </a:solidFill>
              <a:prstDash val="solid"/>
              <a:miter lim="800000"/>
            </a:ln>
            <a:effectLst>
              <a:glow rad="38100">
                <a:schemeClr val="accent1">
                  <a:satMod val="175000"/>
                  <a:alpha val="10000"/>
                </a:schemeClr>
              </a:glow>
              <a:softEdge rad="0"/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600" b="0" i="0" u="none" strike="noStrike" cap="none" spc="0" normalizeH="0" baseline="0">
                <a:ln>
                  <a:noFill/>
                </a:ln>
                <a:solidFill>
                  <a:srgbClr val="FCFCFC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4754CB1-A0A0-4284-823F-1AC78E94B4D0}"/>
                </a:ext>
              </a:extLst>
            </p:cNvPr>
            <p:cNvSpPr txBox="1"/>
            <p:nvPr/>
          </p:nvSpPr>
          <p:spPr>
            <a:xfrm>
              <a:off x="9912734" y="1915549"/>
              <a:ext cx="1753760" cy="344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1" i="0" u="none" strike="noStrike" cap="none" spc="0" normalizeH="0" baseline="0" dirty="0">
                  <a:ln>
                    <a:noFill/>
                  </a:ln>
                  <a:solidFill>
                    <a:srgbClr val="0E5A05"/>
                  </a:solidFill>
                  <a:effectLst/>
                  <a:uFillTx/>
                  <a:latin typeface="X5 Sans" panose="020B0403020203020204" pitchFamily="34" charset="0"/>
                  <a:ea typeface="X5 Sans" panose="020B0403020203020204" pitchFamily="34" charset="0"/>
                  <a:sym typeface="Calibri"/>
                </a:rPr>
                <a:t>Ст</a:t>
              </a:r>
              <a:r>
                <a:rPr lang="ru-RU" sz="1200" b="1" dirty="0">
                  <a:latin typeface="X5 Sans" panose="020B0403020203020204" pitchFamily="34" charset="0"/>
                  <a:ea typeface="X5 Sans" panose="020B0403020203020204" pitchFamily="34" charset="0"/>
                </a:rPr>
                <a:t>руктурные подразделения</a:t>
              </a:r>
              <a:endParaRPr kumimoji="0" lang="ru-RU" sz="12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endParaRPr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9AA9D8DC-7442-442F-B8CA-0E6C60BD6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2335" y="1952049"/>
              <a:ext cx="455941" cy="455941"/>
            </a:xfrm>
            <a:prstGeom prst="rect">
              <a:avLst/>
            </a:prstGeom>
          </p:spPr>
        </p:pic>
      </p:grpSp>
      <p:sp>
        <p:nvSpPr>
          <p:cNvPr id="39" name="Text 0">
            <a:extLst>
              <a:ext uri="{FF2B5EF4-FFF2-40B4-BE49-F238E27FC236}">
                <a16:creationId xmlns:a16="http://schemas.microsoft.com/office/drawing/2014/main" id="{5B9D3753-E165-4D0D-B6C4-35C310EBDB75}"/>
              </a:ext>
            </a:extLst>
          </p:cNvPr>
          <p:cNvSpPr/>
          <p:nvPr/>
        </p:nvSpPr>
        <p:spPr>
          <a:xfrm>
            <a:off x="162406" y="207772"/>
            <a:ext cx="11460179" cy="41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ru-RU" sz="2000" b="1" dirty="0">
                <a:latin typeface="X5 Sans" panose="020B0403020203020204" pitchFamily="34" charset="0"/>
                <a:ea typeface="X5 Sans" panose="020B0403020203020204" pitchFamily="34" charset="0"/>
                <a:cs typeface="Inter Bold" pitchFamily="34" charset="-120"/>
              </a:rPr>
              <a:t>Концепция управления разграничением полномочий в информационных системах Х5</a:t>
            </a:r>
            <a:endParaRPr lang="ru-RU" sz="20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88CB5E-5329-4B78-98B4-32F85C46AAB2}"/>
              </a:ext>
            </a:extLst>
          </p:cNvPr>
          <p:cNvSpPr txBox="1"/>
          <p:nvPr/>
        </p:nvSpPr>
        <p:spPr>
          <a:xfrm>
            <a:off x="4119891" y="948058"/>
            <a:ext cx="381458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Воронка проекта</a:t>
            </a:r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740DCE62-93CD-45DA-A1AF-876C91C302DB}"/>
              </a:ext>
            </a:extLst>
          </p:cNvPr>
          <p:cNvCxnSpPr>
            <a:cxnSpLocks/>
          </p:cNvCxnSpPr>
          <p:nvPr/>
        </p:nvCxnSpPr>
        <p:spPr>
          <a:xfrm>
            <a:off x="3059152" y="1722339"/>
            <a:ext cx="330085" cy="0"/>
          </a:xfrm>
          <a:prstGeom prst="straightConnector1">
            <a:avLst/>
          </a:prstGeom>
          <a:noFill/>
          <a:ln w="28575" cap="flat">
            <a:solidFill>
              <a:schemeClr val="tx2">
                <a:lumMod val="75000"/>
              </a:schemeClr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C835F24F-1241-4BCA-B939-7340A71E49AD}"/>
              </a:ext>
            </a:extLst>
          </p:cNvPr>
          <p:cNvCxnSpPr>
            <a:cxnSpLocks/>
          </p:cNvCxnSpPr>
          <p:nvPr/>
        </p:nvCxnSpPr>
        <p:spPr>
          <a:xfrm>
            <a:off x="5862142" y="1722339"/>
            <a:ext cx="330085" cy="0"/>
          </a:xfrm>
          <a:prstGeom prst="straightConnector1">
            <a:avLst/>
          </a:prstGeom>
          <a:noFill/>
          <a:ln w="28575" cap="flat">
            <a:solidFill>
              <a:schemeClr val="tx2">
                <a:lumMod val="75000"/>
              </a:schemeClr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0E05D8CD-C7EC-44FC-AF60-8C7E253CEA27}"/>
              </a:ext>
            </a:extLst>
          </p:cNvPr>
          <p:cNvCxnSpPr>
            <a:cxnSpLocks/>
          </p:cNvCxnSpPr>
          <p:nvPr/>
        </p:nvCxnSpPr>
        <p:spPr>
          <a:xfrm>
            <a:off x="8760085" y="1722339"/>
            <a:ext cx="330085" cy="0"/>
          </a:xfrm>
          <a:prstGeom prst="straightConnector1">
            <a:avLst/>
          </a:prstGeom>
          <a:noFill/>
          <a:ln w="28575" cap="flat">
            <a:solidFill>
              <a:schemeClr val="tx2">
                <a:lumMod val="75000"/>
              </a:schemeClr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6E72CDED-7D5F-49FE-8469-FDFDD5C53849}"/>
              </a:ext>
            </a:extLst>
          </p:cNvPr>
          <p:cNvSpPr/>
          <p:nvPr/>
        </p:nvSpPr>
        <p:spPr>
          <a:xfrm>
            <a:off x="3596588" y="2944275"/>
            <a:ext cx="5117623" cy="3120236"/>
          </a:xfrm>
          <a:prstGeom prst="roundRect">
            <a:avLst>
              <a:gd name="adj" fmla="val 3409"/>
            </a:avLst>
          </a:prstGeom>
          <a:solidFill>
            <a:srgbClr val="FEF9EC"/>
          </a:solidFill>
          <a:ln w="12700" cap="flat">
            <a:solidFill>
              <a:srgbClr val="F5E2B9"/>
            </a:solidFill>
            <a:prstDash val="solid"/>
            <a:miter lim="800000"/>
          </a:ln>
          <a:effectLst>
            <a:glow rad="25400">
              <a:schemeClr val="tx2">
                <a:lumMod val="40000"/>
                <a:lumOff val="60000"/>
                <a:alpha val="4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51F6E4-AB93-4939-961C-EBB3254F1292}"/>
              </a:ext>
            </a:extLst>
          </p:cNvPr>
          <p:cNvSpPr txBox="1"/>
          <p:nvPr/>
        </p:nvSpPr>
        <p:spPr>
          <a:xfrm>
            <a:off x="6247288" y="1900423"/>
            <a:ext cx="2393841" cy="2616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и</a:t>
            </a:r>
            <a:r>
              <a:rPr kumimoji="0" lang="ru-RU" sz="11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сключая ТОРГ системы</a:t>
            </a:r>
          </a:p>
        </p:txBody>
      </p: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F82340D9-78E6-4E17-B2DC-97AC24B34313}"/>
              </a:ext>
            </a:extLst>
          </p:cNvPr>
          <p:cNvSpPr/>
          <p:nvPr/>
        </p:nvSpPr>
        <p:spPr>
          <a:xfrm>
            <a:off x="3813527" y="4789560"/>
            <a:ext cx="2806833" cy="1003391"/>
          </a:xfrm>
          <a:prstGeom prst="roundRect">
            <a:avLst>
              <a:gd name="adj" fmla="val 15823"/>
            </a:avLst>
          </a:prstGeom>
          <a:solidFill>
            <a:srgbClr val="FEFEFE"/>
          </a:solidFill>
          <a:ln w="12700" cap="flat">
            <a:solidFill>
              <a:srgbClr val="F8ECD1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CE0360-A945-47F8-ADA7-DBCBA43CF6E6}"/>
              </a:ext>
            </a:extLst>
          </p:cNvPr>
          <p:cNvSpPr txBox="1"/>
          <p:nvPr/>
        </p:nvSpPr>
        <p:spPr>
          <a:xfrm>
            <a:off x="4432669" y="4840438"/>
            <a:ext cx="2151481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Связка </a:t>
            </a:r>
            <a:r>
              <a:rPr kumimoji="0" lang="ru-RU" sz="1200" b="1" i="0" u="none" strike="noStrike" cap="none" spc="0" normalizeH="0" baseline="0" dirty="0">
                <a:ln>
                  <a:noFill/>
                </a:ln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технических ролей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 и классифицированных </a:t>
            </a:r>
            <a:r>
              <a:rPr kumimoji="0" lang="ru-RU" sz="1200" b="1" i="0" u="none" strike="noStrike" cap="none" spc="0" normalizeH="0" baseline="0" dirty="0">
                <a:ln>
                  <a:noFill/>
                </a:ln>
                <a:solidFill>
                  <a:srgbClr val="3F4AD7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бизнес-ролей</a:t>
            </a:r>
          </a:p>
        </p:txBody>
      </p:sp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D3EDBEB2-2054-4B37-9D17-EBD6BB0DA3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281" y="4995532"/>
            <a:ext cx="478469" cy="439896"/>
          </a:xfrm>
          <a:prstGeom prst="rect">
            <a:avLst/>
          </a:prstGeom>
        </p:spPr>
      </p:pic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72C9F96A-1C98-4332-B110-5EE05D7BDBC0}"/>
              </a:ext>
            </a:extLst>
          </p:cNvPr>
          <p:cNvSpPr/>
          <p:nvPr/>
        </p:nvSpPr>
        <p:spPr>
          <a:xfrm>
            <a:off x="3813525" y="3186699"/>
            <a:ext cx="4767735" cy="1227123"/>
          </a:xfrm>
          <a:prstGeom prst="roundRect">
            <a:avLst>
              <a:gd name="adj" fmla="val 9951"/>
            </a:avLst>
          </a:prstGeom>
          <a:solidFill>
            <a:srgbClr val="FEFEFE"/>
          </a:solidFill>
          <a:ln w="12700" cap="flat">
            <a:solidFill>
              <a:srgbClr val="F8ECD1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0FF95255-0499-4530-8B51-B38A3E5776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670" y="3598731"/>
            <a:ext cx="543925" cy="54392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6356693F-41D5-455C-B3C7-BA95A28A5DDB}"/>
              </a:ext>
            </a:extLst>
          </p:cNvPr>
          <p:cNvSpPr txBox="1"/>
          <p:nvPr/>
        </p:nvSpPr>
        <p:spPr>
          <a:xfrm>
            <a:off x="4023805" y="3204917"/>
            <a:ext cx="438444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latin typeface="X5 Sans" panose="020B0403020203020204" pitchFamily="34" charset="0"/>
                <a:ea typeface="X5 Sans" panose="020B0403020203020204" pitchFamily="34" charset="0"/>
              </a:rPr>
              <a:t>Матрица конфликтов полномочий</a:t>
            </a:r>
            <a:endParaRPr kumimoji="0" lang="ru-RU" sz="1400" b="1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A63208-377E-4DC4-857E-EAFEF266E7A4}"/>
              </a:ext>
            </a:extLst>
          </p:cNvPr>
          <p:cNvSpPr txBox="1"/>
          <p:nvPr/>
        </p:nvSpPr>
        <p:spPr>
          <a:xfrm>
            <a:off x="4574534" y="3518266"/>
            <a:ext cx="3776067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Классификация </a:t>
            </a:r>
            <a:r>
              <a:rPr lang="ru-RU" sz="1100" b="1" dirty="0">
                <a:latin typeface="X5 Sans" panose="020B0403020203020204" pitchFamily="34" charset="0"/>
                <a:ea typeface="X5 Sans" panose="020B0403020203020204" pitchFamily="34" charset="0"/>
              </a:rPr>
              <a:t>действий</a:t>
            </a: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 в рамках </a:t>
            </a:r>
            <a:r>
              <a:rPr lang="ru-RU" sz="1100" b="1" dirty="0">
                <a:solidFill>
                  <a:srgbClr val="3F4AD7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бизнес-ролей</a:t>
            </a: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 по признакам </a:t>
            </a:r>
            <a:r>
              <a:rPr lang="ru-RU" sz="1100" i="1" u="sng" dirty="0">
                <a:latin typeface="X5 Sans" panose="020B0403020203020204" pitchFamily="34" charset="0"/>
                <a:ea typeface="X5 Sans" panose="020B0403020203020204" pitchFamily="34" charset="0"/>
              </a:rPr>
              <a:t>Авторизация</a:t>
            </a:r>
            <a:r>
              <a:rPr lang="en-US" sz="1100" dirty="0">
                <a:latin typeface="X5 Sans" panose="020B0403020203020204" pitchFamily="34" charset="0"/>
                <a:ea typeface="X5 Sans" panose="020B0403020203020204" pitchFamily="34" charset="0"/>
              </a:rPr>
              <a:t> / </a:t>
            </a:r>
            <a:r>
              <a:rPr lang="ru-RU" sz="1100" i="1" u="sng" dirty="0">
                <a:latin typeface="X5 Sans" panose="020B0403020203020204" pitchFamily="34" charset="0"/>
                <a:ea typeface="X5 Sans" panose="020B0403020203020204" pitchFamily="34" charset="0"/>
              </a:rPr>
              <a:t>Распоряжение активами</a:t>
            </a:r>
            <a:r>
              <a:rPr lang="en-US" sz="1100" i="1" u="sng" dirty="0">
                <a:latin typeface="X5 Sans" panose="020B0403020203020204" pitchFamily="34" charset="0"/>
                <a:ea typeface="X5 Sans" panose="020B0403020203020204" pitchFamily="34" charset="0"/>
              </a:rPr>
              <a:t> </a:t>
            </a:r>
            <a:r>
              <a:rPr lang="en-US" sz="1100" dirty="0">
                <a:latin typeface="X5 Sans" panose="020B0403020203020204" pitchFamily="34" charset="0"/>
                <a:ea typeface="X5 Sans" panose="020B0403020203020204" pitchFamily="34" charset="0"/>
              </a:rPr>
              <a:t>/ </a:t>
            </a:r>
            <a:r>
              <a:rPr lang="ru-RU" sz="1100" i="1" u="sng" dirty="0">
                <a:latin typeface="X5 Sans" panose="020B0403020203020204" pitchFamily="34" charset="0"/>
                <a:ea typeface="X5 Sans" panose="020B0403020203020204" pitchFamily="34" charset="0"/>
              </a:rPr>
              <a:t>Отражение в ИС</a:t>
            </a:r>
            <a:r>
              <a:rPr lang="en-US" sz="1100" i="1" u="sng" dirty="0">
                <a:latin typeface="X5 Sans" panose="020B0403020203020204" pitchFamily="34" charset="0"/>
                <a:ea typeface="X5 Sans" panose="020B0403020203020204" pitchFamily="34" charset="0"/>
              </a:rPr>
              <a:t> </a:t>
            </a:r>
            <a:r>
              <a:rPr lang="en-US" sz="1100" dirty="0">
                <a:latin typeface="X5 Sans" panose="020B0403020203020204" pitchFamily="34" charset="0"/>
                <a:ea typeface="X5 Sans" panose="020B0403020203020204" pitchFamily="34" charset="0"/>
              </a:rPr>
              <a:t>/ </a:t>
            </a:r>
            <a:r>
              <a:rPr lang="ru-RU" sz="1100" i="1" u="sng" dirty="0">
                <a:latin typeface="X5 Sans" panose="020B0403020203020204" pitchFamily="34" charset="0"/>
                <a:ea typeface="X5 Sans" panose="020B0403020203020204" pitchFamily="34" charset="0"/>
              </a:rPr>
              <a:t>Контроль</a:t>
            </a: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;</a:t>
            </a:r>
          </a:p>
          <a:p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выделение конфликтных действий</a:t>
            </a:r>
            <a:endParaRPr kumimoji="0" lang="ru-RU" sz="1100" b="0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F9DB227D-475E-4D50-931F-980674237AAA}"/>
              </a:ext>
            </a:extLst>
          </p:cNvPr>
          <p:cNvSpPr/>
          <p:nvPr/>
        </p:nvSpPr>
        <p:spPr>
          <a:xfrm>
            <a:off x="257775" y="4813956"/>
            <a:ext cx="3057923" cy="1243068"/>
          </a:xfrm>
          <a:prstGeom prst="roundRect">
            <a:avLst>
              <a:gd name="adj" fmla="val 9951"/>
            </a:avLst>
          </a:prstGeom>
          <a:solidFill>
            <a:srgbClr val="ECFAEC"/>
          </a:solidFill>
          <a:ln w="12700" cap="flat">
            <a:solidFill>
              <a:srgbClr val="ABD09D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8148C96E-5B3F-48C0-899C-3CE832648D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2" y="4898974"/>
            <a:ext cx="684838" cy="684838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76D0385-9ABB-4DCA-B5BE-C9E02ED9E70E}"/>
              </a:ext>
            </a:extLst>
          </p:cNvPr>
          <p:cNvSpPr txBox="1"/>
          <p:nvPr/>
        </p:nvSpPr>
        <p:spPr>
          <a:xfrm>
            <a:off x="1150286" y="4861376"/>
            <a:ext cx="213078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latin typeface="X5 Sans" panose="020B0403020203020204" pitchFamily="34" charset="0"/>
                <a:ea typeface="X5 Sans" panose="020B0403020203020204" pitchFamily="34" charset="0"/>
              </a:rPr>
              <a:t>Технические роли</a:t>
            </a:r>
            <a:endParaRPr kumimoji="0" lang="ru-RU" sz="1400" b="1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7CD6AA-6623-4312-BB53-CF59262C5E12}"/>
              </a:ext>
            </a:extLst>
          </p:cNvPr>
          <p:cNvSpPr txBox="1"/>
          <p:nvPr/>
        </p:nvSpPr>
        <p:spPr>
          <a:xfrm>
            <a:off x="1199639" y="5168315"/>
            <a:ext cx="2075219" cy="938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sz="1100" dirty="0">
                <a:solidFill>
                  <a:schemeClr val="tx2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предоставление ролей из ИС </a:t>
            </a:r>
            <a:r>
              <a:rPr lang="ru-RU" sz="1100" dirty="0">
                <a:solidFill>
                  <a:srgbClr val="464646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 описанием технических действий </a:t>
            </a:r>
            <a:r>
              <a:rPr lang="ru-RU" sz="1100" dirty="0">
                <a:solidFill>
                  <a:schemeClr val="tx2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и фактических присвоений пользователям</a:t>
            </a:r>
            <a:endParaRPr kumimoji="0" lang="ru-RU" sz="1100" b="0" i="0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ED530A03-69DD-4825-B57C-797FD56B1184}"/>
              </a:ext>
            </a:extLst>
          </p:cNvPr>
          <p:cNvSpPr/>
          <p:nvPr/>
        </p:nvSpPr>
        <p:spPr>
          <a:xfrm>
            <a:off x="257775" y="3352782"/>
            <a:ext cx="3057924" cy="1243070"/>
          </a:xfrm>
          <a:prstGeom prst="roundRect">
            <a:avLst>
              <a:gd name="adj" fmla="val 9951"/>
            </a:avLst>
          </a:prstGeom>
          <a:solidFill>
            <a:srgbClr val="F3F6FB"/>
          </a:solidFill>
          <a:ln w="12700" cap="flat">
            <a:solidFill>
              <a:srgbClr val="9BC2F3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B4F10FB5-0B63-465C-BB0C-E81984F8AD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75" y="3446817"/>
            <a:ext cx="782577" cy="78257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D96AC77-ED77-4243-9874-748239460AA6}"/>
              </a:ext>
            </a:extLst>
          </p:cNvPr>
          <p:cNvSpPr txBox="1"/>
          <p:nvPr/>
        </p:nvSpPr>
        <p:spPr>
          <a:xfrm>
            <a:off x="1190954" y="3424322"/>
            <a:ext cx="1798667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spc="0" normalizeH="0" baseline="0" dirty="0">
                <a:ln>
                  <a:noFill/>
                </a:ln>
                <a:solidFill>
                  <a:srgbClr val="3F4AD7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Бизнес-роли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CFCAE77-80FA-4A18-A146-170E3D9AC212}"/>
              </a:ext>
            </a:extLst>
          </p:cNvPr>
          <p:cNvSpPr txBox="1"/>
          <p:nvPr/>
        </p:nvSpPr>
        <p:spPr>
          <a:xfrm>
            <a:off x="1227272" y="3677364"/>
            <a:ext cx="2053799" cy="938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sz="1100" dirty="0">
                <a:solidFill>
                  <a:schemeClr val="tx2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предоставление</a:t>
            </a:r>
            <a:r>
              <a:rPr lang="ru-RU" sz="1100" dirty="0">
                <a:solidFill>
                  <a:srgbClr val="464646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детального описания функционала (</a:t>
            </a:r>
            <a:r>
              <a:rPr lang="ru-RU" sz="1100" b="1" dirty="0">
                <a:solidFill>
                  <a:srgbClr val="464646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действий</a:t>
            </a:r>
            <a:r>
              <a:rPr lang="ru-RU" sz="1100" dirty="0">
                <a:solidFill>
                  <a:srgbClr val="464646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) сотрудников в рамках должности</a:t>
            </a:r>
            <a:endParaRPr kumimoji="0" lang="ru-RU" sz="1100" b="0" i="0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18" name="Прямоугольник: скругленные углы 117">
            <a:extLst>
              <a:ext uri="{FF2B5EF4-FFF2-40B4-BE49-F238E27FC236}">
                <a16:creationId xmlns:a16="http://schemas.microsoft.com/office/drawing/2014/main" id="{99D2DA0C-E0D1-47D2-8BB5-73ECB9326B54}"/>
              </a:ext>
            </a:extLst>
          </p:cNvPr>
          <p:cNvSpPr/>
          <p:nvPr/>
        </p:nvSpPr>
        <p:spPr>
          <a:xfrm>
            <a:off x="7170833" y="4583920"/>
            <a:ext cx="1425619" cy="695543"/>
          </a:xfrm>
          <a:prstGeom prst="roundRect">
            <a:avLst>
              <a:gd name="adj" fmla="val 27479"/>
            </a:avLst>
          </a:prstGeom>
          <a:solidFill>
            <a:srgbClr val="FBFBFC"/>
          </a:solidFill>
          <a:ln w="12700" cap="flat">
            <a:solidFill>
              <a:srgbClr val="E5E4E7"/>
            </a:solidFill>
            <a:prstDash val="sysDot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dirty="0">
                <a:solidFill>
                  <a:srgbClr val="6D696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Конфликты в тех. ролях и на пользователях</a:t>
            </a:r>
            <a:endParaRPr kumimoji="0" lang="ru-RU" sz="1100" b="0" i="0" u="none" strike="noStrike" cap="none" spc="0" normalizeH="0" baseline="0" dirty="0">
              <a:ln>
                <a:noFill/>
              </a:ln>
              <a:solidFill>
                <a:srgbClr val="6D6969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21" name="Прямоугольник: скругленные углы 120">
            <a:extLst>
              <a:ext uri="{FF2B5EF4-FFF2-40B4-BE49-F238E27FC236}">
                <a16:creationId xmlns:a16="http://schemas.microsoft.com/office/drawing/2014/main" id="{6869141D-1FF1-4089-924E-EDBEA677D4A3}"/>
              </a:ext>
            </a:extLst>
          </p:cNvPr>
          <p:cNvSpPr/>
          <p:nvPr/>
        </p:nvSpPr>
        <p:spPr>
          <a:xfrm>
            <a:off x="9084463" y="3840974"/>
            <a:ext cx="3029830" cy="1564310"/>
          </a:xfrm>
          <a:prstGeom prst="roundRect">
            <a:avLst>
              <a:gd name="adj" fmla="val 7010"/>
            </a:avLst>
          </a:prstGeom>
          <a:solidFill>
            <a:srgbClr val="FEFEFE"/>
          </a:solidFill>
          <a:ln w="12700" cap="flat">
            <a:solidFill>
              <a:schemeClr val="bg2">
                <a:lumMod val="60000"/>
                <a:lumOff val="40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C617BBE-A17E-4452-A81C-8D0D5AFBEA54}"/>
              </a:ext>
            </a:extLst>
          </p:cNvPr>
          <p:cNvSpPr txBox="1"/>
          <p:nvPr/>
        </p:nvSpPr>
        <p:spPr>
          <a:xfrm>
            <a:off x="9129161" y="3847566"/>
            <a:ext cx="281591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spc="0" normalizeH="0" baseline="0" dirty="0">
                <a:ln>
                  <a:noFill/>
                </a:ln>
                <a:solidFill>
                  <a:srgbClr val="6D6969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Действующий процесс управления доступами</a:t>
            </a:r>
          </a:p>
        </p:txBody>
      </p:sp>
      <p:sp>
        <p:nvSpPr>
          <p:cNvPr id="126" name="Прямоугольник: скругленные углы 125">
            <a:extLst>
              <a:ext uri="{FF2B5EF4-FFF2-40B4-BE49-F238E27FC236}">
                <a16:creationId xmlns:a16="http://schemas.microsoft.com/office/drawing/2014/main" id="{4517D1ED-0906-41ED-B338-E7D0ED6495CB}"/>
              </a:ext>
            </a:extLst>
          </p:cNvPr>
          <p:cNvSpPr/>
          <p:nvPr/>
        </p:nvSpPr>
        <p:spPr>
          <a:xfrm>
            <a:off x="9318350" y="4315821"/>
            <a:ext cx="2576739" cy="407148"/>
          </a:xfrm>
          <a:prstGeom prst="roundRect">
            <a:avLst>
              <a:gd name="adj" fmla="val 18656"/>
            </a:avLst>
          </a:prstGeom>
          <a:solidFill>
            <a:srgbClr val="F8FFFF"/>
          </a:solidFill>
          <a:ln w="12700" cap="flat">
            <a:solidFill>
              <a:srgbClr val="E5E4E7"/>
            </a:solidFill>
            <a:prstDash val="solid"/>
            <a:miter lim="800000"/>
          </a:ln>
          <a:effectLst>
            <a:glow rad="25400">
              <a:schemeClr val="tx2">
                <a:lumMod val="20000"/>
                <a:lumOff val="80000"/>
                <a:alpha val="4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A81C0936-E375-452B-A11D-5FF64176C5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463" y="4363434"/>
            <a:ext cx="289965" cy="289965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A885F970-2F95-426C-B3A2-67AE983E7BAE}"/>
              </a:ext>
            </a:extLst>
          </p:cNvPr>
          <p:cNvSpPr txBox="1"/>
          <p:nvPr/>
        </p:nvSpPr>
        <p:spPr>
          <a:xfrm>
            <a:off x="9856541" y="4326023"/>
            <a:ext cx="1830857" cy="430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dirty="0">
                <a:solidFill>
                  <a:srgbClr val="6D696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Корректировка ролевых моделей</a:t>
            </a:r>
            <a:endParaRPr kumimoji="0" lang="ru-RU" sz="1100" b="0" i="0" u="none" strike="noStrike" cap="none" spc="0" normalizeH="0" baseline="0" dirty="0">
              <a:ln>
                <a:noFill/>
              </a:ln>
              <a:solidFill>
                <a:srgbClr val="6D6969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30" name="Прямоугольник: скругленные углы 129">
            <a:extLst>
              <a:ext uri="{FF2B5EF4-FFF2-40B4-BE49-F238E27FC236}">
                <a16:creationId xmlns:a16="http://schemas.microsoft.com/office/drawing/2014/main" id="{8D807DA4-F38E-4DB1-9AA9-4523B07E4916}"/>
              </a:ext>
            </a:extLst>
          </p:cNvPr>
          <p:cNvSpPr/>
          <p:nvPr/>
        </p:nvSpPr>
        <p:spPr>
          <a:xfrm>
            <a:off x="9303357" y="4818374"/>
            <a:ext cx="2576739" cy="443303"/>
          </a:xfrm>
          <a:prstGeom prst="roundRect">
            <a:avLst>
              <a:gd name="adj" fmla="val 18656"/>
            </a:avLst>
          </a:prstGeom>
          <a:solidFill>
            <a:srgbClr val="F8FFFF"/>
          </a:solidFill>
          <a:ln w="12700" cap="flat">
            <a:solidFill>
              <a:srgbClr val="E5E4E7"/>
            </a:solidFill>
            <a:prstDash val="solid"/>
            <a:miter lim="800000"/>
          </a:ln>
          <a:effectLst>
            <a:glow rad="25400">
              <a:schemeClr val="tx2">
                <a:lumMod val="20000"/>
                <a:lumOff val="80000"/>
                <a:alpha val="4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3239035-0383-4A4C-AE3D-7BF86D21421C}"/>
              </a:ext>
            </a:extLst>
          </p:cNvPr>
          <p:cNvSpPr txBox="1"/>
          <p:nvPr/>
        </p:nvSpPr>
        <p:spPr>
          <a:xfrm>
            <a:off x="9841521" y="4830792"/>
            <a:ext cx="1845877" cy="430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spc="0" normalizeH="0" baseline="0" dirty="0">
                <a:ln>
                  <a:noFill/>
                </a:ln>
                <a:solidFill>
                  <a:srgbClr val="6D6969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Устранение конфликтов у пользователей</a:t>
            </a:r>
          </a:p>
        </p:txBody>
      </p:sp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CFB3DBAB-8862-4824-B8F2-D09906FAC6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924" y="4894564"/>
            <a:ext cx="283528" cy="283528"/>
          </a:xfrm>
          <a:prstGeom prst="rect">
            <a:avLst/>
          </a:prstGeom>
        </p:spPr>
      </p:pic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611F9D99-6919-407A-95B0-B652470A62F9}"/>
              </a:ext>
            </a:extLst>
          </p:cNvPr>
          <p:cNvCxnSpPr>
            <a:cxnSpLocks/>
          </p:cNvCxnSpPr>
          <p:nvPr/>
        </p:nvCxnSpPr>
        <p:spPr>
          <a:xfrm>
            <a:off x="5160564" y="4525265"/>
            <a:ext cx="0" cy="189589"/>
          </a:xfrm>
          <a:prstGeom prst="straightConnector1">
            <a:avLst/>
          </a:prstGeom>
          <a:noFill/>
          <a:ln w="28575" cap="flat">
            <a:solidFill>
              <a:schemeClr val="tx2">
                <a:lumMod val="75000"/>
              </a:schemeClr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E136107-FB79-4741-8176-8D4887099F7E}"/>
              </a:ext>
            </a:extLst>
          </p:cNvPr>
          <p:cNvSpPr/>
          <p:nvPr/>
        </p:nvSpPr>
        <p:spPr>
          <a:xfrm>
            <a:off x="297303" y="6138225"/>
            <a:ext cx="19046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rgbClr val="25863E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БЕ</a:t>
            </a:r>
            <a:r>
              <a:rPr lang="en-US" sz="1050" b="1" dirty="0">
                <a:solidFill>
                  <a:srgbClr val="25863E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Tech</a:t>
            </a:r>
            <a:r>
              <a:rPr lang="ru-RU" sz="1050" b="1" dirty="0">
                <a:solidFill>
                  <a:srgbClr val="25863E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– </a:t>
            </a:r>
            <a:r>
              <a:rPr lang="ru-RU" sz="1050" dirty="0">
                <a:solidFill>
                  <a:srgbClr val="25863E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бизнес-аналитик Продукта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4F49AAB-48FF-4C03-B9BF-32A3746359A7}"/>
              </a:ext>
            </a:extLst>
          </p:cNvPr>
          <p:cNvSpPr/>
          <p:nvPr/>
        </p:nvSpPr>
        <p:spPr>
          <a:xfrm>
            <a:off x="271065" y="2843047"/>
            <a:ext cx="32067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rgbClr val="323ED3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Линейный руководитель подразделения, </a:t>
            </a:r>
            <a:r>
              <a:rPr lang="ru-RU" sz="1050" dirty="0">
                <a:solidFill>
                  <a:srgbClr val="323ED3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где выполняется функционал</a:t>
            </a: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4D9C58B-A48D-4002-AECE-3D26A83181C6}"/>
              </a:ext>
            </a:extLst>
          </p:cNvPr>
          <p:cNvSpPr/>
          <p:nvPr/>
        </p:nvSpPr>
        <p:spPr>
          <a:xfrm>
            <a:off x="3596588" y="6231966"/>
            <a:ext cx="168346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rgbClr val="CC9803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ЦЭ </a:t>
            </a:r>
            <a:r>
              <a:rPr lang="ru-RU" sz="1050" b="1" dirty="0" err="1">
                <a:solidFill>
                  <a:srgbClr val="CC9803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УРиВК</a:t>
            </a:r>
            <a:r>
              <a:rPr lang="ru-RU" sz="1050" b="1" dirty="0">
                <a:solidFill>
                  <a:srgbClr val="CC9803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</a:t>
            </a:r>
            <a:r>
              <a:rPr lang="ru-RU" sz="1050" dirty="0">
                <a:solidFill>
                  <a:srgbClr val="CC9803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 активах</a:t>
            </a: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E900E667-47BC-4477-98F8-6F8449C0DBF9}"/>
              </a:ext>
            </a:extLst>
          </p:cNvPr>
          <p:cNvSpPr/>
          <p:nvPr/>
        </p:nvSpPr>
        <p:spPr>
          <a:xfrm>
            <a:off x="9085696" y="6588028"/>
            <a:ext cx="79849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chemeClr val="accent5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ДР </a:t>
            </a:r>
            <a:r>
              <a:rPr lang="ru-RU" sz="1050" dirty="0">
                <a:solidFill>
                  <a:schemeClr val="accent5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 УК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6CB74-78DB-46E9-89B6-721208A12C88}"/>
              </a:ext>
            </a:extLst>
          </p:cNvPr>
          <p:cNvSpPr txBox="1"/>
          <p:nvPr/>
        </p:nvSpPr>
        <p:spPr>
          <a:xfrm>
            <a:off x="519698" y="2387877"/>
            <a:ext cx="271391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Подготовка данных</a:t>
            </a:r>
          </a:p>
        </p:txBody>
      </p:sp>
      <p:sp>
        <p:nvSpPr>
          <p:cNvPr id="116" name="Прямоугольник: скругленные углы 115">
            <a:extLst>
              <a:ext uri="{FF2B5EF4-FFF2-40B4-BE49-F238E27FC236}">
                <a16:creationId xmlns:a16="http://schemas.microsoft.com/office/drawing/2014/main" id="{4744D93E-56C8-4B50-A59F-15F66F73822C}"/>
              </a:ext>
            </a:extLst>
          </p:cNvPr>
          <p:cNvSpPr/>
          <p:nvPr/>
        </p:nvSpPr>
        <p:spPr>
          <a:xfrm>
            <a:off x="9086653" y="5491031"/>
            <a:ext cx="3029831" cy="1030757"/>
          </a:xfrm>
          <a:prstGeom prst="roundRect">
            <a:avLst>
              <a:gd name="adj" fmla="val 12741"/>
            </a:avLst>
          </a:prstGeom>
          <a:solidFill>
            <a:srgbClr val="F8E7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6AA413C-022A-41F6-A31C-5F09B11856A9}"/>
              </a:ext>
            </a:extLst>
          </p:cNvPr>
          <p:cNvSpPr txBox="1"/>
          <p:nvPr/>
        </p:nvSpPr>
        <p:spPr>
          <a:xfrm>
            <a:off x="4482415" y="2373504"/>
            <a:ext cx="3879064" cy="4770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Обработка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50" dirty="0">
                <a:latin typeface="X5 Sans" panose="020B0403020203020204" pitchFamily="34" charset="0"/>
                <a:ea typeface="X5 Sans" panose="020B0403020203020204" pitchFamily="34" charset="0"/>
              </a:rPr>
              <a:t>(</a:t>
            </a: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идентификация рисков конфликтов полномочий)</a:t>
            </a:r>
            <a:endParaRPr kumimoji="0" lang="ru-RU" sz="1050" i="0" u="none" strike="noStrike" cap="none" spc="0" normalizeH="0" baseline="0" dirty="0">
              <a:ln>
                <a:noFill/>
              </a:ln>
              <a:solidFill>
                <a:srgbClr val="0E5A05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E26646B-47F8-4093-8F8F-BF6A4D0FCF52}"/>
              </a:ext>
            </a:extLst>
          </p:cNvPr>
          <p:cNvSpPr/>
          <p:nvPr/>
        </p:nvSpPr>
        <p:spPr>
          <a:xfrm>
            <a:off x="9125062" y="5737699"/>
            <a:ext cx="30902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50" dirty="0">
                <a:solidFill>
                  <a:schemeClr val="bg1">
                    <a:lumMod val="1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        Обеспечение единого управления тех. правилами с покрытием всех ТС/БЕ в целях недопущения новых конфликтов и исключения дублирования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2C9E40F-E0C4-48D2-AC33-06C3839692DF}"/>
              </a:ext>
            </a:extLst>
          </p:cNvPr>
          <p:cNvSpPr txBox="1"/>
          <p:nvPr/>
        </p:nvSpPr>
        <p:spPr>
          <a:xfrm>
            <a:off x="9003874" y="2271568"/>
            <a:ext cx="297547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Устранение и недопущение конфликтов</a:t>
            </a:r>
          </a:p>
        </p:txBody>
      </p:sp>
      <p:cxnSp>
        <p:nvCxnSpPr>
          <p:cNvPr id="136" name="Прямая соединительная линия 135">
            <a:extLst>
              <a:ext uri="{FF2B5EF4-FFF2-40B4-BE49-F238E27FC236}">
                <a16:creationId xmlns:a16="http://schemas.microsoft.com/office/drawing/2014/main" id="{7B7AE006-C5C5-447F-B877-8393D8D846C5}"/>
              </a:ext>
            </a:extLst>
          </p:cNvPr>
          <p:cNvCxnSpPr>
            <a:cxnSpLocks/>
          </p:cNvCxnSpPr>
          <p:nvPr/>
        </p:nvCxnSpPr>
        <p:spPr>
          <a:xfrm>
            <a:off x="3451783" y="2534155"/>
            <a:ext cx="13103" cy="3599033"/>
          </a:xfrm>
          <a:prstGeom prst="line">
            <a:avLst/>
          </a:prstGeom>
          <a:noFill/>
          <a:ln w="12700" cap="flat">
            <a:solidFill>
              <a:schemeClr val="accent1">
                <a:lumMod val="25000"/>
                <a:lumOff val="75000"/>
              </a:schemeClr>
            </a:solidFill>
            <a:prstDash val="sysDot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7" name="Прямая соединительная линия 136">
            <a:extLst>
              <a:ext uri="{FF2B5EF4-FFF2-40B4-BE49-F238E27FC236}">
                <a16:creationId xmlns:a16="http://schemas.microsoft.com/office/drawing/2014/main" id="{5B75275C-8302-4CBF-BB08-898917ED3D36}"/>
              </a:ext>
            </a:extLst>
          </p:cNvPr>
          <p:cNvCxnSpPr>
            <a:cxnSpLocks/>
          </p:cNvCxnSpPr>
          <p:nvPr/>
        </p:nvCxnSpPr>
        <p:spPr>
          <a:xfrm>
            <a:off x="8852491" y="2549375"/>
            <a:ext cx="13103" cy="3599033"/>
          </a:xfrm>
          <a:prstGeom prst="line">
            <a:avLst/>
          </a:prstGeom>
          <a:noFill/>
          <a:ln w="12700" cap="flat">
            <a:solidFill>
              <a:schemeClr val="accent1">
                <a:lumMod val="25000"/>
                <a:lumOff val="75000"/>
              </a:schemeClr>
            </a:solidFill>
            <a:prstDash val="sysDot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876CB8EB-384C-4CC8-9BA4-57B58CAA0E7E}"/>
              </a:ext>
            </a:extLst>
          </p:cNvPr>
          <p:cNvCxnSpPr>
            <a:cxnSpLocks/>
          </p:cNvCxnSpPr>
          <p:nvPr/>
        </p:nvCxnSpPr>
        <p:spPr>
          <a:xfrm>
            <a:off x="3336008" y="3744798"/>
            <a:ext cx="455143" cy="0"/>
          </a:xfrm>
          <a:prstGeom prst="straightConnector1">
            <a:avLst/>
          </a:prstGeom>
          <a:noFill/>
          <a:ln w="19050" cap="flat">
            <a:solidFill>
              <a:srgbClr val="3F4AD7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8" name="Прямая со стрелкой 137">
            <a:extLst>
              <a:ext uri="{FF2B5EF4-FFF2-40B4-BE49-F238E27FC236}">
                <a16:creationId xmlns:a16="http://schemas.microsoft.com/office/drawing/2014/main" id="{369DBA09-B473-4917-8855-32E475427B55}"/>
              </a:ext>
            </a:extLst>
          </p:cNvPr>
          <p:cNvCxnSpPr>
            <a:cxnSpLocks/>
          </p:cNvCxnSpPr>
          <p:nvPr/>
        </p:nvCxnSpPr>
        <p:spPr>
          <a:xfrm>
            <a:off x="3336008" y="5263856"/>
            <a:ext cx="455143" cy="0"/>
          </a:xfrm>
          <a:prstGeom prst="straightConnector1">
            <a:avLst/>
          </a:prstGeom>
          <a:noFill/>
          <a:ln w="19050" cap="flat">
            <a:solidFill>
              <a:srgbClr val="0E5A05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7C6024-DC42-4244-B3C2-E12882399AAF}"/>
              </a:ext>
            </a:extLst>
          </p:cNvPr>
          <p:cNvSpPr txBox="1"/>
          <p:nvPr/>
        </p:nvSpPr>
        <p:spPr>
          <a:xfrm>
            <a:off x="9655605" y="5539817"/>
            <a:ext cx="2052320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400" b="1">
                <a:solidFill>
                  <a:srgbClr val="6D6969"/>
                </a:solidFill>
                <a:latin typeface="X5 Sans" panose="020B0403020203020204" pitchFamily="34" charset="0"/>
                <a:ea typeface="X5 Sans" panose="020B0403020203020204" pitchFamily="34" charset="0"/>
              </a:defRPr>
            </a:lvl1pPr>
          </a:lstStyle>
          <a:p>
            <a:r>
              <a:rPr lang="ru-RU" sz="1200" dirty="0">
                <a:solidFill>
                  <a:schemeClr val="bg1">
                    <a:lumMod val="10000"/>
                  </a:schemeClr>
                </a:solidFill>
              </a:rPr>
              <a:t>Настройка АСУД</a:t>
            </a:r>
          </a:p>
        </p:txBody>
      </p:sp>
      <p:sp>
        <p:nvSpPr>
          <p:cNvPr id="89" name="Прямоугольник: скругленные углы 88">
            <a:extLst>
              <a:ext uri="{FF2B5EF4-FFF2-40B4-BE49-F238E27FC236}">
                <a16:creationId xmlns:a16="http://schemas.microsoft.com/office/drawing/2014/main" id="{0B5BF337-0406-4960-8413-5263B0655B1D}"/>
              </a:ext>
            </a:extLst>
          </p:cNvPr>
          <p:cNvSpPr/>
          <p:nvPr/>
        </p:nvSpPr>
        <p:spPr>
          <a:xfrm>
            <a:off x="7181430" y="5444760"/>
            <a:ext cx="1425619" cy="627934"/>
          </a:xfrm>
          <a:prstGeom prst="roundRect">
            <a:avLst>
              <a:gd name="adj" fmla="val 26025"/>
            </a:avLst>
          </a:prstGeom>
          <a:solidFill>
            <a:srgbClr val="FBFBFC"/>
          </a:solidFill>
          <a:ln w="12700" cap="flat">
            <a:solidFill>
              <a:srgbClr val="E5E4E7"/>
            </a:solidFill>
            <a:prstDash val="sysDot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dirty="0">
                <a:solidFill>
                  <a:srgbClr val="6D696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Конфликты между тех. ролями</a:t>
            </a:r>
            <a:endParaRPr kumimoji="0" lang="ru-RU" sz="1100" b="0" i="0" u="none" strike="noStrike" cap="none" spc="0" normalizeH="0" baseline="0" dirty="0">
              <a:ln>
                <a:noFill/>
              </a:ln>
              <a:solidFill>
                <a:srgbClr val="6D6969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24A9089-128A-49FA-9F31-537F8B13F96A}"/>
              </a:ext>
            </a:extLst>
          </p:cNvPr>
          <p:cNvGrpSpPr/>
          <p:nvPr/>
        </p:nvGrpSpPr>
        <p:grpSpPr>
          <a:xfrm>
            <a:off x="6965947" y="4679074"/>
            <a:ext cx="324000" cy="476069"/>
            <a:chOff x="6511290" y="4524333"/>
            <a:chExt cx="396000" cy="581862"/>
          </a:xfrm>
          <a:effectLst>
            <a:glow rad="25400">
              <a:schemeClr val="tx2">
                <a:lumMod val="40000"/>
                <a:lumOff val="60000"/>
                <a:alpha val="50000"/>
              </a:schemeClr>
            </a:glow>
          </a:effectLst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B4701D6-1B21-4134-82BA-7EDB278CFA71}"/>
                </a:ext>
              </a:extLst>
            </p:cNvPr>
            <p:cNvSpPr/>
            <p:nvPr/>
          </p:nvSpPr>
          <p:spPr>
            <a:xfrm>
              <a:off x="6511290" y="4524333"/>
              <a:ext cx="396000" cy="581862"/>
            </a:xfrm>
            <a:prstGeom prst="ellipse">
              <a:avLst/>
            </a:prstGeom>
            <a:solidFill>
              <a:srgbClr val="F3F6FB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600" b="0" i="0" u="none" strike="noStrike" cap="none" spc="0" normalizeH="0" baseline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280BF69-39FB-4F36-B90C-63A41D204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4170" y="4664946"/>
              <a:ext cx="300633" cy="300633"/>
            </a:xfrm>
            <a:prstGeom prst="rect">
              <a:avLst/>
            </a:prstGeom>
          </p:spPr>
        </p:pic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C63354B0-F3FB-4D12-8DFA-4D6D8FD871D0}"/>
              </a:ext>
            </a:extLst>
          </p:cNvPr>
          <p:cNvGrpSpPr/>
          <p:nvPr/>
        </p:nvGrpSpPr>
        <p:grpSpPr>
          <a:xfrm>
            <a:off x="6972193" y="5531695"/>
            <a:ext cx="324000" cy="476069"/>
            <a:chOff x="6511290" y="4524333"/>
            <a:chExt cx="396000" cy="581862"/>
          </a:xfrm>
          <a:effectLst>
            <a:glow rad="25400">
              <a:schemeClr val="tx2">
                <a:lumMod val="40000"/>
                <a:lumOff val="60000"/>
                <a:alpha val="50000"/>
              </a:schemeClr>
            </a:glow>
          </a:effectLst>
        </p:grpSpPr>
        <p:sp>
          <p:nvSpPr>
            <p:cNvPr id="96" name="Овал 95">
              <a:extLst>
                <a:ext uri="{FF2B5EF4-FFF2-40B4-BE49-F238E27FC236}">
                  <a16:creationId xmlns:a16="http://schemas.microsoft.com/office/drawing/2014/main" id="{CC41C15E-5FBA-48E4-91E5-7FE809BF0EE8}"/>
                </a:ext>
              </a:extLst>
            </p:cNvPr>
            <p:cNvSpPr/>
            <p:nvPr/>
          </p:nvSpPr>
          <p:spPr>
            <a:xfrm>
              <a:off x="6511290" y="4524333"/>
              <a:ext cx="396000" cy="581862"/>
            </a:xfrm>
            <a:prstGeom prst="ellipse">
              <a:avLst/>
            </a:prstGeom>
            <a:solidFill>
              <a:srgbClr val="F3F6FB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600" b="0" i="0" u="none" strike="noStrike" cap="none" spc="0" normalizeH="0" baseline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pic>
          <p:nvPicPr>
            <p:cNvPr id="97" name="Рисунок 96">
              <a:extLst>
                <a:ext uri="{FF2B5EF4-FFF2-40B4-BE49-F238E27FC236}">
                  <a16:creationId xmlns:a16="http://schemas.microsoft.com/office/drawing/2014/main" id="{471674D0-1446-43AB-9C89-70608EFBC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4170" y="4664946"/>
              <a:ext cx="300633" cy="300633"/>
            </a:xfrm>
            <a:prstGeom prst="rect">
              <a:avLst/>
            </a:prstGeom>
          </p:spPr>
        </p:pic>
      </p:grpSp>
      <p:cxnSp>
        <p:nvCxnSpPr>
          <p:cNvPr id="27" name="Соединитель: изогнутый 26">
            <a:extLst>
              <a:ext uri="{FF2B5EF4-FFF2-40B4-BE49-F238E27FC236}">
                <a16:creationId xmlns:a16="http://schemas.microsoft.com/office/drawing/2014/main" id="{D150AD6D-B324-429C-B644-57FFC1D2261C}"/>
              </a:ext>
            </a:extLst>
          </p:cNvPr>
          <p:cNvCxnSpPr>
            <a:cxnSpLocks/>
            <a:stCxn id="72" idx="3"/>
            <a:endCxn id="16" idx="2"/>
          </p:cNvCxnSpPr>
          <p:nvPr/>
        </p:nvCxnSpPr>
        <p:spPr>
          <a:xfrm flipV="1">
            <a:off x="6584150" y="4917109"/>
            <a:ext cx="381797" cy="338827"/>
          </a:xfrm>
          <a:prstGeom prst="curvedConnector3">
            <a:avLst>
              <a:gd name="adj1" fmla="val 50000"/>
            </a:avLst>
          </a:prstGeom>
          <a:noFill/>
          <a:ln w="19050" cap="flat">
            <a:solidFill>
              <a:srgbClr val="0E5A05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Соединитель: изогнутый 99">
            <a:extLst>
              <a:ext uri="{FF2B5EF4-FFF2-40B4-BE49-F238E27FC236}">
                <a16:creationId xmlns:a16="http://schemas.microsoft.com/office/drawing/2014/main" id="{6A22A8A6-C927-48FB-BE9C-AC2F6F9F7D1B}"/>
              </a:ext>
            </a:extLst>
          </p:cNvPr>
          <p:cNvCxnSpPr>
            <a:cxnSpLocks/>
            <a:stCxn id="71" idx="3"/>
            <a:endCxn id="97" idx="1"/>
          </p:cNvCxnSpPr>
          <p:nvPr/>
        </p:nvCxnSpPr>
        <p:spPr>
          <a:xfrm>
            <a:off x="6620360" y="5291256"/>
            <a:ext cx="395098" cy="478473"/>
          </a:xfrm>
          <a:prstGeom prst="curvedConnector3">
            <a:avLst>
              <a:gd name="adj1" fmla="val 50000"/>
            </a:avLst>
          </a:prstGeom>
          <a:noFill/>
          <a:ln w="19050" cap="flat">
            <a:solidFill>
              <a:srgbClr val="3F4AD7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2" name="Соединитель: изогнутый 111">
            <a:extLst>
              <a:ext uri="{FF2B5EF4-FFF2-40B4-BE49-F238E27FC236}">
                <a16:creationId xmlns:a16="http://schemas.microsoft.com/office/drawing/2014/main" id="{14EA351C-F500-4A97-97AA-BD4E4A5FA91B}"/>
              </a:ext>
            </a:extLst>
          </p:cNvPr>
          <p:cNvCxnSpPr>
            <a:cxnSpLocks/>
            <a:stCxn id="89" idx="3"/>
            <a:endCxn id="116" idx="1"/>
          </p:cNvCxnSpPr>
          <p:nvPr/>
        </p:nvCxnSpPr>
        <p:spPr>
          <a:xfrm>
            <a:off x="8607049" y="5758727"/>
            <a:ext cx="479604" cy="247683"/>
          </a:xfrm>
          <a:prstGeom prst="curvedConnector3">
            <a:avLst>
              <a:gd name="adj1" fmla="val 50000"/>
            </a:avLst>
          </a:prstGeom>
          <a:noFill/>
          <a:ln w="19050" cap="flat">
            <a:solidFill>
              <a:schemeClr val="accent5">
                <a:lumMod val="75000"/>
              </a:schemeClr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Соединитель: изогнутый 122">
            <a:extLst>
              <a:ext uri="{FF2B5EF4-FFF2-40B4-BE49-F238E27FC236}">
                <a16:creationId xmlns:a16="http://schemas.microsoft.com/office/drawing/2014/main" id="{497BECA1-45D0-4C70-814B-AA98DA6DDAAE}"/>
              </a:ext>
            </a:extLst>
          </p:cNvPr>
          <p:cNvCxnSpPr>
            <a:cxnSpLocks/>
            <a:stCxn id="118" idx="3"/>
            <a:endCxn id="121" idx="1"/>
          </p:cNvCxnSpPr>
          <p:nvPr/>
        </p:nvCxnSpPr>
        <p:spPr>
          <a:xfrm flipV="1">
            <a:off x="8596452" y="4623129"/>
            <a:ext cx="488011" cy="308563"/>
          </a:xfrm>
          <a:prstGeom prst="curvedConnector3">
            <a:avLst>
              <a:gd name="adj1" fmla="val 50000"/>
            </a:avLst>
          </a:prstGeom>
          <a:noFill/>
          <a:ln w="19050" cap="flat">
            <a:solidFill>
              <a:srgbClr val="0E5A05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Прямая соединительная линия 130">
            <a:extLst>
              <a:ext uri="{FF2B5EF4-FFF2-40B4-BE49-F238E27FC236}">
                <a16:creationId xmlns:a16="http://schemas.microsoft.com/office/drawing/2014/main" id="{568F8F9D-6DF5-45DD-A7C0-EDC449D14DA9}"/>
              </a:ext>
            </a:extLst>
          </p:cNvPr>
          <p:cNvCxnSpPr/>
          <p:nvPr/>
        </p:nvCxnSpPr>
        <p:spPr>
          <a:xfrm>
            <a:off x="174373" y="654150"/>
            <a:ext cx="11894556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388DDF65-3AFD-4090-B3DE-F522C72DB5D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67" y="5542993"/>
            <a:ext cx="405156" cy="405156"/>
          </a:xfrm>
          <a:prstGeom prst="rect">
            <a:avLst/>
          </a:prstGeom>
        </p:spPr>
      </p:pic>
      <p:sp>
        <p:nvSpPr>
          <p:cNvPr id="88" name="Прямоугольник: скругленные углы 87">
            <a:extLst>
              <a:ext uri="{FF2B5EF4-FFF2-40B4-BE49-F238E27FC236}">
                <a16:creationId xmlns:a16="http://schemas.microsoft.com/office/drawing/2014/main" id="{E0905BDF-2EAD-4F2B-9834-19907E6437F8}"/>
              </a:ext>
            </a:extLst>
          </p:cNvPr>
          <p:cNvSpPr/>
          <p:nvPr/>
        </p:nvSpPr>
        <p:spPr>
          <a:xfrm>
            <a:off x="9084464" y="2759300"/>
            <a:ext cx="3056404" cy="687518"/>
          </a:xfrm>
          <a:prstGeom prst="roundRect">
            <a:avLst>
              <a:gd name="adj" fmla="val 19336"/>
            </a:avLst>
          </a:prstGeom>
          <a:solidFill>
            <a:srgbClr val="F3F6FB"/>
          </a:solidFill>
          <a:ln w="12700" cap="flat">
            <a:solidFill>
              <a:srgbClr val="9BC2F3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E36F2D9-5B30-4255-B7D5-AEAA0BBD7E62}"/>
              </a:ext>
            </a:extLst>
          </p:cNvPr>
          <p:cNvSpPr txBox="1"/>
          <p:nvPr/>
        </p:nvSpPr>
        <p:spPr>
          <a:xfrm>
            <a:off x="9656314" y="2713682"/>
            <a:ext cx="205232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400" b="1">
                <a:solidFill>
                  <a:srgbClr val="6D6969"/>
                </a:solidFill>
                <a:latin typeface="X5 Sans" panose="020B0403020203020204" pitchFamily="34" charset="0"/>
                <a:ea typeface="X5 Sans" panose="020B0403020203020204" pitchFamily="34" charset="0"/>
              </a:defRPr>
            </a:lvl1pPr>
          </a:lstStyle>
          <a:p>
            <a:r>
              <a:rPr lang="ru-RU" sz="1200" dirty="0">
                <a:solidFill>
                  <a:schemeClr val="bg1">
                    <a:lumMod val="10000"/>
                  </a:schemeClr>
                </a:solidFill>
              </a:rPr>
              <a:t>Устранение конфликтов в бизнес-ролях</a:t>
            </a:r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1EDC1FA7-0FFC-44F5-A374-B3A6967FD6B5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738" y="2794786"/>
            <a:ext cx="368738" cy="368738"/>
          </a:xfrm>
          <a:prstGeom prst="rect">
            <a:avLst/>
          </a:prstGeom>
        </p:spPr>
      </p:pic>
      <p:sp>
        <p:nvSpPr>
          <p:cNvPr id="103" name="Прямоугольник: скругленные углы 102">
            <a:extLst>
              <a:ext uri="{FF2B5EF4-FFF2-40B4-BE49-F238E27FC236}">
                <a16:creationId xmlns:a16="http://schemas.microsoft.com/office/drawing/2014/main" id="{5D5C8046-D14C-49DC-96A2-F4BBD9D9761B}"/>
              </a:ext>
            </a:extLst>
          </p:cNvPr>
          <p:cNvSpPr/>
          <p:nvPr/>
        </p:nvSpPr>
        <p:spPr>
          <a:xfrm>
            <a:off x="9101510" y="3499795"/>
            <a:ext cx="1941956" cy="254848"/>
          </a:xfrm>
          <a:prstGeom prst="roundRect">
            <a:avLst>
              <a:gd name="adj" fmla="val 21530"/>
            </a:avLst>
          </a:prstGeom>
          <a:solidFill>
            <a:srgbClr val="F3F6FB"/>
          </a:solidFill>
          <a:ln w="12700" cap="flat">
            <a:noFill/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2B5BD7F-5A75-4921-AFD2-6946CBD2B299}"/>
              </a:ext>
            </a:extLst>
          </p:cNvPr>
          <p:cNvSpPr/>
          <p:nvPr/>
        </p:nvSpPr>
        <p:spPr>
          <a:xfrm>
            <a:off x="9084463" y="3507320"/>
            <a:ext cx="19729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b="1" dirty="0">
                <a:solidFill>
                  <a:srgbClr val="323ED3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Линейный руководитель</a:t>
            </a:r>
            <a:endParaRPr lang="ru-RU" sz="1050" dirty="0">
              <a:solidFill>
                <a:srgbClr val="323ED3"/>
              </a:solidFill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cxnSp>
        <p:nvCxnSpPr>
          <p:cNvPr id="105" name="Соединитель: изогнутый 104">
            <a:extLst>
              <a:ext uri="{FF2B5EF4-FFF2-40B4-BE49-F238E27FC236}">
                <a16:creationId xmlns:a16="http://schemas.microsoft.com/office/drawing/2014/main" id="{34B294B7-C257-43A3-A775-9F5EFE476690}"/>
              </a:ext>
            </a:extLst>
          </p:cNvPr>
          <p:cNvCxnSpPr>
            <a:cxnSpLocks/>
            <a:stCxn id="81" idx="3"/>
            <a:endCxn id="88" idx="1"/>
          </p:cNvCxnSpPr>
          <p:nvPr/>
        </p:nvCxnSpPr>
        <p:spPr>
          <a:xfrm flipV="1">
            <a:off x="8581260" y="3103059"/>
            <a:ext cx="503204" cy="697202"/>
          </a:xfrm>
          <a:prstGeom prst="curvedConnector3">
            <a:avLst>
              <a:gd name="adj1" fmla="val 50000"/>
            </a:avLst>
          </a:prstGeom>
          <a:noFill/>
          <a:ln w="19050" cap="flat">
            <a:solidFill>
              <a:srgbClr val="0070C0"/>
            </a:solidFill>
            <a:prstDash val="sysDash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494052AD-6F8E-439E-9659-6100F013ECDE}"/>
              </a:ext>
            </a:extLst>
          </p:cNvPr>
          <p:cNvSpPr/>
          <p:nvPr/>
        </p:nvSpPr>
        <p:spPr>
          <a:xfrm>
            <a:off x="9125062" y="3077095"/>
            <a:ext cx="303139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50" dirty="0">
                <a:solidFill>
                  <a:schemeClr val="bg1">
                    <a:lumMod val="1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        Перераспределение обязанностей между сотрудниками/подразделениями</a:t>
            </a:r>
          </a:p>
        </p:txBody>
      </p:sp>
    </p:spTree>
    <p:extLst>
      <p:ext uri="{BB962C8B-B14F-4D97-AF65-F5344CB8AC3E}">
        <p14:creationId xmlns:p14="http://schemas.microsoft.com/office/powerpoint/2010/main" val="345855952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CACF8933-B3A2-4AD8-AED2-CF842CAD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184837"/>
              </p:ext>
            </p:extLst>
          </p:nvPr>
        </p:nvGraphicFramePr>
        <p:xfrm>
          <a:off x="0" y="574312"/>
          <a:ext cx="12192000" cy="626264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21168">
                  <a:extLst>
                    <a:ext uri="{9D8B030D-6E8A-4147-A177-3AD203B41FA5}">
                      <a16:colId xmlns:a16="http://schemas.microsoft.com/office/drawing/2014/main" val="1246407831"/>
                    </a:ext>
                  </a:extLst>
                </a:gridCol>
                <a:gridCol w="7733276">
                  <a:extLst>
                    <a:ext uri="{9D8B030D-6E8A-4147-A177-3AD203B41FA5}">
                      <a16:colId xmlns:a16="http://schemas.microsoft.com/office/drawing/2014/main" val="2535713833"/>
                    </a:ext>
                  </a:extLst>
                </a:gridCol>
                <a:gridCol w="3137556">
                  <a:extLst>
                    <a:ext uri="{9D8B030D-6E8A-4147-A177-3AD203B41FA5}">
                      <a16:colId xmlns:a16="http://schemas.microsoft.com/office/drawing/2014/main" val="2712981647"/>
                    </a:ext>
                  </a:extLst>
                </a:gridCol>
              </a:tblGrid>
              <a:tr h="42846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E5A05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Участники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E5A05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Функционал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0E5A05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Обоснование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3848339"/>
                  </a:ext>
                </a:extLst>
              </a:tr>
              <a:tr h="175655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ЦЭ </a:t>
                      </a:r>
                      <a:r>
                        <a:rPr lang="ru-RU" sz="1200" b="1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СУРиВК</a:t>
                      </a:r>
                      <a:r>
                        <a:rPr lang="ru-RU" sz="1200" b="1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(активы)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2286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Формирование матрицы конфликтов полномочий по бизнес-ролям путем классификации действий согласно методике (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AUT / CUS / REC / VER</a:t>
                      </a: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) и сопоставления полномочий.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Формирование требований к ролевой модели доступа через связку бизнес-ролей и технических ролей.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Выявление конфликтов в ролях и на пользователях, уведомление о них линейных руководителей подразделений для принятия мер по устранению.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Обеспечение периодического мониторинга наличия конфликтов на пользователях через формирование выгрузок в АСУД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2286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Необходимость в узкоспециализированной компетенции по рискам конфликтов полномочий</a:t>
                      </a:r>
                    </a:p>
                    <a:p>
                      <a:pPr marL="171450" marR="0" lvl="0" indent="-171450" algn="l" defTabSz="2286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Понимание специфики актива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ru-RU" sz="1200" b="0" i="0" u="none" strike="noStrike" cap="none" spc="0" baseline="0" dirty="0">
                        <a:solidFill>
                          <a:schemeClr val="dk1"/>
                        </a:solidFill>
                        <a:uFillTx/>
                        <a:latin typeface="X5 Sans" panose="020B0403020203020204" pitchFamily="34" charset="0"/>
                        <a:ea typeface="X5 Sans" panose="020B0403020203020204" pitchFamily="34" charset="0"/>
                        <a:cs typeface="+mn-cs"/>
                        <a:sym typeface="Calibri"/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0645802"/>
                  </a:ext>
                </a:extLst>
              </a:tr>
              <a:tr h="892526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БЕ Тех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Формирование выгрузки</a:t>
                      </a:r>
                      <a:r>
                        <a:rPr lang="en-US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 </a:t>
                      </a: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технических ролей из ИС, используемых выбранным подразделением, и информации о присвоении ролей пользователям.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Описание детального функционала выгруженных технических ролей на основе входящих в состав транзакций/операций, доступов к данным.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2286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Наличие требуемых компетенции и доступов к технической составляющей ИС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9952996"/>
                  </a:ext>
                </a:extLst>
              </a:tr>
              <a:tr h="110853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Руководитель подразделения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Формирование реестра бизнес-ролей с описанием функционала (действий сотрудника в рамках должности).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Проведение мероприятий по устранению выявленных конфликтов полномочий (Перераспределение обязанностей между сотрудниками; Заявки на создание и изменения ролей, заявки на изъятие/присвоение ролей сотрудникам в рамках стандартного процесса)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Понимание функционала подразделения и компетенции в управлении линейным подразделением.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7225641"/>
                  </a:ext>
                </a:extLst>
              </a:tr>
              <a:tr h="20165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ДР УК (владелец БП управления рисками </a:t>
                      </a:r>
                      <a:r>
                        <a:rPr lang="en-US" sz="1200" b="1" dirty="0" err="1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SoD</a:t>
                      </a:r>
                      <a:r>
                        <a:rPr lang="ru-RU" sz="1200" b="1" dirty="0"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)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Формирование технических правил разграничения полномочий на уровне технических ролей.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Администрирование АСУД (Автоматизированная система управления доступами) в части обеспечения автоматизированного контроля рисков конфликтов полномочий в АСУД, включая ввод тех. правил.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Формирование и поддержание в актуальном состоянии методологии управления рисками конфликтов полномочий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Обеспечение взаимодействия активов и оказание консультационной поддержки в рамках рассматриваемого процесса.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Необходимость обеспечения единого подхода к процессу управления рисками конфликтов полномочий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Требования к синхронизации работ в разных активах по схожим процессам</a:t>
                      </a:r>
                    </a:p>
                    <a:p>
                      <a:pPr marL="171450" indent="-1714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+mn-cs"/>
                          <a:sym typeface="Calibri"/>
                        </a:rPr>
                        <a:t>Централизованное ведение правил (исключение дублирования)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5396824"/>
                  </a:ext>
                </a:extLst>
              </a:tr>
            </a:tbl>
          </a:graphicData>
        </a:graphic>
      </p:graphicFrame>
      <p:sp>
        <p:nvSpPr>
          <p:cNvPr id="22" name="Text 0">
            <a:extLst>
              <a:ext uri="{FF2B5EF4-FFF2-40B4-BE49-F238E27FC236}">
                <a16:creationId xmlns:a16="http://schemas.microsoft.com/office/drawing/2014/main" id="{07BF48E2-57CB-4B7F-B9F4-FFB3411315FA}"/>
              </a:ext>
            </a:extLst>
          </p:cNvPr>
          <p:cNvSpPr/>
          <p:nvPr/>
        </p:nvSpPr>
        <p:spPr>
          <a:xfrm>
            <a:off x="311881" y="219195"/>
            <a:ext cx="10863084" cy="35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b="1" dirty="0">
                <a:latin typeface="X5 Sans" panose="020B0403020203020204" pitchFamily="34" charset="0"/>
                <a:ea typeface="X5 Sans" panose="020B0403020203020204" pitchFamily="34" charset="0"/>
                <a:cs typeface="Inter Bold" pitchFamily="34" charset="-120"/>
              </a:rPr>
              <a:t>Роли и обязанности в </a:t>
            </a:r>
            <a:r>
              <a:rPr lang="en-US" sz="2000" b="1" dirty="0" err="1">
                <a:latin typeface="X5 Sans" panose="020B0403020203020204" pitchFamily="34" charset="0"/>
                <a:ea typeface="X5 Sans" panose="020B0403020203020204" pitchFamily="34" charset="0"/>
                <a:cs typeface="Inter Bold" pitchFamily="34" charset="-120"/>
              </a:rPr>
              <a:t>управлении</a:t>
            </a:r>
            <a:r>
              <a:rPr lang="en-US" sz="2000" b="1" dirty="0">
                <a:latin typeface="X5 Sans" panose="020B0403020203020204" pitchFamily="34" charset="0"/>
                <a:ea typeface="X5 Sans" panose="020B0403020203020204" pitchFamily="34" charset="0"/>
                <a:cs typeface="Inter Bold" pitchFamily="34" charset="-120"/>
              </a:rPr>
              <a:t> </a:t>
            </a:r>
            <a:r>
              <a:rPr lang="ru-RU" sz="2000" b="1" dirty="0">
                <a:latin typeface="X5 Sans" panose="020B0403020203020204" pitchFamily="34" charset="0"/>
                <a:ea typeface="X5 Sans" panose="020B0403020203020204" pitchFamily="34" charset="0"/>
                <a:cs typeface="Inter Bold" pitchFamily="34" charset="-120"/>
              </a:rPr>
              <a:t>разграничением полномочий в ИС Х5</a:t>
            </a:r>
            <a:endParaRPr lang="en-US" sz="20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80694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4D805C3-2480-4AC8-ABB9-6A1AAE4EAA4A}"/>
              </a:ext>
            </a:extLst>
          </p:cNvPr>
          <p:cNvSpPr/>
          <p:nvPr/>
        </p:nvSpPr>
        <p:spPr>
          <a:xfrm>
            <a:off x="8237888" y="1045204"/>
            <a:ext cx="3716658" cy="4584289"/>
          </a:xfrm>
          <a:prstGeom prst="roundRect">
            <a:avLst>
              <a:gd name="adj" fmla="val 4484"/>
            </a:avLst>
          </a:prstGeom>
          <a:solidFill>
            <a:srgbClr val="FAFBF9"/>
          </a:solidFill>
          <a:ln w="12700" cap="flat">
            <a:solidFill>
              <a:srgbClr val="B9CFB7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BF75489-CA19-494E-B39F-55C2F3BEE0CB}"/>
              </a:ext>
            </a:extLst>
          </p:cNvPr>
          <p:cNvSpPr/>
          <p:nvPr/>
        </p:nvSpPr>
        <p:spPr>
          <a:xfrm>
            <a:off x="4257991" y="1045204"/>
            <a:ext cx="3716658" cy="4584292"/>
          </a:xfrm>
          <a:prstGeom prst="roundRect">
            <a:avLst>
              <a:gd name="adj" fmla="val 5581"/>
            </a:avLst>
          </a:prstGeom>
          <a:solidFill>
            <a:srgbClr val="FEFBF9"/>
          </a:solidFill>
          <a:ln w="12700" cap="flat">
            <a:solidFill>
              <a:srgbClr val="FAD0B0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720AAA6-FF96-4001-823A-E254CFDBA6A4}"/>
              </a:ext>
            </a:extLst>
          </p:cNvPr>
          <p:cNvSpPr/>
          <p:nvPr/>
        </p:nvSpPr>
        <p:spPr>
          <a:xfrm>
            <a:off x="162406" y="207772"/>
            <a:ext cx="11460179" cy="41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ru-RU" sz="2000" b="1" dirty="0">
                <a:latin typeface="X5 Sans" panose="020B0403020203020204" pitchFamily="34" charset="0"/>
                <a:ea typeface="X5 Sans" panose="020B0403020203020204" pitchFamily="34" charset="0"/>
                <a:cs typeface="Inter Bold" pitchFamily="34" charset="-120"/>
              </a:rPr>
              <a:t>Развитие проекта</a:t>
            </a:r>
            <a:endParaRPr lang="ru-RU" sz="20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131" name="Стрелка: вниз 130">
            <a:extLst>
              <a:ext uri="{FF2B5EF4-FFF2-40B4-BE49-F238E27FC236}">
                <a16:creationId xmlns:a16="http://schemas.microsoft.com/office/drawing/2014/main" id="{A075F85F-C14E-424D-B732-96DCE8D5687C}"/>
              </a:ext>
            </a:extLst>
          </p:cNvPr>
          <p:cNvSpPr/>
          <p:nvPr/>
        </p:nvSpPr>
        <p:spPr>
          <a:xfrm rot="16200000">
            <a:off x="3898268" y="3377903"/>
            <a:ext cx="479690" cy="23975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2" name="Стрелка: вниз 131">
            <a:extLst>
              <a:ext uri="{FF2B5EF4-FFF2-40B4-BE49-F238E27FC236}">
                <a16:creationId xmlns:a16="http://schemas.microsoft.com/office/drawing/2014/main" id="{B5554951-88BE-4F3A-AC92-CC105D63E3E6}"/>
              </a:ext>
            </a:extLst>
          </p:cNvPr>
          <p:cNvSpPr/>
          <p:nvPr/>
        </p:nvSpPr>
        <p:spPr>
          <a:xfrm rot="16200000">
            <a:off x="7874965" y="3377903"/>
            <a:ext cx="479690" cy="239756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07C54-D29E-42F8-99A7-9ADD4371DB07}"/>
              </a:ext>
            </a:extLst>
          </p:cNvPr>
          <p:cNvSpPr txBox="1"/>
          <p:nvPr/>
        </p:nvSpPr>
        <p:spPr>
          <a:xfrm>
            <a:off x="162406" y="498019"/>
            <a:ext cx="640133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Этапы расширения контура управления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SoD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-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рисками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7BAF152-4F57-4B6D-ABC9-AFEDC499E4FE}"/>
              </a:ext>
            </a:extLst>
          </p:cNvPr>
          <p:cNvCxnSpPr/>
          <p:nvPr/>
        </p:nvCxnSpPr>
        <p:spPr>
          <a:xfrm>
            <a:off x="162406" y="867349"/>
            <a:ext cx="11771820" cy="0"/>
          </a:xfrm>
          <a:prstGeom prst="line">
            <a:avLst/>
          </a:prstGeom>
          <a:noFill/>
          <a:ln w="12700" cap="flat">
            <a:solidFill>
              <a:schemeClr val="tx2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0" name="Прямоугольник: скругленные углы 69">
            <a:extLst>
              <a:ext uri="{FF2B5EF4-FFF2-40B4-BE49-F238E27FC236}">
                <a16:creationId xmlns:a16="http://schemas.microsoft.com/office/drawing/2014/main" id="{F1E2F491-8A82-407B-8705-D363730252A2}"/>
              </a:ext>
            </a:extLst>
          </p:cNvPr>
          <p:cNvSpPr/>
          <p:nvPr/>
        </p:nvSpPr>
        <p:spPr>
          <a:xfrm>
            <a:off x="278094" y="1045203"/>
            <a:ext cx="3716658" cy="4584292"/>
          </a:xfrm>
          <a:prstGeom prst="roundRect">
            <a:avLst>
              <a:gd name="adj" fmla="val 5419"/>
            </a:avLst>
          </a:prstGeom>
          <a:solidFill>
            <a:srgbClr val="FAFCFE"/>
          </a:solidFill>
          <a:ln w="12700" cap="flat">
            <a:solidFill>
              <a:srgbClr val="AFC3E5"/>
            </a:solidFill>
            <a:prstDash val="solid"/>
            <a:miter lim="800000"/>
          </a:ln>
          <a:effectLst>
            <a:glow rad="38100">
              <a:schemeClr val="tx2">
                <a:lumMod val="40000"/>
                <a:lumOff val="60000"/>
                <a:alpha val="50000"/>
              </a:schemeClr>
            </a:glo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FCFCFC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F4BAB5-D63F-4CF3-8F05-E8DE852CFE14}"/>
              </a:ext>
            </a:extLst>
          </p:cNvPr>
          <p:cNvSpPr txBox="1"/>
          <p:nvPr/>
        </p:nvSpPr>
        <p:spPr>
          <a:xfrm>
            <a:off x="482687" y="3644341"/>
            <a:ext cx="3443224" cy="19851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Выявление </a:t>
            </a:r>
            <a:r>
              <a:rPr kumimoji="0" lang="en-US" sz="1400" i="0" u="none" strike="noStrike" cap="none" spc="0" normalizeH="0" baseline="0" dirty="0" err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SoD</a:t>
            </a: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-</a:t>
            </a: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конфликтов внутри платформы и продуктового контура ИС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1">
                  <a:lumMod val="50000"/>
                </a:schemeClr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Анализ бизнес-ролей и технических ролей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Устранение конфликтов в ролях и у пользователей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194478-EC0D-4D25-BA4A-37C544CEBFD5}"/>
              </a:ext>
            </a:extLst>
          </p:cNvPr>
          <p:cNvSpPr txBox="1"/>
          <p:nvPr/>
        </p:nvSpPr>
        <p:spPr>
          <a:xfrm>
            <a:off x="1131234" y="1263322"/>
            <a:ext cx="266710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1" dirty="0">
                <a:solidFill>
                  <a:srgbClr val="3F4AD7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Первый этап </a:t>
            </a:r>
            <a:r>
              <a:rPr lang="ru-RU" sz="1200" b="1" dirty="0">
                <a:solidFill>
                  <a:schemeClr val="tx2">
                    <a:lumMod val="75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(текущий)</a:t>
            </a:r>
            <a:endParaRPr kumimoji="0" lang="ru-RU" sz="2000" b="1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CE19946C-6BF4-4886-83A5-96A413DCD2E3}"/>
              </a:ext>
            </a:extLst>
          </p:cNvPr>
          <p:cNvGrpSpPr/>
          <p:nvPr/>
        </p:nvGrpSpPr>
        <p:grpSpPr>
          <a:xfrm>
            <a:off x="531070" y="1186161"/>
            <a:ext cx="504000" cy="519348"/>
            <a:chOff x="417352" y="2010398"/>
            <a:chExt cx="504000" cy="519348"/>
          </a:xfrm>
        </p:grpSpPr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BC3EB621-F9DB-424A-A06D-F023F838612B}"/>
                </a:ext>
              </a:extLst>
            </p:cNvPr>
            <p:cNvSpPr/>
            <p:nvPr/>
          </p:nvSpPr>
          <p:spPr>
            <a:xfrm>
              <a:off x="417352" y="2010398"/>
              <a:ext cx="504000" cy="519348"/>
            </a:xfrm>
            <a:prstGeom prst="ellipse">
              <a:avLst/>
            </a:prstGeom>
            <a:solidFill>
              <a:srgbClr val="3F4AD7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b="0" i="0" u="none" strike="noStrike" cap="none" spc="0" normalizeH="0" baseline="0" dirty="0">
                <a:ln>
                  <a:noFill/>
                </a:ln>
                <a:solidFill>
                  <a:srgbClr val="F8FFFF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0743887-EE49-44E3-B994-E337F41596A4}"/>
                </a:ext>
              </a:extLst>
            </p:cNvPr>
            <p:cNvSpPr txBox="1"/>
            <p:nvPr/>
          </p:nvSpPr>
          <p:spPr>
            <a:xfrm>
              <a:off x="508686" y="2060330"/>
              <a:ext cx="30992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ctr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spc="0" normalizeH="0" baseline="0" dirty="0">
                  <a:ln>
                    <a:noFill/>
                  </a:ln>
                  <a:solidFill>
                    <a:srgbClr val="FEFEFE"/>
                  </a:solidFill>
                  <a:effectLst/>
                  <a:uFillTx/>
                  <a:latin typeface="X5 Sans" panose="020B0403020203020204" pitchFamily="34" charset="0"/>
                  <a:ea typeface="X5 Sans" panose="020B0403020203020204" pitchFamily="34" charset="0"/>
                  <a:sym typeface="Calibri"/>
                </a:rPr>
                <a:t>1</a:t>
              </a:r>
              <a:endParaRPr kumimoji="0" lang="ru-RU" sz="2000" b="1" i="0" u="none" strike="noStrike" cap="none" spc="0" normalizeH="0" baseline="0" dirty="0">
                <a:ln>
                  <a:noFill/>
                </a:ln>
                <a:solidFill>
                  <a:srgbClr val="FEFEFE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endParaRPr>
            </a:p>
          </p:txBody>
        </p:sp>
      </p:grpSp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8D50CE48-7E3D-4AC3-8D20-115EECC20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64" y="1420825"/>
            <a:ext cx="1800000" cy="18000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7B3CA349-D81A-45D1-94B7-081CFD76ED5C}"/>
              </a:ext>
            </a:extLst>
          </p:cNvPr>
          <p:cNvSpPr txBox="1"/>
          <p:nvPr/>
        </p:nvSpPr>
        <p:spPr>
          <a:xfrm>
            <a:off x="444362" y="3017716"/>
            <a:ext cx="33156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rgbClr val="0953FD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Платформы и продукты</a:t>
            </a:r>
            <a:endParaRPr kumimoji="0" lang="ru-RU" sz="1800" b="1" i="0" u="none" strike="noStrike" cap="none" spc="0" normalizeH="0" baseline="0" dirty="0">
              <a:ln>
                <a:noFill/>
              </a:ln>
              <a:solidFill>
                <a:srgbClr val="0953FD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BCBCDC50-5F87-485A-AF3E-CEF554BEF2C5}"/>
              </a:ext>
            </a:extLst>
          </p:cNvPr>
          <p:cNvCxnSpPr>
            <a:cxnSpLocks/>
          </p:cNvCxnSpPr>
          <p:nvPr/>
        </p:nvCxnSpPr>
        <p:spPr>
          <a:xfrm>
            <a:off x="482687" y="3500961"/>
            <a:ext cx="3239041" cy="0"/>
          </a:xfrm>
          <a:prstGeom prst="line">
            <a:avLst/>
          </a:prstGeom>
          <a:noFill/>
          <a:ln w="1270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F7D1FCC-8312-4F84-8D6A-6DB0EB9E1C8A}"/>
              </a:ext>
            </a:extLst>
          </p:cNvPr>
          <p:cNvSpPr txBox="1"/>
          <p:nvPr/>
        </p:nvSpPr>
        <p:spPr>
          <a:xfrm>
            <a:off x="5133469" y="1263322"/>
            <a:ext cx="232204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1" dirty="0">
                <a:solidFill>
                  <a:srgbClr val="EA7924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Второй этап</a:t>
            </a:r>
            <a:endParaRPr kumimoji="0" lang="ru-RU" sz="2000" b="1" i="0" u="none" strike="noStrike" cap="none" spc="0" normalizeH="0" baseline="0" dirty="0">
              <a:ln>
                <a:noFill/>
              </a:ln>
              <a:solidFill>
                <a:srgbClr val="EA7924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724CC265-FDF8-43E0-AB82-B3BECDF3753F}"/>
              </a:ext>
            </a:extLst>
          </p:cNvPr>
          <p:cNvSpPr/>
          <p:nvPr/>
        </p:nvSpPr>
        <p:spPr>
          <a:xfrm>
            <a:off x="4531650" y="1186161"/>
            <a:ext cx="504000" cy="519348"/>
          </a:xfrm>
          <a:prstGeom prst="ellipse">
            <a:avLst/>
          </a:prstGeom>
          <a:solidFill>
            <a:srgbClr val="EA792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spc="0" normalizeH="0" baseline="0" dirty="0">
              <a:ln>
                <a:noFill/>
              </a:ln>
              <a:solidFill>
                <a:srgbClr val="F8FFFF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D01B9B-CA2B-4B4C-BF2D-70A08A228770}"/>
              </a:ext>
            </a:extLst>
          </p:cNvPr>
          <p:cNvSpPr txBox="1"/>
          <p:nvPr/>
        </p:nvSpPr>
        <p:spPr>
          <a:xfrm>
            <a:off x="4624690" y="1236093"/>
            <a:ext cx="30992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spc="0" normalizeH="0" baseline="0" dirty="0">
                <a:ln>
                  <a:noFill/>
                </a:ln>
                <a:solidFill>
                  <a:srgbClr val="FEFEFE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2</a:t>
            </a:r>
          </a:p>
        </p:txBody>
      </p:sp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2447E2C8-C4A9-4A72-84B7-A5ED2BBED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60" y="1388950"/>
            <a:ext cx="1800000" cy="18000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6C5148D5-3FB5-41C9-8F0B-095BDD27979D}"/>
              </a:ext>
            </a:extLst>
          </p:cNvPr>
          <p:cNvSpPr txBox="1"/>
          <p:nvPr/>
        </p:nvSpPr>
        <p:spPr>
          <a:xfrm>
            <a:off x="4496799" y="3644341"/>
            <a:ext cx="3443224" cy="204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A7924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Подключение ТОРГ-систем к единому контуру управления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A7924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Унификация контроля конфликтов на уровне ТОРГ-систем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A7924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Расширения покрытия критичных рисков бизнес-процессов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55E72AE-661F-4F2E-8851-342483C55CFB}"/>
              </a:ext>
            </a:extLst>
          </p:cNvPr>
          <p:cNvSpPr txBox="1"/>
          <p:nvPr/>
        </p:nvSpPr>
        <p:spPr>
          <a:xfrm>
            <a:off x="4531650" y="2812553"/>
            <a:ext cx="331569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rgbClr val="EA7924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Подключение ТОРГ систем</a:t>
            </a:r>
            <a:endParaRPr kumimoji="0" lang="ru-RU" sz="1800" b="1" i="0" u="none" strike="noStrike" cap="none" spc="0" normalizeH="0" baseline="0" dirty="0">
              <a:ln>
                <a:noFill/>
              </a:ln>
              <a:solidFill>
                <a:srgbClr val="EA7924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cxnSp>
        <p:nvCxnSpPr>
          <p:cNvPr id="106" name="Прямая соединительная линия 105">
            <a:extLst>
              <a:ext uri="{FF2B5EF4-FFF2-40B4-BE49-F238E27FC236}">
                <a16:creationId xmlns:a16="http://schemas.microsoft.com/office/drawing/2014/main" id="{AFF8A147-1F44-4A13-BC6F-4C421E0EFC84}"/>
              </a:ext>
            </a:extLst>
          </p:cNvPr>
          <p:cNvCxnSpPr>
            <a:cxnSpLocks/>
          </p:cNvCxnSpPr>
          <p:nvPr/>
        </p:nvCxnSpPr>
        <p:spPr>
          <a:xfrm>
            <a:off x="4496799" y="3500961"/>
            <a:ext cx="3239041" cy="0"/>
          </a:xfrm>
          <a:prstGeom prst="line">
            <a:avLst/>
          </a:prstGeom>
          <a:noFill/>
          <a:ln w="1270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6BA30B1-061B-402A-8903-E81FF391865C}"/>
              </a:ext>
            </a:extLst>
          </p:cNvPr>
          <p:cNvSpPr txBox="1"/>
          <p:nvPr/>
        </p:nvSpPr>
        <p:spPr>
          <a:xfrm>
            <a:off x="9104921" y="1263322"/>
            <a:ext cx="286990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1" dirty="0">
                <a:solidFill>
                  <a:srgbClr val="438D4B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Третий этап</a:t>
            </a:r>
            <a:endParaRPr kumimoji="0" lang="ru-RU" sz="2000" b="1" i="0" u="none" strike="noStrike" cap="none" spc="0" normalizeH="0" baseline="0" dirty="0">
              <a:ln>
                <a:noFill/>
              </a:ln>
              <a:solidFill>
                <a:srgbClr val="438D4B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08" name="Овал 107">
            <a:extLst>
              <a:ext uri="{FF2B5EF4-FFF2-40B4-BE49-F238E27FC236}">
                <a16:creationId xmlns:a16="http://schemas.microsoft.com/office/drawing/2014/main" id="{144BB055-0982-42C4-BAA1-4F34E9D59CCA}"/>
              </a:ext>
            </a:extLst>
          </p:cNvPr>
          <p:cNvSpPr/>
          <p:nvPr/>
        </p:nvSpPr>
        <p:spPr>
          <a:xfrm>
            <a:off x="8503882" y="1186161"/>
            <a:ext cx="504000" cy="519348"/>
          </a:xfrm>
          <a:prstGeom prst="ellipse">
            <a:avLst/>
          </a:prstGeom>
          <a:solidFill>
            <a:srgbClr val="438D4B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spc="0" normalizeH="0" baseline="0" dirty="0">
              <a:ln>
                <a:noFill/>
              </a:ln>
              <a:solidFill>
                <a:srgbClr val="F8FFFF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082B090-B883-4A95-8582-1BB52D28EFCB}"/>
              </a:ext>
            </a:extLst>
          </p:cNvPr>
          <p:cNvSpPr txBox="1"/>
          <p:nvPr/>
        </p:nvSpPr>
        <p:spPr>
          <a:xfrm>
            <a:off x="8600921" y="1236093"/>
            <a:ext cx="30992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spc="0" normalizeH="0" baseline="0" dirty="0">
                <a:ln>
                  <a:noFill/>
                </a:ln>
                <a:solidFill>
                  <a:srgbClr val="FEFEFE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3</a:t>
            </a:r>
          </a:p>
        </p:txBody>
      </p:sp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339E1865-8AE6-417A-9270-BA2BDB724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531" y="1420825"/>
            <a:ext cx="1656000" cy="165600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842B80B3-5587-4F46-86ED-1F34B5259232}"/>
              </a:ext>
            </a:extLst>
          </p:cNvPr>
          <p:cNvSpPr txBox="1"/>
          <p:nvPr/>
        </p:nvSpPr>
        <p:spPr>
          <a:xfrm>
            <a:off x="8489349" y="3644341"/>
            <a:ext cx="3443224" cy="16158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38D4B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Выявление конфликтов между различными ИС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38D4B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Контроль сквозных полномочий по пользователям и ролям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38D4B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ru-RU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Управление рисками на уровне </a:t>
            </a: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end-to-end </a:t>
            </a:r>
            <a:r>
              <a:rPr kumimoji="0" lang="ru-RU" sz="140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процессов в ИС</a:t>
            </a:r>
            <a:endParaRPr kumimoji="0" lang="ru-RU" sz="1400" i="0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74C2C28-FD3B-47E9-BDEE-6928D57E42CE}"/>
              </a:ext>
            </a:extLst>
          </p:cNvPr>
          <p:cNvSpPr txBox="1"/>
          <p:nvPr/>
        </p:nvSpPr>
        <p:spPr>
          <a:xfrm>
            <a:off x="8278841" y="2812553"/>
            <a:ext cx="3657381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rgbClr val="438D4B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Управление межсистемными </a:t>
            </a:r>
            <a:r>
              <a:rPr lang="en-US" b="1" dirty="0" err="1">
                <a:solidFill>
                  <a:srgbClr val="438D4B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b="1" dirty="0">
                <a:solidFill>
                  <a:srgbClr val="438D4B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b="1" dirty="0">
                <a:solidFill>
                  <a:srgbClr val="438D4B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рисками</a:t>
            </a:r>
            <a:endParaRPr kumimoji="0" lang="ru-RU" sz="1800" b="1" i="0" u="none" strike="noStrike" cap="none" spc="0" normalizeH="0" baseline="0" dirty="0">
              <a:ln>
                <a:noFill/>
              </a:ln>
              <a:solidFill>
                <a:srgbClr val="438D4B"/>
              </a:solidFill>
              <a:effectLst/>
              <a:uFillTx/>
              <a:latin typeface="X5 Sans" panose="020B0403020203020204" pitchFamily="34" charset="0"/>
              <a:ea typeface="X5 Sans" panose="020B0403020203020204" pitchFamily="34" charset="0"/>
              <a:sym typeface="Calibri"/>
            </a:endParaRPr>
          </a:p>
        </p:txBody>
      </p:sp>
      <p:cxnSp>
        <p:nvCxnSpPr>
          <p:cNvPr id="118" name="Прямая соединительная линия 117">
            <a:extLst>
              <a:ext uri="{FF2B5EF4-FFF2-40B4-BE49-F238E27FC236}">
                <a16:creationId xmlns:a16="http://schemas.microsoft.com/office/drawing/2014/main" id="{F9DD2380-0EEE-4968-B992-AE48AB13E1A4}"/>
              </a:ext>
            </a:extLst>
          </p:cNvPr>
          <p:cNvCxnSpPr>
            <a:cxnSpLocks/>
          </p:cNvCxnSpPr>
          <p:nvPr/>
        </p:nvCxnSpPr>
        <p:spPr>
          <a:xfrm>
            <a:off x="8489349" y="3500961"/>
            <a:ext cx="3239041" cy="0"/>
          </a:xfrm>
          <a:prstGeom prst="line">
            <a:avLst/>
          </a:prstGeom>
          <a:noFill/>
          <a:ln w="1270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0" name="Прямоугольник: скругленные углы 119">
            <a:extLst>
              <a:ext uri="{FF2B5EF4-FFF2-40B4-BE49-F238E27FC236}">
                <a16:creationId xmlns:a16="http://schemas.microsoft.com/office/drawing/2014/main" id="{23014644-EC40-4249-8C89-8A105E51E102}"/>
              </a:ext>
            </a:extLst>
          </p:cNvPr>
          <p:cNvSpPr/>
          <p:nvPr/>
        </p:nvSpPr>
        <p:spPr>
          <a:xfrm>
            <a:off x="298371" y="5814953"/>
            <a:ext cx="11676452" cy="957906"/>
          </a:xfrm>
          <a:prstGeom prst="roundRect">
            <a:avLst/>
          </a:prstGeom>
          <a:solidFill>
            <a:srgbClr val="FAFBF8"/>
          </a:solidFill>
          <a:ln w="12700" cap="flat">
            <a:solidFill>
              <a:srgbClr val="B9CFB7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E5A05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3DAC2C6E-A8B3-4400-A618-9EA6122120EB}"/>
              </a:ext>
            </a:extLst>
          </p:cNvPr>
          <p:cNvSpPr/>
          <p:nvPr/>
        </p:nvSpPr>
        <p:spPr>
          <a:xfrm>
            <a:off x="1312534" y="6145516"/>
            <a:ext cx="107368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Переход от локального контроля присвоения полномочий к единому управлению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SoD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-</a:t>
            </a:r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рисками на уровне сквозных процессов в информационных системах</a:t>
            </a:r>
            <a:endParaRPr lang="ru-RU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8D0C2E97-BBA0-405F-8EDC-4ADF35DCD9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94" y="5743410"/>
            <a:ext cx="1104052" cy="11040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E5CF56-FA30-494C-9978-1C4412172921}"/>
              </a:ext>
            </a:extLst>
          </p:cNvPr>
          <p:cNvSpPr txBox="1"/>
          <p:nvPr/>
        </p:nvSpPr>
        <p:spPr>
          <a:xfrm>
            <a:off x="1324951" y="5858672"/>
            <a:ext cx="26009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spc="0" normalizeH="0" baseline="0" dirty="0">
                <a:ln>
                  <a:noFill/>
                </a:ln>
                <a:solidFill>
                  <a:srgbClr val="0E5A05"/>
                </a:solidFill>
                <a:effectLst/>
                <a:uFillTx/>
                <a:latin typeface="X5 Sans" panose="020B0403020203020204" pitchFamily="34" charset="0"/>
                <a:ea typeface="X5 Sans" panose="020B0403020203020204" pitchFamily="34" charset="0"/>
                <a:sym typeface="Calibri"/>
              </a:rPr>
              <a:t>Целевой эффект</a:t>
            </a:r>
          </a:p>
        </p:txBody>
      </p:sp>
    </p:spTree>
    <p:extLst>
      <p:ext uri="{BB962C8B-B14F-4D97-AF65-F5344CB8AC3E}">
        <p14:creationId xmlns:p14="http://schemas.microsoft.com/office/powerpoint/2010/main" val="400126263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2">
  <a:themeElements>
    <a:clrScheme name="Тема Office">
      <a:dk1>
        <a:srgbClr val="0E5A05"/>
      </a:dk1>
      <a:lt1>
        <a:srgbClr val="E7F1FF"/>
      </a:lt1>
      <a:dk2>
        <a:srgbClr val="A7A7A7"/>
      </a:dk2>
      <a:lt2>
        <a:srgbClr val="535353"/>
      </a:lt2>
      <a:accent1>
        <a:srgbClr val="262626"/>
      </a:accent1>
      <a:accent2>
        <a:srgbClr val="3750AC"/>
      </a:accent2>
      <a:accent3>
        <a:srgbClr val="FEF0BD"/>
      </a:accent3>
      <a:accent4>
        <a:srgbClr val="E6F0FF"/>
      </a:accent4>
      <a:accent5>
        <a:srgbClr val="F5DCFF"/>
      </a:accent5>
      <a:accent6>
        <a:srgbClr val="EBFED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Тема2" id="{D595A9E6-637F-44F0-9C6D-179D6B4836CD}" vid="{9247880C-4330-4A40-8F29-FFB405F0054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18359</TotalTime>
  <Words>696</Words>
  <Application>Microsoft Office PowerPoint</Application>
  <PresentationFormat>Широкоэкранный</PresentationFormat>
  <Paragraphs>102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Calibri</vt:lpstr>
      <vt:lpstr>Inter Bold</vt:lpstr>
      <vt:lpstr>Wingdings</vt:lpstr>
      <vt:lpstr>X5 Sans</vt:lpstr>
      <vt:lpstr>X5 Sans Medium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Malinin, Petr</dc:creator>
  <cp:lastModifiedBy>Posadsky, Andrey</cp:lastModifiedBy>
  <cp:revision>413</cp:revision>
  <dcterms:created xsi:type="dcterms:W3CDTF">2024-12-18T06:54:10Z</dcterms:created>
  <dcterms:modified xsi:type="dcterms:W3CDTF">2026-09-17T16:11:29Z</dcterms:modified>
</cp:coreProperties>
</file>