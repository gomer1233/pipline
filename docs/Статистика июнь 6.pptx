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326" r:id="rId2"/>
    <p:sldId id="327" r:id="rId3"/>
  </p:sldIdLst>
  <p:sldSz cx="243713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E5A05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7631" userDrawn="1">
          <p15:clr>
            <a:srgbClr val="A4A3A4"/>
          </p15:clr>
        </p15:guide>
        <p15:guide id="2" pos="668" userDrawn="1">
          <p15:clr>
            <a:srgbClr val="A4A3A4"/>
          </p15:clr>
        </p15:guide>
        <p15:guide id="3" pos="9717" userDrawn="1">
          <p15:clr>
            <a:srgbClr val="A4A3A4"/>
          </p15:clr>
        </p15:guide>
        <p15:guide id="4" orient="horz" pos="1236" userDrawn="1">
          <p15:clr>
            <a:srgbClr val="A4A3A4"/>
          </p15:clr>
        </p15:guide>
        <p15:guide id="5" pos="14684" userDrawn="1">
          <p15:clr>
            <a:srgbClr val="A4A3A4"/>
          </p15:clr>
        </p15:guide>
        <p15:guide id="6" orient="horz" pos="221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Автор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13D"/>
    <a:srgbClr val="224680"/>
    <a:srgbClr val="FFFFFF"/>
    <a:srgbClr val="493A24"/>
    <a:srgbClr val="79E6A7"/>
    <a:srgbClr val="0E5A05"/>
    <a:srgbClr val="FCE4E2"/>
    <a:srgbClr val="F4F1E8"/>
    <a:srgbClr val="E0F4E2"/>
    <a:srgbClr val="FDC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FFF9E7"/>
          </a:solidFill>
        </a:fill>
      </a:tcStyle>
    </a:wholeTbl>
    <a:band2H>
      <a:tcTxStyle/>
      <a:tcStyle>
        <a:tcBdr/>
        <a:fill>
          <a:solidFill>
            <a:srgbClr val="FFFCF4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F7FFF0"/>
          </a:solidFill>
        </a:fill>
      </a:tcStyle>
    </a:wholeTbl>
    <a:band2H>
      <a:tcTxStyle/>
      <a:tcStyle>
        <a:tcBdr/>
        <a:fill>
          <a:solidFill>
            <a:srgbClr val="FBFFF8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9E6"/>
          </a:solidFill>
        </a:fill>
      </a:tcStyle>
    </a:wholeTbl>
    <a:band2H>
      <a:tcTxStyle/>
      <a:tcStyle>
        <a:tcBdr/>
        <a:fill>
          <a:solidFill>
            <a:srgbClr val="F8FFFF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E5A05"/>
              </a:solidFill>
              <a:prstDash val="solid"/>
              <a:round/>
            </a:ln>
          </a:top>
          <a:bottom>
            <a:ln w="254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8FFFF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E5A05"/>
              </a:solidFill>
              <a:prstDash val="solid"/>
              <a:round/>
            </a:ln>
          </a:top>
          <a:bottom>
            <a:ln w="254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CAD0CA"/>
          </a:solidFill>
        </a:fill>
      </a:tcStyle>
    </a:wholeTbl>
    <a:band2H>
      <a:tcTxStyle/>
      <a:tcStyle>
        <a:tcBdr/>
        <a:fill>
          <a:solidFill>
            <a:srgbClr val="E6E9E6"/>
          </a:solidFill>
        </a:fill>
      </a:tcStyle>
    </a:band2H>
    <a:firstCol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0E5A05"/>
          </a:solidFill>
        </a:fill>
      </a:tcStyle>
    </a:firstCol>
    <a:la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38100" cap="flat">
              <a:solidFill>
                <a:srgbClr val="F8FFFF"/>
              </a:solidFill>
              <a:prstDash val="solid"/>
              <a:round/>
            </a:ln>
          </a:top>
          <a:bottom>
            <a:ln w="127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0E5A05"/>
          </a:solidFill>
        </a:fill>
      </a:tcStyle>
    </a:lastRow>
    <a:firstRow>
      <a:tcTxStyle b="on" i="off">
        <a:fontRef idx="minor">
          <a:srgbClr val="F8FFFF"/>
        </a:fontRef>
        <a:srgbClr val="F8FFFF"/>
      </a:tcTxStyle>
      <a:tcStyle>
        <a:tcBdr>
          <a:left>
            <a:ln w="12700" cap="flat">
              <a:solidFill>
                <a:srgbClr val="F8FFFF"/>
              </a:solidFill>
              <a:prstDash val="solid"/>
              <a:round/>
            </a:ln>
          </a:left>
          <a:right>
            <a:ln w="12700" cap="flat">
              <a:solidFill>
                <a:srgbClr val="F8FFFF"/>
              </a:solidFill>
              <a:prstDash val="solid"/>
              <a:round/>
            </a:ln>
          </a:right>
          <a:top>
            <a:ln w="12700" cap="flat">
              <a:solidFill>
                <a:srgbClr val="F8FFFF"/>
              </a:solidFill>
              <a:prstDash val="solid"/>
              <a:round/>
            </a:ln>
          </a:top>
          <a:bottom>
            <a:ln w="38100" cap="flat">
              <a:solidFill>
                <a:srgbClr val="F8FFFF"/>
              </a:solidFill>
              <a:prstDash val="solid"/>
              <a:round/>
            </a:ln>
          </a:bottom>
          <a:insideH>
            <a:ln w="12700" cap="flat">
              <a:solidFill>
                <a:srgbClr val="F8FFFF"/>
              </a:solidFill>
              <a:prstDash val="solid"/>
              <a:round/>
            </a:ln>
          </a:insideH>
          <a:insideV>
            <a:ln w="12700" cap="flat">
              <a:solidFill>
                <a:srgbClr val="F8FFFF"/>
              </a:solidFill>
              <a:prstDash val="solid"/>
              <a:round/>
            </a:ln>
          </a:insideV>
        </a:tcBdr>
        <a:fill>
          <a:solidFill>
            <a:srgbClr val="0E5A0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12700" cap="flat">
              <a:solidFill>
                <a:srgbClr val="0E5A05"/>
              </a:solidFill>
              <a:prstDash val="solid"/>
              <a:round/>
            </a:ln>
          </a:top>
          <a:bottom>
            <a:ln w="127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solidFill>
            <a:srgbClr val="0E5A05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6">
              <a:hueOff val="-5353846"/>
              <a:satOff val="-95121"/>
              <a:lumOff val="8039"/>
            </a:schemeClr>
          </a:solidFill>
        </a:fill>
      </a:tcStyle>
    </a:band2H>
    <a:firstCol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12700" cap="flat">
              <a:solidFill>
                <a:srgbClr val="0E5A05"/>
              </a:solidFill>
              <a:prstDash val="solid"/>
              <a:round/>
            </a:ln>
          </a:top>
          <a:bottom>
            <a:ln w="127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solidFill>
            <a:srgbClr val="0E5A05">
              <a:alpha val="20000"/>
            </a:srgbClr>
          </a:solidFill>
        </a:fill>
      </a:tcStyle>
    </a:firstCol>
    <a:lastRow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50800" cap="flat">
              <a:solidFill>
                <a:srgbClr val="0E5A05"/>
              </a:solidFill>
              <a:prstDash val="solid"/>
              <a:round/>
            </a:ln>
          </a:top>
          <a:bottom>
            <a:ln w="127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E5A05"/>
        </a:fontRef>
        <a:srgbClr val="0E5A05"/>
      </a:tcTxStyle>
      <a:tcStyle>
        <a:tcBdr>
          <a:left>
            <a:ln w="12700" cap="flat">
              <a:solidFill>
                <a:srgbClr val="0E5A05"/>
              </a:solidFill>
              <a:prstDash val="solid"/>
              <a:round/>
            </a:ln>
          </a:left>
          <a:right>
            <a:ln w="12700" cap="flat">
              <a:solidFill>
                <a:srgbClr val="0E5A05"/>
              </a:solidFill>
              <a:prstDash val="solid"/>
              <a:round/>
            </a:ln>
          </a:right>
          <a:top>
            <a:ln w="12700" cap="flat">
              <a:solidFill>
                <a:srgbClr val="0E5A05"/>
              </a:solidFill>
              <a:prstDash val="solid"/>
              <a:round/>
            </a:ln>
          </a:top>
          <a:bottom>
            <a:ln w="25400" cap="flat">
              <a:solidFill>
                <a:srgbClr val="0E5A05"/>
              </a:solidFill>
              <a:prstDash val="solid"/>
              <a:round/>
            </a:ln>
          </a:bottom>
          <a:insideH>
            <a:ln w="12700" cap="flat">
              <a:solidFill>
                <a:srgbClr val="0E5A05"/>
              </a:solidFill>
              <a:prstDash val="solid"/>
              <a:round/>
            </a:ln>
          </a:insideH>
          <a:insideV>
            <a:ln w="12700" cap="flat">
              <a:solidFill>
                <a:srgbClr val="0E5A0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5165" autoAdjust="0"/>
  </p:normalViewPr>
  <p:slideViewPr>
    <p:cSldViewPr snapToGrid="0">
      <p:cViewPr varScale="1">
        <p:scale>
          <a:sx n="60" d="100"/>
          <a:sy n="60" d="100"/>
        </p:scale>
        <p:origin x="678" y="102"/>
      </p:cViewPr>
      <p:guideLst>
        <p:guide orient="horz" pos="7631"/>
        <p:guide pos="668"/>
        <p:guide pos="9717"/>
        <p:guide orient="horz" pos="1236"/>
        <p:guide pos="14684"/>
        <p:guide orient="horz" pos="22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hape 79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5" name="Shape 79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solidFill>
          <a:srgbClr val="0E5A05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62" descr="Рисунок 62">
            <a:extLst>
              <a:ext uri="{FF2B5EF4-FFF2-40B4-BE49-F238E27FC236}">
                <a16:creationId xmlns:a16="http://schemas.microsoft.com/office/drawing/2014/main" id="{29DD4950-C9E0-4A8E-9F8E-942D07DE21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808" y="0"/>
            <a:ext cx="24242492" cy="1252230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4118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7" descr="Рисунок 27">
            <a:extLst>
              <a:ext uri="{FF2B5EF4-FFF2-40B4-BE49-F238E27FC236}">
                <a16:creationId xmlns:a16="http://schemas.microsoft.com/office/drawing/2014/main" id="{E63FA85E-9211-45F7-BA51-0B951E1C1C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58623" y="9837336"/>
            <a:ext cx="4712677" cy="387866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6255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круг, Красочность, снимок экрана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C614EA91-EFAE-4244-AAF1-C31255F6C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372884">
            <a:off x="19869500" y="-347687"/>
            <a:ext cx="4661168" cy="466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Рисунок 3">
            <a:extLst>
              <a:ext uri="{FF2B5EF4-FFF2-40B4-BE49-F238E27FC236}">
                <a16:creationId xmlns:a16="http://schemas.microsoft.com/office/drawing/2014/main" id="{99A3DC66-88B9-4AD3-AA36-A4BEC4E970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77359" y="402002"/>
            <a:ext cx="2630879" cy="1973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Рисунок 4" descr="Изображение выглядит как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C06F46FD-0AAD-4309-A29D-9DFA9FFD3C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519992"/>
            <a:ext cx="3587894" cy="358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01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251513" y="12846993"/>
            <a:ext cx="454610" cy="46166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4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5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76291" y="730251"/>
            <a:ext cx="21029832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1676291" y="3651250"/>
            <a:ext cx="21029832" cy="870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2293014" y="12881590"/>
            <a:ext cx="413109" cy="39247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400">
                <a:solidFill>
                  <a:srgbClr val="8899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2" r:id="rId3"/>
    <p:sldLayoutId id="2147483674" r:id="rId4"/>
    <p:sldLayoutId id="2147483676" r:id="rId5"/>
  </p:sldLayoutIdLst>
  <p:transition spd="med"/>
  <p:txStyles>
    <p:titleStyle>
      <a:lvl1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182870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457176" marR="0" indent="-457176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1pPr>
      <a:lvl2pPr marL="1447727" marR="0" indent="-533373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2pPr>
      <a:lvl3pPr marL="2468756" marR="0" indent="-640047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3pPr>
      <a:lvl4pPr marL="3454227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4pPr>
      <a:lvl5pPr marL="4368581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5pPr>
      <a:lvl6pPr marL="5282936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6pPr>
      <a:lvl7pPr marL="6197290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7pPr>
      <a:lvl8pPr marL="7111644" marR="0" indent="-711164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8pPr>
      <a:lvl9pPr marL="8025997" marR="0" indent="-711163" algn="l" defTabSz="1828708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E5A05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Рисунок 20" descr="Рисунок 20">
            <a:extLst>
              <a:ext uri="{FF2B5EF4-FFF2-40B4-BE49-F238E27FC236}">
                <a16:creationId xmlns:a16="http://schemas.microsoft.com/office/drawing/2014/main" id="{583A5489-E40F-4688-863F-006BACD309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5400000">
            <a:off x="5352019" y="-5327652"/>
            <a:ext cx="13716000" cy="24371304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/>
          <p:cNvSpPr txBox="1"/>
          <p:nvPr/>
        </p:nvSpPr>
        <p:spPr>
          <a:xfrm>
            <a:off x="795821" y="7286300"/>
            <a:ext cx="6728027" cy="504715"/>
          </a:xfrm>
          <a:prstGeom prst="rect">
            <a:avLst/>
          </a:prstGeom>
          <a:noFill/>
        </p:spPr>
        <p:txBody>
          <a:bodyPr wrap="none" lIns="91392" tIns="36557" rIns="91392" bIns="36557">
            <a:spAutoFit/>
          </a:bodyPr>
          <a:lstStyle/>
          <a:p>
            <a:pPr algn="l">
              <a:defRPr sz="1050" b="1">
                <a:solidFill>
                  <a:srgbClr val="13294B"/>
                </a:solidFill>
                <a:latin typeface="Arial"/>
              </a:defRPr>
            </a:pPr>
            <a:r>
              <a:rPr lang="ru-RU" sz="2800" dirty="0">
                <a:solidFill>
                  <a:srgbClr val="F4F1E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Статистка регистрации помесячно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879751" y="7811992"/>
            <a:ext cx="22205965" cy="18000"/>
          </a:xfrm>
          <a:prstGeom prst="rect">
            <a:avLst/>
          </a:prstGeom>
          <a:solidFill>
            <a:srgbClr val="FC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598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4618CDF-8196-48A1-97A7-0446532C224F}"/>
              </a:ext>
            </a:extLst>
          </p:cNvPr>
          <p:cNvSpPr>
            <a:spLocks noGrp="1"/>
          </p:cNvSpPr>
          <p:nvPr/>
        </p:nvSpPr>
        <p:spPr>
          <a:xfrm>
            <a:off x="817087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BEEAA8E-F86B-4C7E-A5E1-EE342F7DE4F9}"/>
              </a:ext>
            </a:extLst>
          </p:cNvPr>
          <p:cNvSpPr>
            <a:spLocks noGrp="1"/>
          </p:cNvSpPr>
          <p:nvPr/>
        </p:nvSpPr>
        <p:spPr>
          <a:xfrm>
            <a:off x="983938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Импорт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D8A409BB-FEAA-4D2B-952B-2F63DA027853}"/>
              </a:ext>
            </a:extLst>
          </p:cNvPr>
          <p:cNvSpPr>
            <a:spLocks noGrp="1"/>
          </p:cNvSpPr>
          <p:nvPr/>
        </p:nvSpPr>
        <p:spPr>
          <a:xfrm>
            <a:off x="2985807" y="4414532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442833">
              <a:alpha val="57000"/>
            </a:srgbClr>
          </a:solidFill>
          <a:ln w="0">
            <a:noFill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0FB261F-DE67-46F2-8DE3-46D981D201C9}"/>
              </a:ext>
            </a:extLst>
          </p:cNvPr>
          <p:cNvSpPr>
            <a:spLocks noGrp="1"/>
          </p:cNvSpPr>
          <p:nvPr/>
        </p:nvSpPr>
        <p:spPr>
          <a:xfrm>
            <a:off x="2926601" y="4290847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9B9B"/>
                </a:solidFill>
                <a:latin typeface="Arial"/>
                <a:ea typeface="Arial"/>
                <a:cs typeface="Arial"/>
              </a:defRPr>
            </a:pP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0% закрыто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37DAADF-CAED-4B9B-B391-B035D5357BF8}"/>
              </a:ext>
            </a:extLst>
          </p:cNvPr>
          <p:cNvSpPr>
            <a:spLocks noGrp="1"/>
          </p:cNvSpPr>
          <p:nvPr/>
        </p:nvSpPr>
        <p:spPr>
          <a:xfrm>
            <a:off x="984594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17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8BA4106-9E1A-4B79-AC07-7C7E7F27277D}"/>
              </a:ext>
            </a:extLst>
          </p:cNvPr>
          <p:cNvSpPr>
            <a:spLocks noGrp="1"/>
          </p:cNvSpPr>
          <p:nvPr/>
        </p:nvSpPr>
        <p:spPr>
          <a:xfrm>
            <a:off x="8335027" y="2307440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5F20AAE-7F98-49DC-B526-BD0EF5B58DE5}"/>
              </a:ext>
            </a:extLst>
          </p:cNvPr>
          <p:cNvSpPr>
            <a:spLocks noGrp="1"/>
          </p:cNvSpPr>
          <p:nvPr/>
        </p:nvSpPr>
        <p:spPr>
          <a:xfrm>
            <a:off x="2132978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0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508DA25-9506-4C10-A318-0F34F06BF535}"/>
              </a:ext>
            </a:extLst>
          </p:cNvPr>
          <p:cNvSpPr>
            <a:spLocks noGrp="1"/>
          </p:cNvSpPr>
          <p:nvPr/>
        </p:nvSpPr>
        <p:spPr>
          <a:xfrm>
            <a:off x="9478986" y="2308718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AFB5017-01D2-4DC7-BD05-CF11BD36AD75}"/>
              </a:ext>
            </a:extLst>
          </p:cNvPr>
          <p:cNvSpPr>
            <a:spLocks noGrp="1"/>
          </p:cNvSpPr>
          <p:nvPr/>
        </p:nvSpPr>
        <p:spPr>
          <a:xfrm>
            <a:off x="3281362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17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3BDAA1B-CB7F-4C96-98D4-B0AB77522F75}"/>
              </a:ext>
            </a:extLst>
          </p:cNvPr>
          <p:cNvSpPr>
            <a:spLocks noGrp="1"/>
          </p:cNvSpPr>
          <p:nvPr/>
        </p:nvSpPr>
        <p:spPr>
          <a:xfrm>
            <a:off x="3234603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79632FC-38BB-4C50-A7F0-66225791EB2A}"/>
              </a:ext>
            </a:extLst>
          </p:cNvPr>
          <p:cNvSpPr>
            <a:spLocks noGrp="1"/>
          </p:cNvSpPr>
          <p:nvPr/>
        </p:nvSpPr>
        <p:spPr>
          <a:xfrm>
            <a:off x="2013802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E57FAF9-A061-4095-991C-820A3D4E5719}"/>
              </a:ext>
            </a:extLst>
          </p:cNvPr>
          <p:cNvSpPr>
            <a:spLocks noGrp="1"/>
          </p:cNvSpPr>
          <p:nvPr/>
        </p:nvSpPr>
        <p:spPr>
          <a:xfrm>
            <a:off x="3135412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B3C6370-5AB0-4640-823E-DBDF6AE8C157}"/>
              </a:ext>
            </a:extLst>
          </p:cNvPr>
          <p:cNvSpPr>
            <a:spLocks noGrp="1"/>
          </p:cNvSpPr>
          <p:nvPr/>
        </p:nvSpPr>
        <p:spPr>
          <a:xfrm>
            <a:off x="960427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0047812-B1B5-436D-9885-92920EA340E5}"/>
              </a:ext>
            </a:extLst>
          </p:cNvPr>
          <p:cNvSpPr>
            <a:spLocks noGrp="1"/>
          </p:cNvSpPr>
          <p:nvPr/>
        </p:nvSpPr>
        <p:spPr>
          <a:xfrm>
            <a:off x="8286081" y="2754619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E39BF92-7334-40B7-B1DD-753BF1D064EF}"/>
              </a:ext>
            </a:extLst>
          </p:cNvPr>
          <p:cNvSpPr>
            <a:spLocks noGrp="1"/>
          </p:cNvSpPr>
          <p:nvPr/>
        </p:nvSpPr>
        <p:spPr>
          <a:xfrm>
            <a:off x="954247" y="5993865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2,11 млрд ₽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6E8EA93-C083-44A4-A546-1CAADCEF80D3}"/>
              </a:ext>
            </a:extLst>
          </p:cNvPr>
          <p:cNvSpPr>
            <a:spLocks noGrp="1"/>
          </p:cNvSpPr>
          <p:nvPr/>
        </p:nvSpPr>
        <p:spPr>
          <a:xfrm>
            <a:off x="960426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987BCC-34A8-47C0-9735-60EB566330FB}"/>
              </a:ext>
            </a:extLst>
          </p:cNvPr>
          <p:cNvSpPr>
            <a:spLocks noGrp="1"/>
          </p:cNvSpPr>
          <p:nvPr/>
        </p:nvSpPr>
        <p:spPr>
          <a:xfrm>
            <a:off x="11853787" y="2475618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71%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BC725DC2-F395-4337-B3B1-2796C55DB21A}"/>
              </a:ext>
            </a:extLst>
          </p:cNvPr>
          <p:cNvSpPr>
            <a:spLocks noGrp="1"/>
          </p:cNvSpPr>
          <p:nvPr/>
        </p:nvSpPr>
        <p:spPr>
          <a:xfrm>
            <a:off x="12553209" y="2454892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0%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5C96C09-817B-4ED3-A66B-C25C7A9D8E3E}"/>
              </a:ext>
            </a:extLst>
          </p:cNvPr>
          <p:cNvSpPr>
            <a:spLocks noGrp="1"/>
          </p:cNvSpPr>
          <p:nvPr/>
        </p:nvSpPr>
        <p:spPr>
          <a:xfrm>
            <a:off x="2294150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29%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A2231DE5-F8CA-4D34-9430-DD2094DDE824}"/>
              </a:ext>
            </a:extLst>
          </p:cNvPr>
          <p:cNvSpPr>
            <a:spLocks noGrp="1"/>
          </p:cNvSpPr>
          <p:nvPr/>
        </p:nvSpPr>
        <p:spPr>
          <a:xfrm>
            <a:off x="11853788" y="2785375"/>
            <a:ext cx="2016000" cy="86400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033BB72C-2F1A-4BAE-AB16-2AB5E67C73CE}"/>
              </a:ext>
            </a:extLst>
          </p:cNvPr>
          <p:cNvSpPr>
            <a:spLocks noGrp="1"/>
          </p:cNvSpPr>
          <p:nvPr/>
        </p:nvSpPr>
        <p:spPr>
          <a:xfrm>
            <a:off x="2976426" y="7016845"/>
            <a:ext cx="1368000" cy="86400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154" name="Прямоугольник: скругленные углы 153">
            <a:extLst>
              <a:ext uri="{FF2B5EF4-FFF2-40B4-BE49-F238E27FC236}">
                <a16:creationId xmlns:a16="http://schemas.microsoft.com/office/drawing/2014/main" id="{DE4CD7C5-2442-4DE9-94A5-779455E9FF85}"/>
              </a:ext>
            </a:extLst>
          </p:cNvPr>
          <p:cNvSpPr>
            <a:spLocks noGrp="1"/>
          </p:cNvSpPr>
          <p:nvPr/>
        </p:nvSpPr>
        <p:spPr>
          <a:xfrm>
            <a:off x="4490082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D16D51D1-812C-4950-9149-9BF0EA779ADB}"/>
              </a:ext>
            </a:extLst>
          </p:cNvPr>
          <p:cNvSpPr>
            <a:spLocks noGrp="1"/>
          </p:cNvSpPr>
          <p:nvPr/>
        </p:nvSpPr>
        <p:spPr>
          <a:xfrm>
            <a:off x="4656933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БПБ</a:t>
            </a:r>
          </a:p>
        </p:txBody>
      </p:sp>
      <p:sp>
        <p:nvSpPr>
          <p:cNvPr id="156" name="Прямоугольник: скругленные углы 155">
            <a:extLst>
              <a:ext uri="{FF2B5EF4-FFF2-40B4-BE49-F238E27FC236}">
                <a16:creationId xmlns:a16="http://schemas.microsoft.com/office/drawing/2014/main" id="{6E227A9C-D5EE-4074-A029-C6DEDA2BB1CE}"/>
              </a:ext>
            </a:extLst>
          </p:cNvPr>
          <p:cNvSpPr>
            <a:spLocks noGrp="1"/>
          </p:cNvSpPr>
          <p:nvPr/>
        </p:nvSpPr>
        <p:spPr>
          <a:xfrm>
            <a:off x="6658802" y="4414532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173D31"/>
          </a:solidFill>
          <a:ln w="0">
            <a:noFill/>
          </a:ln>
        </p:spPr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FA46FD7-F5EB-44C8-8B1F-D0C1642805AE}"/>
              </a:ext>
            </a:extLst>
          </p:cNvPr>
          <p:cNvSpPr>
            <a:spLocks noGrp="1"/>
          </p:cNvSpPr>
          <p:nvPr/>
        </p:nvSpPr>
        <p:spPr>
          <a:xfrm>
            <a:off x="6599596" y="4290847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9B9B"/>
                </a:solidFill>
                <a:latin typeface="Arial"/>
                <a:ea typeface="Arial"/>
                <a:cs typeface="Arial"/>
              </a:defRPr>
            </a:pPr>
            <a:r>
              <a:rPr lang="en-US" sz="1200" b="1" kern="1200" dirty="0">
                <a:solidFill>
                  <a:srgbClr val="79E6A7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75</a:t>
            </a:r>
            <a:r>
              <a:rPr lang="ru-RU" sz="1200" b="1" kern="1200" dirty="0">
                <a:solidFill>
                  <a:srgbClr val="79E6A7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% закрыто</a:t>
            </a: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60D9255F-3AAB-414C-AE1F-3BE8703D4190}"/>
              </a:ext>
            </a:extLst>
          </p:cNvPr>
          <p:cNvSpPr>
            <a:spLocks noGrp="1"/>
          </p:cNvSpPr>
          <p:nvPr/>
        </p:nvSpPr>
        <p:spPr>
          <a:xfrm>
            <a:off x="4657589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12</a:t>
            </a:r>
          </a:p>
        </p:txBody>
      </p:sp>
      <p:sp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CA413406-7F24-4E89-8907-1EE5D0099681}"/>
              </a:ext>
            </a:extLst>
          </p:cNvPr>
          <p:cNvSpPr>
            <a:spLocks noGrp="1"/>
          </p:cNvSpPr>
          <p:nvPr/>
        </p:nvSpPr>
        <p:spPr>
          <a:xfrm>
            <a:off x="4676228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5D5E7F01-AB76-4364-B248-77C67EFE5339}"/>
              </a:ext>
            </a:extLst>
          </p:cNvPr>
          <p:cNvSpPr>
            <a:spLocks noGrp="1"/>
          </p:cNvSpPr>
          <p:nvPr/>
        </p:nvSpPr>
        <p:spPr>
          <a:xfrm>
            <a:off x="5805973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en-US" sz="3200" dirty="0">
                <a:latin typeface="X5 Sans" panose="020B0403020203020204" pitchFamily="34" charset="0"/>
                <a:ea typeface="X5 Sans" panose="020B0403020203020204" pitchFamily="34" charset="0"/>
              </a:rPr>
              <a:t>9</a:t>
            </a:r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095B7210-3352-4A53-9BC1-6AAD70CC73EB}"/>
              </a:ext>
            </a:extLst>
          </p:cNvPr>
          <p:cNvSpPr>
            <a:spLocks noGrp="1"/>
          </p:cNvSpPr>
          <p:nvPr/>
        </p:nvSpPr>
        <p:spPr>
          <a:xfrm>
            <a:off x="5820187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55F84F71-95A2-4F89-9E1B-788C9FF60433}"/>
              </a:ext>
            </a:extLst>
          </p:cNvPr>
          <p:cNvSpPr>
            <a:spLocks noGrp="1"/>
          </p:cNvSpPr>
          <p:nvPr/>
        </p:nvSpPr>
        <p:spPr>
          <a:xfrm>
            <a:off x="6954357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3</a:t>
            </a:r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34042B86-206E-4135-A4E7-935AC746F191}"/>
              </a:ext>
            </a:extLst>
          </p:cNvPr>
          <p:cNvSpPr>
            <a:spLocks noGrp="1"/>
          </p:cNvSpPr>
          <p:nvPr/>
        </p:nvSpPr>
        <p:spPr>
          <a:xfrm>
            <a:off x="6907598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4118C7D0-45CD-445B-8D43-C20A1062EFD7}"/>
              </a:ext>
            </a:extLst>
          </p:cNvPr>
          <p:cNvSpPr>
            <a:spLocks noGrp="1"/>
          </p:cNvSpPr>
          <p:nvPr/>
        </p:nvSpPr>
        <p:spPr>
          <a:xfrm>
            <a:off x="5686797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AEC55C46-08CD-4729-AE9C-C7897574DBAD}"/>
              </a:ext>
            </a:extLst>
          </p:cNvPr>
          <p:cNvSpPr>
            <a:spLocks noGrp="1"/>
          </p:cNvSpPr>
          <p:nvPr/>
        </p:nvSpPr>
        <p:spPr>
          <a:xfrm>
            <a:off x="6808407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2D8DFFC3-43D6-4ED8-80AD-94C68C43221F}"/>
              </a:ext>
            </a:extLst>
          </p:cNvPr>
          <p:cNvSpPr>
            <a:spLocks noGrp="1"/>
          </p:cNvSpPr>
          <p:nvPr/>
        </p:nvSpPr>
        <p:spPr>
          <a:xfrm>
            <a:off x="4633422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9682A3CD-CB5C-46FE-8570-418FEDE981AC}"/>
              </a:ext>
            </a:extLst>
          </p:cNvPr>
          <p:cNvSpPr>
            <a:spLocks noGrp="1"/>
          </p:cNvSpPr>
          <p:nvPr/>
        </p:nvSpPr>
        <p:spPr>
          <a:xfrm>
            <a:off x="4627282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447DDE9A-ADCC-4520-B166-D689DFCEFD4B}"/>
              </a:ext>
            </a:extLst>
          </p:cNvPr>
          <p:cNvSpPr>
            <a:spLocks noGrp="1"/>
          </p:cNvSpPr>
          <p:nvPr/>
        </p:nvSpPr>
        <p:spPr>
          <a:xfrm>
            <a:off x="4627242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384,8</a:t>
            </a: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млн ₽</a:t>
            </a: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1379A306-65C5-452C-A793-34ED8D4BBE32}"/>
              </a:ext>
            </a:extLst>
          </p:cNvPr>
          <p:cNvSpPr>
            <a:spLocks noGrp="1"/>
          </p:cNvSpPr>
          <p:nvPr/>
        </p:nvSpPr>
        <p:spPr>
          <a:xfrm>
            <a:off x="4633421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EBEFE80D-DAE1-4A07-BE38-5BCEB5E7CEAA}"/>
              </a:ext>
            </a:extLst>
          </p:cNvPr>
          <p:cNvSpPr>
            <a:spLocks noGrp="1"/>
          </p:cNvSpPr>
          <p:nvPr/>
        </p:nvSpPr>
        <p:spPr>
          <a:xfrm>
            <a:off x="4633420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42%</a:t>
            </a: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160A045F-48E0-4CBC-91B6-D6A05B6936BE}"/>
              </a:ext>
            </a:extLst>
          </p:cNvPr>
          <p:cNvSpPr>
            <a:spLocks noGrp="1"/>
          </p:cNvSpPr>
          <p:nvPr/>
        </p:nvSpPr>
        <p:spPr>
          <a:xfrm>
            <a:off x="5332842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8%</a:t>
            </a: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4912CE38-F655-4CD1-8580-846D25DF98C2}"/>
              </a:ext>
            </a:extLst>
          </p:cNvPr>
          <p:cNvSpPr>
            <a:spLocks noGrp="1"/>
          </p:cNvSpPr>
          <p:nvPr/>
        </p:nvSpPr>
        <p:spPr>
          <a:xfrm>
            <a:off x="5967145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50%</a:t>
            </a:r>
          </a:p>
        </p:txBody>
      </p:sp>
      <p:sp>
        <p:nvSpPr>
          <p:cNvPr id="175" name="Прямоугольник: скругленные углы 174">
            <a:extLst>
              <a:ext uri="{FF2B5EF4-FFF2-40B4-BE49-F238E27FC236}">
                <a16:creationId xmlns:a16="http://schemas.microsoft.com/office/drawing/2014/main" id="{AA2C0CB3-63CF-4E1B-A3ED-1E7D47996511}"/>
              </a:ext>
            </a:extLst>
          </p:cNvPr>
          <p:cNvSpPr>
            <a:spLocks noGrp="1"/>
          </p:cNvSpPr>
          <p:nvPr/>
        </p:nvSpPr>
        <p:spPr>
          <a:xfrm>
            <a:off x="8170022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303D4CEF-3647-43A0-BC4B-F79A61EA3FC1}"/>
              </a:ext>
            </a:extLst>
          </p:cNvPr>
          <p:cNvSpPr>
            <a:spLocks noGrp="1"/>
          </p:cNvSpPr>
          <p:nvPr/>
        </p:nvSpPr>
        <p:spPr>
          <a:xfrm>
            <a:off x="8358406" y="4360810"/>
            <a:ext cx="3182332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ТС5</a:t>
            </a:r>
          </a:p>
        </p:txBody>
      </p:sp>
      <p:sp>
        <p:nvSpPr>
          <p:cNvPr id="177" name="Прямоугольник: скругленные углы 176">
            <a:extLst>
              <a:ext uri="{FF2B5EF4-FFF2-40B4-BE49-F238E27FC236}">
                <a16:creationId xmlns:a16="http://schemas.microsoft.com/office/drawing/2014/main" id="{1FE0EE45-2EEA-42FC-B631-8541B8568F34}"/>
              </a:ext>
            </a:extLst>
          </p:cNvPr>
          <p:cNvSpPr>
            <a:spLocks noGrp="1"/>
          </p:cNvSpPr>
          <p:nvPr/>
        </p:nvSpPr>
        <p:spPr>
          <a:xfrm>
            <a:off x="10338742" y="4414532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493A24">
              <a:alpha val="57000"/>
            </a:srgbClr>
          </a:solidFill>
          <a:ln w="0">
            <a:noFill/>
          </a:ln>
        </p:spPr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617870C0-AD70-4907-BA32-CDDE508FF583}"/>
              </a:ext>
            </a:extLst>
          </p:cNvPr>
          <p:cNvSpPr>
            <a:spLocks noGrp="1"/>
          </p:cNvSpPr>
          <p:nvPr/>
        </p:nvSpPr>
        <p:spPr>
          <a:xfrm>
            <a:off x="10279536" y="4290847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D071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33</a:t>
            </a:r>
            <a:r>
              <a:rPr lang="ru-RU" sz="1200" b="1" dirty="0">
                <a:solidFill>
                  <a:srgbClr val="FFD071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% закрыто</a:t>
            </a:r>
          </a:p>
        </p:txBody>
      </p:sp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189E8B7D-2BA9-43B0-A81E-6951B09E1E72}"/>
              </a:ext>
            </a:extLst>
          </p:cNvPr>
          <p:cNvSpPr>
            <a:spLocks noGrp="1"/>
          </p:cNvSpPr>
          <p:nvPr/>
        </p:nvSpPr>
        <p:spPr>
          <a:xfrm>
            <a:off x="8337529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9</a:t>
            </a: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A06A1131-2214-4210-A0F1-E99D43C8C2AA}"/>
              </a:ext>
            </a:extLst>
          </p:cNvPr>
          <p:cNvSpPr>
            <a:spLocks noGrp="1"/>
          </p:cNvSpPr>
          <p:nvPr/>
        </p:nvSpPr>
        <p:spPr>
          <a:xfrm>
            <a:off x="8356168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F4139204-17D1-47FD-AB24-81CA7A14DF64}"/>
              </a:ext>
            </a:extLst>
          </p:cNvPr>
          <p:cNvSpPr>
            <a:spLocks noGrp="1"/>
          </p:cNvSpPr>
          <p:nvPr/>
        </p:nvSpPr>
        <p:spPr>
          <a:xfrm>
            <a:off x="9485913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4</a:t>
            </a: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7C05740F-318F-446B-8E15-0C95482C8731}"/>
              </a:ext>
            </a:extLst>
          </p:cNvPr>
          <p:cNvSpPr>
            <a:spLocks noGrp="1"/>
          </p:cNvSpPr>
          <p:nvPr/>
        </p:nvSpPr>
        <p:spPr>
          <a:xfrm>
            <a:off x="9500127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183" name="Прямоугольник 182">
            <a:extLst>
              <a:ext uri="{FF2B5EF4-FFF2-40B4-BE49-F238E27FC236}">
                <a16:creationId xmlns:a16="http://schemas.microsoft.com/office/drawing/2014/main" id="{E81E28EE-8B29-4BB1-BBF2-5A4536DCB9BD}"/>
              </a:ext>
            </a:extLst>
          </p:cNvPr>
          <p:cNvSpPr>
            <a:spLocks noGrp="1"/>
          </p:cNvSpPr>
          <p:nvPr/>
        </p:nvSpPr>
        <p:spPr>
          <a:xfrm>
            <a:off x="10634297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5</a:t>
            </a:r>
          </a:p>
        </p:txBody>
      </p:sp>
      <p:sp>
        <p:nvSpPr>
          <p:cNvPr id="184" name="Прямоугольник 183">
            <a:extLst>
              <a:ext uri="{FF2B5EF4-FFF2-40B4-BE49-F238E27FC236}">
                <a16:creationId xmlns:a16="http://schemas.microsoft.com/office/drawing/2014/main" id="{6320F789-4B12-48A9-ADE0-C411D7383207}"/>
              </a:ext>
            </a:extLst>
          </p:cNvPr>
          <p:cNvSpPr>
            <a:spLocks noGrp="1"/>
          </p:cNvSpPr>
          <p:nvPr/>
        </p:nvSpPr>
        <p:spPr>
          <a:xfrm>
            <a:off x="10587538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185" name="Прямоугольник 184">
            <a:extLst>
              <a:ext uri="{FF2B5EF4-FFF2-40B4-BE49-F238E27FC236}">
                <a16:creationId xmlns:a16="http://schemas.microsoft.com/office/drawing/2014/main" id="{A8288541-6BA8-42BC-9205-4065681C2F85}"/>
              </a:ext>
            </a:extLst>
          </p:cNvPr>
          <p:cNvSpPr>
            <a:spLocks noGrp="1"/>
          </p:cNvSpPr>
          <p:nvPr/>
        </p:nvSpPr>
        <p:spPr>
          <a:xfrm>
            <a:off x="9366737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86" name="Прямоугольник 185">
            <a:extLst>
              <a:ext uri="{FF2B5EF4-FFF2-40B4-BE49-F238E27FC236}">
                <a16:creationId xmlns:a16="http://schemas.microsoft.com/office/drawing/2014/main" id="{51F55A86-8AE4-4FDF-9CFA-856C369BD28F}"/>
              </a:ext>
            </a:extLst>
          </p:cNvPr>
          <p:cNvSpPr>
            <a:spLocks noGrp="1"/>
          </p:cNvSpPr>
          <p:nvPr/>
        </p:nvSpPr>
        <p:spPr>
          <a:xfrm>
            <a:off x="10488347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87" name="Прямоугольник 186">
            <a:extLst>
              <a:ext uri="{FF2B5EF4-FFF2-40B4-BE49-F238E27FC236}">
                <a16:creationId xmlns:a16="http://schemas.microsoft.com/office/drawing/2014/main" id="{1792F7B6-6814-4A88-9CB0-F3DC68F4D88B}"/>
              </a:ext>
            </a:extLst>
          </p:cNvPr>
          <p:cNvSpPr>
            <a:spLocks noGrp="1"/>
          </p:cNvSpPr>
          <p:nvPr/>
        </p:nvSpPr>
        <p:spPr>
          <a:xfrm>
            <a:off x="8313362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88" name="Прямоугольник 187">
            <a:extLst>
              <a:ext uri="{FF2B5EF4-FFF2-40B4-BE49-F238E27FC236}">
                <a16:creationId xmlns:a16="http://schemas.microsoft.com/office/drawing/2014/main" id="{5E2F744A-CE12-48B6-A0EE-CCDF8CBD5544}"/>
              </a:ext>
            </a:extLst>
          </p:cNvPr>
          <p:cNvSpPr>
            <a:spLocks noGrp="1"/>
          </p:cNvSpPr>
          <p:nvPr/>
        </p:nvSpPr>
        <p:spPr>
          <a:xfrm>
            <a:off x="8307222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189" name="Прямоугольник 188">
            <a:extLst>
              <a:ext uri="{FF2B5EF4-FFF2-40B4-BE49-F238E27FC236}">
                <a16:creationId xmlns:a16="http://schemas.microsoft.com/office/drawing/2014/main" id="{0A31EE62-A430-413E-892A-5B0546EBF10C}"/>
              </a:ext>
            </a:extLst>
          </p:cNvPr>
          <p:cNvSpPr>
            <a:spLocks noGrp="1"/>
          </p:cNvSpPr>
          <p:nvPr/>
        </p:nvSpPr>
        <p:spPr>
          <a:xfrm>
            <a:off x="8307182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910</a:t>
            </a: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млн ₽</a:t>
            </a:r>
          </a:p>
        </p:txBody>
      </p:sp>
      <p:sp>
        <p:nvSpPr>
          <p:cNvPr id="190" name="Прямоугольник 189">
            <a:extLst>
              <a:ext uri="{FF2B5EF4-FFF2-40B4-BE49-F238E27FC236}">
                <a16:creationId xmlns:a16="http://schemas.microsoft.com/office/drawing/2014/main" id="{F056CAD0-D6E8-4274-A396-5ED969E04328}"/>
              </a:ext>
            </a:extLst>
          </p:cNvPr>
          <p:cNvSpPr>
            <a:spLocks noGrp="1"/>
          </p:cNvSpPr>
          <p:nvPr/>
        </p:nvSpPr>
        <p:spPr>
          <a:xfrm>
            <a:off x="8313361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191" name="Прямоугольник 190">
            <a:extLst>
              <a:ext uri="{FF2B5EF4-FFF2-40B4-BE49-F238E27FC236}">
                <a16:creationId xmlns:a16="http://schemas.microsoft.com/office/drawing/2014/main" id="{1DE8312A-61CF-4AB8-807F-705E0AD05117}"/>
              </a:ext>
            </a:extLst>
          </p:cNvPr>
          <p:cNvSpPr>
            <a:spLocks noGrp="1"/>
          </p:cNvSpPr>
          <p:nvPr/>
        </p:nvSpPr>
        <p:spPr>
          <a:xfrm>
            <a:off x="8313360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44%</a:t>
            </a:r>
          </a:p>
        </p:txBody>
      </p:sp>
      <p:sp>
        <p:nvSpPr>
          <p:cNvPr id="192" name="Прямоугольник 191">
            <a:extLst>
              <a:ext uri="{FF2B5EF4-FFF2-40B4-BE49-F238E27FC236}">
                <a16:creationId xmlns:a16="http://schemas.microsoft.com/office/drawing/2014/main" id="{5434E8B4-3924-4AB4-B35C-33A130EE7E6D}"/>
              </a:ext>
            </a:extLst>
          </p:cNvPr>
          <p:cNvSpPr>
            <a:spLocks noGrp="1"/>
          </p:cNvSpPr>
          <p:nvPr/>
        </p:nvSpPr>
        <p:spPr>
          <a:xfrm>
            <a:off x="9012782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44%</a:t>
            </a:r>
          </a:p>
        </p:txBody>
      </p:sp>
      <p:sp>
        <p:nvSpPr>
          <p:cNvPr id="193" name="Прямоугольник 192">
            <a:extLst>
              <a:ext uri="{FF2B5EF4-FFF2-40B4-BE49-F238E27FC236}">
                <a16:creationId xmlns:a16="http://schemas.microsoft.com/office/drawing/2014/main" id="{A3478A8E-5511-4A8C-BF78-B27A26E50EFD}"/>
              </a:ext>
            </a:extLst>
          </p:cNvPr>
          <p:cNvSpPr>
            <a:spLocks noGrp="1"/>
          </p:cNvSpPr>
          <p:nvPr/>
        </p:nvSpPr>
        <p:spPr>
          <a:xfrm>
            <a:off x="9647085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22%</a:t>
            </a:r>
          </a:p>
        </p:txBody>
      </p:sp>
      <p:sp>
        <p:nvSpPr>
          <p:cNvPr id="196" name="Прямоугольник: скругленные углы 195">
            <a:extLst>
              <a:ext uri="{FF2B5EF4-FFF2-40B4-BE49-F238E27FC236}">
                <a16:creationId xmlns:a16="http://schemas.microsoft.com/office/drawing/2014/main" id="{A206AF96-7143-4C26-B2C9-093BD092DCD2}"/>
              </a:ext>
            </a:extLst>
          </p:cNvPr>
          <p:cNvSpPr>
            <a:spLocks noGrp="1"/>
          </p:cNvSpPr>
          <p:nvPr/>
        </p:nvSpPr>
        <p:spPr>
          <a:xfrm>
            <a:off x="12108226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197" name="Прямоугольник 196">
            <a:extLst>
              <a:ext uri="{FF2B5EF4-FFF2-40B4-BE49-F238E27FC236}">
                <a16:creationId xmlns:a16="http://schemas.microsoft.com/office/drawing/2014/main" id="{894D9902-AE72-4564-A914-6054E8EDBD13}"/>
              </a:ext>
            </a:extLst>
          </p:cNvPr>
          <p:cNvSpPr>
            <a:spLocks noGrp="1"/>
          </p:cNvSpPr>
          <p:nvPr/>
        </p:nvSpPr>
        <p:spPr>
          <a:xfrm>
            <a:off x="12275077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 err="1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Делекто</a:t>
            </a:r>
            <a:endParaRPr lang="ru-RU" sz="2800" dirty="0">
              <a:solidFill>
                <a:schemeClr val="bg1"/>
              </a:solidFill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198" name="Прямоугольник: скругленные углы 197">
            <a:extLst>
              <a:ext uri="{FF2B5EF4-FFF2-40B4-BE49-F238E27FC236}">
                <a16:creationId xmlns:a16="http://schemas.microsoft.com/office/drawing/2014/main" id="{BAD82907-C936-46BD-AAC0-D83ECFF8E2A9}"/>
              </a:ext>
            </a:extLst>
          </p:cNvPr>
          <p:cNvSpPr>
            <a:spLocks noGrp="1"/>
          </p:cNvSpPr>
          <p:nvPr/>
        </p:nvSpPr>
        <p:spPr>
          <a:xfrm>
            <a:off x="14276946" y="4414532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442833">
              <a:alpha val="57000"/>
            </a:srgbClr>
          </a:solidFill>
          <a:ln w="0">
            <a:noFill/>
          </a:ln>
        </p:spPr>
      </p:sp>
      <p:sp>
        <p:nvSpPr>
          <p:cNvPr id="199" name="Прямоугольник 198">
            <a:extLst>
              <a:ext uri="{FF2B5EF4-FFF2-40B4-BE49-F238E27FC236}">
                <a16:creationId xmlns:a16="http://schemas.microsoft.com/office/drawing/2014/main" id="{415BE5DD-2790-4274-BF6A-FC14F1347B69}"/>
              </a:ext>
            </a:extLst>
          </p:cNvPr>
          <p:cNvSpPr>
            <a:spLocks noGrp="1"/>
          </p:cNvSpPr>
          <p:nvPr/>
        </p:nvSpPr>
        <p:spPr>
          <a:xfrm>
            <a:off x="14217740" y="4290847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9B9B"/>
                </a:solidFill>
                <a:latin typeface="Arial"/>
                <a:ea typeface="Arial"/>
                <a:cs typeface="Arial"/>
              </a:defRPr>
            </a:pP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0% закрыто</a:t>
            </a:r>
          </a:p>
        </p:txBody>
      </p:sp>
      <p:sp>
        <p:nvSpPr>
          <p:cNvPr id="200" name="Прямоугольник 199">
            <a:extLst>
              <a:ext uri="{FF2B5EF4-FFF2-40B4-BE49-F238E27FC236}">
                <a16:creationId xmlns:a16="http://schemas.microsoft.com/office/drawing/2014/main" id="{2C786D16-DF2B-4AFD-AF7A-2FFD87944E3C}"/>
              </a:ext>
            </a:extLst>
          </p:cNvPr>
          <p:cNvSpPr>
            <a:spLocks noGrp="1"/>
          </p:cNvSpPr>
          <p:nvPr/>
        </p:nvSpPr>
        <p:spPr>
          <a:xfrm>
            <a:off x="12275733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5</a:t>
            </a:r>
          </a:p>
        </p:txBody>
      </p:sp>
      <p:sp>
        <p:nvSpPr>
          <p:cNvPr id="201" name="Прямоугольник 200">
            <a:extLst>
              <a:ext uri="{FF2B5EF4-FFF2-40B4-BE49-F238E27FC236}">
                <a16:creationId xmlns:a16="http://schemas.microsoft.com/office/drawing/2014/main" id="{9C8BFEFD-00FA-4676-849E-D9141B8EC67A}"/>
              </a:ext>
            </a:extLst>
          </p:cNvPr>
          <p:cNvSpPr>
            <a:spLocks noGrp="1"/>
          </p:cNvSpPr>
          <p:nvPr/>
        </p:nvSpPr>
        <p:spPr>
          <a:xfrm>
            <a:off x="12294372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202" name="Прямоугольник 201">
            <a:extLst>
              <a:ext uri="{FF2B5EF4-FFF2-40B4-BE49-F238E27FC236}">
                <a16:creationId xmlns:a16="http://schemas.microsoft.com/office/drawing/2014/main" id="{AE1977BE-CC3E-45BB-AE81-EBACE16AB839}"/>
              </a:ext>
            </a:extLst>
          </p:cNvPr>
          <p:cNvSpPr>
            <a:spLocks noGrp="1"/>
          </p:cNvSpPr>
          <p:nvPr/>
        </p:nvSpPr>
        <p:spPr>
          <a:xfrm>
            <a:off x="13424117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0</a:t>
            </a:r>
          </a:p>
        </p:txBody>
      </p:sp>
      <p:sp>
        <p:nvSpPr>
          <p:cNvPr id="203" name="Прямоугольник 202">
            <a:extLst>
              <a:ext uri="{FF2B5EF4-FFF2-40B4-BE49-F238E27FC236}">
                <a16:creationId xmlns:a16="http://schemas.microsoft.com/office/drawing/2014/main" id="{30368568-7116-4025-AB8D-2FA6D1658026}"/>
              </a:ext>
            </a:extLst>
          </p:cNvPr>
          <p:cNvSpPr>
            <a:spLocks noGrp="1"/>
          </p:cNvSpPr>
          <p:nvPr/>
        </p:nvSpPr>
        <p:spPr>
          <a:xfrm>
            <a:off x="13438331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204" name="Прямоугольник 203">
            <a:extLst>
              <a:ext uri="{FF2B5EF4-FFF2-40B4-BE49-F238E27FC236}">
                <a16:creationId xmlns:a16="http://schemas.microsoft.com/office/drawing/2014/main" id="{483DC75E-14AD-4574-9476-953125CFCF2C}"/>
              </a:ext>
            </a:extLst>
          </p:cNvPr>
          <p:cNvSpPr>
            <a:spLocks noGrp="1"/>
          </p:cNvSpPr>
          <p:nvPr/>
        </p:nvSpPr>
        <p:spPr>
          <a:xfrm>
            <a:off x="14572501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5</a:t>
            </a:r>
          </a:p>
        </p:txBody>
      </p:sp>
      <p:sp>
        <p:nvSpPr>
          <p:cNvPr id="205" name="Прямоугольник 204">
            <a:extLst>
              <a:ext uri="{FF2B5EF4-FFF2-40B4-BE49-F238E27FC236}">
                <a16:creationId xmlns:a16="http://schemas.microsoft.com/office/drawing/2014/main" id="{30A39A4D-99A5-4406-AA83-2644477B3189}"/>
              </a:ext>
            </a:extLst>
          </p:cNvPr>
          <p:cNvSpPr>
            <a:spLocks noGrp="1"/>
          </p:cNvSpPr>
          <p:nvPr/>
        </p:nvSpPr>
        <p:spPr>
          <a:xfrm>
            <a:off x="14525742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206" name="Прямоугольник 205">
            <a:extLst>
              <a:ext uri="{FF2B5EF4-FFF2-40B4-BE49-F238E27FC236}">
                <a16:creationId xmlns:a16="http://schemas.microsoft.com/office/drawing/2014/main" id="{D1A3DDE4-8214-4C70-8C9B-BFFE835C2CA7}"/>
              </a:ext>
            </a:extLst>
          </p:cNvPr>
          <p:cNvSpPr>
            <a:spLocks noGrp="1"/>
          </p:cNvSpPr>
          <p:nvPr/>
        </p:nvSpPr>
        <p:spPr>
          <a:xfrm>
            <a:off x="13304941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07" name="Прямоугольник 206">
            <a:extLst>
              <a:ext uri="{FF2B5EF4-FFF2-40B4-BE49-F238E27FC236}">
                <a16:creationId xmlns:a16="http://schemas.microsoft.com/office/drawing/2014/main" id="{782AAE3F-A5B6-421C-85B1-AF733EF2F9A5}"/>
              </a:ext>
            </a:extLst>
          </p:cNvPr>
          <p:cNvSpPr>
            <a:spLocks noGrp="1"/>
          </p:cNvSpPr>
          <p:nvPr/>
        </p:nvSpPr>
        <p:spPr>
          <a:xfrm>
            <a:off x="14426551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08" name="Прямоугольник 207">
            <a:extLst>
              <a:ext uri="{FF2B5EF4-FFF2-40B4-BE49-F238E27FC236}">
                <a16:creationId xmlns:a16="http://schemas.microsoft.com/office/drawing/2014/main" id="{B6DDA7EB-71BB-4B64-81C9-28F8C45AEA3A}"/>
              </a:ext>
            </a:extLst>
          </p:cNvPr>
          <p:cNvSpPr>
            <a:spLocks noGrp="1"/>
          </p:cNvSpPr>
          <p:nvPr/>
        </p:nvSpPr>
        <p:spPr>
          <a:xfrm>
            <a:off x="12251566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09" name="Прямоугольник 208">
            <a:extLst>
              <a:ext uri="{FF2B5EF4-FFF2-40B4-BE49-F238E27FC236}">
                <a16:creationId xmlns:a16="http://schemas.microsoft.com/office/drawing/2014/main" id="{57386DB1-BBD4-482D-BDFD-53C6D95BA5D6}"/>
              </a:ext>
            </a:extLst>
          </p:cNvPr>
          <p:cNvSpPr>
            <a:spLocks noGrp="1"/>
          </p:cNvSpPr>
          <p:nvPr/>
        </p:nvSpPr>
        <p:spPr>
          <a:xfrm>
            <a:off x="12245426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210" name="Прямоугольник 209">
            <a:extLst>
              <a:ext uri="{FF2B5EF4-FFF2-40B4-BE49-F238E27FC236}">
                <a16:creationId xmlns:a16="http://schemas.microsoft.com/office/drawing/2014/main" id="{0A8B05EF-7C43-4FD7-BA49-257739885728}"/>
              </a:ext>
            </a:extLst>
          </p:cNvPr>
          <p:cNvSpPr>
            <a:spLocks noGrp="1"/>
          </p:cNvSpPr>
          <p:nvPr/>
        </p:nvSpPr>
        <p:spPr>
          <a:xfrm>
            <a:off x="12245386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23,5 млн ₽</a:t>
            </a:r>
          </a:p>
        </p:txBody>
      </p:sp>
      <p:sp>
        <p:nvSpPr>
          <p:cNvPr id="211" name="Прямоугольник 210">
            <a:extLst>
              <a:ext uri="{FF2B5EF4-FFF2-40B4-BE49-F238E27FC236}">
                <a16:creationId xmlns:a16="http://schemas.microsoft.com/office/drawing/2014/main" id="{AD7F0346-A02A-42A5-ADC0-44145CB8B226}"/>
              </a:ext>
            </a:extLst>
          </p:cNvPr>
          <p:cNvSpPr>
            <a:spLocks noGrp="1"/>
          </p:cNvSpPr>
          <p:nvPr/>
        </p:nvSpPr>
        <p:spPr>
          <a:xfrm>
            <a:off x="12251565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212" name="Прямоугольник 211">
            <a:extLst>
              <a:ext uri="{FF2B5EF4-FFF2-40B4-BE49-F238E27FC236}">
                <a16:creationId xmlns:a16="http://schemas.microsoft.com/office/drawing/2014/main" id="{6B0AEC4D-4223-4672-83A9-30C7B9C820D1}"/>
              </a:ext>
            </a:extLst>
          </p:cNvPr>
          <p:cNvSpPr>
            <a:spLocks noGrp="1"/>
          </p:cNvSpPr>
          <p:nvPr/>
        </p:nvSpPr>
        <p:spPr>
          <a:xfrm>
            <a:off x="12251564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20%</a:t>
            </a:r>
          </a:p>
        </p:txBody>
      </p:sp>
      <p:sp>
        <p:nvSpPr>
          <p:cNvPr id="213" name="Прямоугольник 212">
            <a:extLst>
              <a:ext uri="{FF2B5EF4-FFF2-40B4-BE49-F238E27FC236}">
                <a16:creationId xmlns:a16="http://schemas.microsoft.com/office/drawing/2014/main" id="{4915A3B3-07A5-4ACA-BCF3-A77608CD3CC4}"/>
              </a:ext>
            </a:extLst>
          </p:cNvPr>
          <p:cNvSpPr>
            <a:spLocks noGrp="1"/>
          </p:cNvSpPr>
          <p:nvPr/>
        </p:nvSpPr>
        <p:spPr>
          <a:xfrm>
            <a:off x="12950986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80%</a:t>
            </a:r>
          </a:p>
        </p:txBody>
      </p:sp>
      <p:sp>
        <p:nvSpPr>
          <p:cNvPr id="214" name="Прямоугольник 213">
            <a:extLst>
              <a:ext uri="{FF2B5EF4-FFF2-40B4-BE49-F238E27FC236}">
                <a16:creationId xmlns:a16="http://schemas.microsoft.com/office/drawing/2014/main" id="{C910556A-14D4-4633-AF7F-394EB547FB94}"/>
              </a:ext>
            </a:extLst>
          </p:cNvPr>
          <p:cNvSpPr>
            <a:spLocks noGrp="1"/>
          </p:cNvSpPr>
          <p:nvPr/>
        </p:nvSpPr>
        <p:spPr>
          <a:xfrm>
            <a:off x="13585289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0%</a:t>
            </a:r>
          </a:p>
        </p:txBody>
      </p:sp>
      <p:sp>
        <p:nvSpPr>
          <p:cNvPr id="217" name="Прямоугольник: скругленные углы 216">
            <a:extLst>
              <a:ext uri="{FF2B5EF4-FFF2-40B4-BE49-F238E27FC236}">
                <a16:creationId xmlns:a16="http://schemas.microsoft.com/office/drawing/2014/main" id="{AE617BC6-16B2-4F4E-B17A-6747FB1CDC4B}"/>
              </a:ext>
            </a:extLst>
          </p:cNvPr>
          <p:cNvSpPr>
            <a:spLocks noGrp="1"/>
          </p:cNvSpPr>
          <p:nvPr/>
        </p:nvSpPr>
        <p:spPr>
          <a:xfrm>
            <a:off x="15831271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B0FEEA35-3763-446A-9F70-4D0BF4D504B8}"/>
              </a:ext>
            </a:extLst>
          </p:cNvPr>
          <p:cNvSpPr>
            <a:spLocks noGrp="1"/>
          </p:cNvSpPr>
          <p:nvPr/>
        </p:nvSpPr>
        <p:spPr>
          <a:xfrm>
            <a:off x="15998122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ТСХ</a:t>
            </a:r>
          </a:p>
        </p:txBody>
      </p:sp>
      <p:sp>
        <p:nvSpPr>
          <p:cNvPr id="221" name="Прямоугольник 220">
            <a:extLst>
              <a:ext uri="{FF2B5EF4-FFF2-40B4-BE49-F238E27FC236}">
                <a16:creationId xmlns:a16="http://schemas.microsoft.com/office/drawing/2014/main" id="{285D7C2D-E579-4094-90C9-C376A8E4DD0D}"/>
              </a:ext>
            </a:extLst>
          </p:cNvPr>
          <p:cNvSpPr>
            <a:spLocks noGrp="1"/>
          </p:cNvSpPr>
          <p:nvPr/>
        </p:nvSpPr>
        <p:spPr>
          <a:xfrm>
            <a:off x="15998778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4</a:t>
            </a:r>
          </a:p>
        </p:txBody>
      </p:sp>
      <p:sp>
        <p:nvSpPr>
          <p:cNvPr id="222" name="Прямоугольник 221">
            <a:extLst>
              <a:ext uri="{FF2B5EF4-FFF2-40B4-BE49-F238E27FC236}">
                <a16:creationId xmlns:a16="http://schemas.microsoft.com/office/drawing/2014/main" id="{18F48DD3-83E2-41A2-AECF-7C4DDC6CA699}"/>
              </a:ext>
            </a:extLst>
          </p:cNvPr>
          <p:cNvSpPr>
            <a:spLocks noGrp="1"/>
          </p:cNvSpPr>
          <p:nvPr/>
        </p:nvSpPr>
        <p:spPr>
          <a:xfrm>
            <a:off x="16017417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223" name="Прямоугольник 222">
            <a:extLst>
              <a:ext uri="{FF2B5EF4-FFF2-40B4-BE49-F238E27FC236}">
                <a16:creationId xmlns:a16="http://schemas.microsoft.com/office/drawing/2014/main" id="{F9D70D9D-2061-4527-BDE9-E94CE86A1D24}"/>
              </a:ext>
            </a:extLst>
          </p:cNvPr>
          <p:cNvSpPr>
            <a:spLocks noGrp="1"/>
          </p:cNvSpPr>
          <p:nvPr/>
        </p:nvSpPr>
        <p:spPr>
          <a:xfrm>
            <a:off x="17147162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4</a:t>
            </a:r>
          </a:p>
        </p:txBody>
      </p:sp>
      <p:sp>
        <p:nvSpPr>
          <p:cNvPr id="224" name="Прямоугольник 223">
            <a:extLst>
              <a:ext uri="{FF2B5EF4-FFF2-40B4-BE49-F238E27FC236}">
                <a16:creationId xmlns:a16="http://schemas.microsoft.com/office/drawing/2014/main" id="{410415D2-1BEE-482C-9A1D-ECAC4A720272}"/>
              </a:ext>
            </a:extLst>
          </p:cNvPr>
          <p:cNvSpPr>
            <a:spLocks noGrp="1"/>
          </p:cNvSpPr>
          <p:nvPr/>
        </p:nvSpPr>
        <p:spPr>
          <a:xfrm>
            <a:off x="17161376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225" name="Прямоугольник 224">
            <a:extLst>
              <a:ext uri="{FF2B5EF4-FFF2-40B4-BE49-F238E27FC236}">
                <a16:creationId xmlns:a16="http://schemas.microsoft.com/office/drawing/2014/main" id="{DE7D809B-FF50-420E-B242-2FC83703701B}"/>
              </a:ext>
            </a:extLst>
          </p:cNvPr>
          <p:cNvSpPr>
            <a:spLocks noGrp="1"/>
          </p:cNvSpPr>
          <p:nvPr/>
        </p:nvSpPr>
        <p:spPr>
          <a:xfrm>
            <a:off x="18295546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0</a:t>
            </a:r>
          </a:p>
        </p:txBody>
      </p:sp>
      <p:sp>
        <p:nvSpPr>
          <p:cNvPr id="226" name="Прямоугольник 225">
            <a:extLst>
              <a:ext uri="{FF2B5EF4-FFF2-40B4-BE49-F238E27FC236}">
                <a16:creationId xmlns:a16="http://schemas.microsoft.com/office/drawing/2014/main" id="{19D98DAA-9070-40CE-9157-D69FCE597E8F}"/>
              </a:ext>
            </a:extLst>
          </p:cNvPr>
          <p:cNvSpPr>
            <a:spLocks noGrp="1"/>
          </p:cNvSpPr>
          <p:nvPr/>
        </p:nvSpPr>
        <p:spPr>
          <a:xfrm>
            <a:off x="18248787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227" name="Прямоугольник 226">
            <a:extLst>
              <a:ext uri="{FF2B5EF4-FFF2-40B4-BE49-F238E27FC236}">
                <a16:creationId xmlns:a16="http://schemas.microsoft.com/office/drawing/2014/main" id="{34C7F290-26AF-44A4-81CB-9147C41C76BC}"/>
              </a:ext>
            </a:extLst>
          </p:cNvPr>
          <p:cNvSpPr>
            <a:spLocks noGrp="1"/>
          </p:cNvSpPr>
          <p:nvPr/>
        </p:nvSpPr>
        <p:spPr>
          <a:xfrm>
            <a:off x="17027986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28" name="Прямоугольник 227">
            <a:extLst>
              <a:ext uri="{FF2B5EF4-FFF2-40B4-BE49-F238E27FC236}">
                <a16:creationId xmlns:a16="http://schemas.microsoft.com/office/drawing/2014/main" id="{BCA8B54E-C034-4B07-B831-CF40E0D92D4C}"/>
              </a:ext>
            </a:extLst>
          </p:cNvPr>
          <p:cNvSpPr>
            <a:spLocks noGrp="1"/>
          </p:cNvSpPr>
          <p:nvPr/>
        </p:nvSpPr>
        <p:spPr>
          <a:xfrm>
            <a:off x="18149596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29" name="Прямоугольник 228">
            <a:extLst>
              <a:ext uri="{FF2B5EF4-FFF2-40B4-BE49-F238E27FC236}">
                <a16:creationId xmlns:a16="http://schemas.microsoft.com/office/drawing/2014/main" id="{8F56DF3E-3264-4431-9546-DD71AA348D42}"/>
              </a:ext>
            </a:extLst>
          </p:cNvPr>
          <p:cNvSpPr>
            <a:spLocks noGrp="1"/>
          </p:cNvSpPr>
          <p:nvPr/>
        </p:nvSpPr>
        <p:spPr>
          <a:xfrm>
            <a:off x="15974611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30" name="Прямоугольник 229">
            <a:extLst>
              <a:ext uri="{FF2B5EF4-FFF2-40B4-BE49-F238E27FC236}">
                <a16:creationId xmlns:a16="http://schemas.microsoft.com/office/drawing/2014/main" id="{16867DFD-2E1F-4FDC-BAF3-7CB73E13C926}"/>
              </a:ext>
            </a:extLst>
          </p:cNvPr>
          <p:cNvSpPr>
            <a:spLocks noGrp="1"/>
          </p:cNvSpPr>
          <p:nvPr/>
        </p:nvSpPr>
        <p:spPr>
          <a:xfrm>
            <a:off x="15968471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231" name="Прямоугольник 230">
            <a:extLst>
              <a:ext uri="{FF2B5EF4-FFF2-40B4-BE49-F238E27FC236}">
                <a16:creationId xmlns:a16="http://schemas.microsoft.com/office/drawing/2014/main" id="{721A4419-8DF8-44B9-973A-831B7EED3A87}"/>
              </a:ext>
            </a:extLst>
          </p:cNvPr>
          <p:cNvSpPr>
            <a:spLocks noGrp="1"/>
          </p:cNvSpPr>
          <p:nvPr/>
        </p:nvSpPr>
        <p:spPr>
          <a:xfrm>
            <a:off x="15968431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85,9 млн ₽</a:t>
            </a:r>
          </a:p>
        </p:txBody>
      </p:sp>
      <p:sp>
        <p:nvSpPr>
          <p:cNvPr id="232" name="Прямоугольник 231">
            <a:extLst>
              <a:ext uri="{FF2B5EF4-FFF2-40B4-BE49-F238E27FC236}">
                <a16:creationId xmlns:a16="http://schemas.microsoft.com/office/drawing/2014/main" id="{6C8D6278-BC2F-4F52-BDC6-260370582478}"/>
              </a:ext>
            </a:extLst>
          </p:cNvPr>
          <p:cNvSpPr>
            <a:spLocks noGrp="1"/>
          </p:cNvSpPr>
          <p:nvPr/>
        </p:nvSpPr>
        <p:spPr>
          <a:xfrm>
            <a:off x="15974610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233" name="Прямоугольник 232">
            <a:extLst>
              <a:ext uri="{FF2B5EF4-FFF2-40B4-BE49-F238E27FC236}">
                <a16:creationId xmlns:a16="http://schemas.microsoft.com/office/drawing/2014/main" id="{055C2CD4-A12D-47B4-B58E-B90B7DEC1059}"/>
              </a:ext>
            </a:extLst>
          </p:cNvPr>
          <p:cNvSpPr>
            <a:spLocks noGrp="1"/>
          </p:cNvSpPr>
          <p:nvPr/>
        </p:nvSpPr>
        <p:spPr>
          <a:xfrm>
            <a:off x="15974609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50%</a:t>
            </a:r>
          </a:p>
        </p:txBody>
      </p:sp>
      <p:sp>
        <p:nvSpPr>
          <p:cNvPr id="234" name="Прямоугольник 233">
            <a:extLst>
              <a:ext uri="{FF2B5EF4-FFF2-40B4-BE49-F238E27FC236}">
                <a16:creationId xmlns:a16="http://schemas.microsoft.com/office/drawing/2014/main" id="{75FC7042-E5E3-438F-A1E3-3227D7F854C0}"/>
              </a:ext>
            </a:extLst>
          </p:cNvPr>
          <p:cNvSpPr>
            <a:spLocks noGrp="1"/>
          </p:cNvSpPr>
          <p:nvPr/>
        </p:nvSpPr>
        <p:spPr>
          <a:xfrm>
            <a:off x="16674031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0%</a:t>
            </a:r>
          </a:p>
        </p:txBody>
      </p:sp>
      <p:sp>
        <p:nvSpPr>
          <p:cNvPr id="235" name="Прямоугольник 234">
            <a:extLst>
              <a:ext uri="{FF2B5EF4-FFF2-40B4-BE49-F238E27FC236}">
                <a16:creationId xmlns:a16="http://schemas.microsoft.com/office/drawing/2014/main" id="{D096019A-4EA4-4444-B701-583587632E3E}"/>
              </a:ext>
            </a:extLst>
          </p:cNvPr>
          <p:cNvSpPr>
            <a:spLocks noGrp="1"/>
          </p:cNvSpPr>
          <p:nvPr/>
        </p:nvSpPr>
        <p:spPr>
          <a:xfrm>
            <a:off x="17308334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50%</a:t>
            </a:r>
          </a:p>
        </p:txBody>
      </p:sp>
      <p:sp>
        <p:nvSpPr>
          <p:cNvPr id="238" name="Прямоугольник: скругленные углы 237">
            <a:extLst>
              <a:ext uri="{FF2B5EF4-FFF2-40B4-BE49-F238E27FC236}">
                <a16:creationId xmlns:a16="http://schemas.microsoft.com/office/drawing/2014/main" id="{EB48D48D-DDFF-4CC8-BE2C-C0299808269B}"/>
              </a:ext>
            </a:extLst>
          </p:cNvPr>
          <p:cNvSpPr>
            <a:spLocks noGrp="1"/>
          </p:cNvSpPr>
          <p:nvPr/>
        </p:nvSpPr>
        <p:spPr>
          <a:xfrm>
            <a:off x="19539631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239" name="Прямоугольник 238">
            <a:extLst>
              <a:ext uri="{FF2B5EF4-FFF2-40B4-BE49-F238E27FC236}">
                <a16:creationId xmlns:a16="http://schemas.microsoft.com/office/drawing/2014/main" id="{FC4F1CBB-A609-436B-9154-37ABDF215080}"/>
              </a:ext>
            </a:extLst>
          </p:cNvPr>
          <p:cNvSpPr>
            <a:spLocks noGrp="1"/>
          </p:cNvSpPr>
          <p:nvPr/>
        </p:nvSpPr>
        <p:spPr>
          <a:xfrm>
            <a:off x="19706482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ТСЧ</a:t>
            </a:r>
          </a:p>
        </p:txBody>
      </p:sp>
      <p:sp>
        <p:nvSpPr>
          <p:cNvPr id="242" name="Прямоугольник 241">
            <a:extLst>
              <a:ext uri="{FF2B5EF4-FFF2-40B4-BE49-F238E27FC236}">
                <a16:creationId xmlns:a16="http://schemas.microsoft.com/office/drawing/2014/main" id="{2FC825C5-C229-49C1-A3C7-DF91F15026BE}"/>
              </a:ext>
            </a:extLst>
          </p:cNvPr>
          <p:cNvSpPr>
            <a:spLocks noGrp="1"/>
          </p:cNvSpPr>
          <p:nvPr/>
        </p:nvSpPr>
        <p:spPr>
          <a:xfrm>
            <a:off x="19707138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4</a:t>
            </a:r>
          </a:p>
        </p:txBody>
      </p:sp>
      <p:sp>
        <p:nvSpPr>
          <p:cNvPr id="243" name="Прямоугольник 242">
            <a:extLst>
              <a:ext uri="{FF2B5EF4-FFF2-40B4-BE49-F238E27FC236}">
                <a16:creationId xmlns:a16="http://schemas.microsoft.com/office/drawing/2014/main" id="{F66E4133-2D9B-47EB-9705-D04E992CB519}"/>
              </a:ext>
            </a:extLst>
          </p:cNvPr>
          <p:cNvSpPr>
            <a:spLocks noGrp="1"/>
          </p:cNvSpPr>
          <p:nvPr/>
        </p:nvSpPr>
        <p:spPr>
          <a:xfrm>
            <a:off x="19725777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244" name="Прямоугольник 243">
            <a:extLst>
              <a:ext uri="{FF2B5EF4-FFF2-40B4-BE49-F238E27FC236}">
                <a16:creationId xmlns:a16="http://schemas.microsoft.com/office/drawing/2014/main" id="{71008BF2-BD23-40C3-9CBD-52E890B7C95F}"/>
              </a:ext>
            </a:extLst>
          </p:cNvPr>
          <p:cNvSpPr>
            <a:spLocks noGrp="1"/>
          </p:cNvSpPr>
          <p:nvPr/>
        </p:nvSpPr>
        <p:spPr>
          <a:xfrm>
            <a:off x="20855522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en-US" sz="3200" dirty="0">
                <a:latin typeface="X5 Sans" panose="020B0403020203020204" pitchFamily="34" charset="0"/>
                <a:ea typeface="X5 Sans" panose="020B0403020203020204" pitchFamily="34" charset="0"/>
              </a:rPr>
              <a:t>1</a:t>
            </a:r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45" name="Прямоугольник 244">
            <a:extLst>
              <a:ext uri="{FF2B5EF4-FFF2-40B4-BE49-F238E27FC236}">
                <a16:creationId xmlns:a16="http://schemas.microsoft.com/office/drawing/2014/main" id="{5A11B012-9946-46B9-B68D-157D1EF2FFF6}"/>
              </a:ext>
            </a:extLst>
          </p:cNvPr>
          <p:cNvSpPr>
            <a:spLocks noGrp="1"/>
          </p:cNvSpPr>
          <p:nvPr/>
        </p:nvSpPr>
        <p:spPr>
          <a:xfrm>
            <a:off x="20869736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246" name="Прямоугольник 245">
            <a:extLst>
              <a:ext uri="{FF2B5EF4-FFF2-40B4-BE49-F238E27FC236}">
                <a16:creationId xmlns:a16="http://schemas.microsoft.com/office/drawing/2014/main" id="{C55ECF23-EEF7-4427-AC6E-D38C3656EE00}"/>
              </a:ext>
            </a:extLst>
          </p:cNvPr>
          <p:cNvSpPr>
            <a:spLocks noGrp="1"/>
          </p:cNvSpPr>
          <p:nvPr/>
        </p:nvSpPr>
        <p:spPr>
          <a:xfrm>
            <a:off x="22003906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en-US" sz="3200" dirty="0">
                <a:latin typeface="X5 Sans" panose="020B0403020203020204" pitchFamily="34" charset="0"/>
                <a:ea typeface="X5 Sans" panose="020B0403020203020204" pitchFamily="34" charset="0"/>
              </a:rPr>
              <a:t>3</a:t>
            </a:r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47" name="Прямоугольник 246">
            <a:extLst>
              <a:ext uri="{FF2B5EF4-FFF2-40B4-BE49-F238E27FC236}">
                <a16:creationId xmlns:a16="http://schemas.microsoft.com/office/drawing/2014/main" id="{DA7FC26B-6F5E-425B-AB01-3FFD7C8173A6}"/>
              </a:ext>
            </a:extLst>
          </p:cNvPr>
          <p:cNvSpPr>
            <a:spLocks noGrp="1"/>
          </p:cNvSpPr>
          <p:nvPr/>
        </p:nvSpPr>
        <p:spPr>
          <a:xfrm>
            <a:off x="21957147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248" name="Прямоугольник 247">
            <a:extLst>
              <a:ext uri="{FF2B5EF4-FFF2-40B4-BE49-F238E27FC236}">
                <a16:creationId xmlns:a16="http://schemas.microsoft.com/office/drawing/2014/main" id="{D28B8F3C-4440-4676-A8B3-83E78F3109CA}"/>
              </a:ext>
            </a:extLst>
          </p:cNvPr>
          <p:cNvSpPr>
            <a:spLocks noGrp="1"/>
          </p:cNvSpPr>
          <p:nvPr/>
        </p:nvSpPr>
        <p:spPr>
          <a:xfrm>
            <a:off x="20736346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49" name="Прямоугольник 248">
            <a:extLst>
              <a:ext uri="{FF2B5EF4-FFF2-40B4-BE49-F238E27FC236}">
                <a16:creationId xmlns:a16="http://schemas.microsoft.com/office/drawing/2014/main" id="{E18182B5-A7C0-4325-898B-DD46A4114738}"/>
              </a:ext>
            </a:extLst>
          </p:cNvPr>
          <p:cNvSpPr>
            <a:spLocks noGrp="1"/>
          </p:cNvSpPr>
          <p:nvPr/>
        </p:nvSpPr>
        <p:spPr>
          <a:xfrm>
            <a:off x="21857956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50" name="Прямоугольник 249">
            <a:extLst>
              <a:ext uri="{FF2B5EF4-FFF2-40B4-BE49-F238E27FC236}">
                <a16:creationId xmlns:a16="http://schemas.microsoft.com/office/drawing/2014/main" id="{B31B66C5-1A4E-4F76-9F6C-349AFE841BA4}"/>
              </a:ext>
            </a:extLst>
          </p:cNvPr>
          <p:cNvSpPr>
            <a:spLocks noGrp="1"/>
          </p:cNvSpPr>
          <p:nvPr/>
        </p:nvSpPr>
        <p:spPr>
          <a:xfrm>
            <a:off x="19682971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0E804468-8D8D-4E30-A104-ED50BE3BC02E}"/>
              </a:ext>
            </a:extLst>
          </p:cNvPr>
          <p:cNvSpPr>
            <a:spLocks noGrp="1"/>
          </p:cNvSpPr>
          <p:nvPr/>
        </p:nvSpPr>
        <p:spPr>
          <a:xfrm>
            <a:off x="19676831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252" name="Прямоугольник 251">
            <a:extLst>
              <a:ext uri="{FF2B5EF4-FFF2-40B4-BE49-F238E27FC236}">
                <a16:creationId xmlns:a16="http://schemas.microsoft.com/office/drawing/2014/main" id="{BEA3C198-6E1A-4B2A-A5B6-E2F97F5887C3}"/>
              </a:ext>
            </a:extLst>
          </p:cNvPr>
          <p:cNvSpPr>
            <a:spLocks noGrp="1"/>
          </p:cNvSpPr>
          <p:nvPr/>
        </p:nvSpPr>
        <p:spPr>
          <a:xfrm>
            <a:off x="19676791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65,6 млн ₽</a:t>
            </a: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31AC224C-0BC4-41D1-83A9-A373D388C0C4}"/>
              </a:ext>
            </a:extLst>
          </p:cNvPr>
          <p:cNvSpPr>
            <a:spLocks noGrp="1"/>
          </p:cNvSpPr>
          <p:nvPr/>
        </p:nvSpPr>
        <p:spPr>
          <a:xfrm>
            <a:off x="19682970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1BBA1EC3-CA3A-42B9-9C81-3381A25B1429}"/>
              </a:ext>
            </a:extLst>
          </p:cNvPr>
          <p:cNvSpPr>
            <a:spLocks noGrp="1"/>
          </p:cNvSpPr>
          <p:nvPr/>
        </p:nvSpPr>
        <p:spPr>
          <a:xfrm>
            <a:off x="19682969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25%</a:t>
            </a:r>
          </a:p>
        </p:txBody>
      </p:sp>
      <p:sp>
        <p:nvSpPr>
          <p:cNvPr id="255" name="Прямоугольник 254">
            <a:extLst>
              <a:ext uri="{FF2B5EF4-FFF2-40B4-BE49-F238E27FC236}">
                <a16:creationId xmlns:a16="http://schemas.microsoft.com/office/drawing/2014/main" id="{D61FE4DE-6206-478C-B3CD-45A9430200BC}"/>
              </a:ext>
            </a:extLst>
          </p:cNvPr>
          <p:cNvSpPr>
            <a:spLocks noGrp="1"/>
          </p:cNvSpPr>
          <p:nvPr/>
        </p:nvSpPr>
        <p:spPr>
          <a:xfrm>
            <a:off x="20382391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25%</a:t>
            </a: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E1F1703-4A8D-4F98-A23D-8C9BC0E9347A}"/>
              </a:ext>
            </a:extLst>
          </p:cNvPr>
          <p:cNvSpPr>
            <a:spLocks noGrp="1"/>
          </p:cNvSpPr>
          <p:nvPr/>
        </p:nvSpPr>
        <p:spPr>
          <a:xfrm>
            <a:off x="21016694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50%</a:t>
            </a:r>
          </a:p>
        </p:txBody>
      </p:sp>
      <p:sp>
        <p:nvSpPr>
          <p:cNvPr id="262" name="Прямоугольник: скругленные углы 261">
            <a:extLst>
              <a:ext uri="{FF2B5EF4-FFF2-40B4-BE49-F238E27FC236}">
                <a16:creationId xmlns:a16="http://schemas.microsoft.com/office/drawing/2014/main" id="{347796C1-F9EA-4586-B454-A12C355AF2E4}"/>
              </a:ext>
            </a:extLst>
          </p:cNvPr>
          <p:cNvSpPr>
            <a:spLocks noGrp="1"/>
          </p:cNvSpPr>
          <p:nvPr/>
        </p:nvSpPr>
        <p:spPr>
          <a:xfrm>
            <a:off x="17977672" y="4453090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173D31"/>
          </a:solidFill>
          <a:ln w="0">
            <a:noFill/>
          </a:ln>
        </p:spPr>
      </p:sp>
      <p:sp>
        <p:nvSpPr>
          <p:cNvPr id="263" name="Прямоугольник 262">
            <a:extLst>
              <a:ext uri="{FF2B5EF4-FFF2-40B4-BE49-F238E27FC236}">
                <a16:creationId xmlns:a16="http://schemas.microsoft.com/office/drawing/2014/main" id="{5BA6D39F-F7D9-4DF8-AFA6-0067BDFA35CE}"/>
              </a:ext>
            </a:extLst>
          </p:cNvPr>
          <p:cNvSpPr>
            <a:spLocks noGrp="1"/>
          </p:cNvSpPr>
          <p:nvPr/>
        </p:nvSpPr>
        <p:spPr>
          <a:xfrm>
            <a:off x="17918466" y="4329405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9B9B"/>
                </a:solidFill>
                <a:latin typeface="Arial"/>
                <a:ea typeface="Arial"/>
                <a:cs typeface="Arial"/>
              </a:defRPr>
            </a:pPr>
            <a:r>
              <a:rPr lang="en-US" sz="1200" b="1" kern="1200" dirty="0">
                <a:solidFill>
                  <a:srgbClr val="79E6A7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100</a:t>
            </a:r>
            <a:r>
              <a:rPr lang="ru-RU" sz="1200" b="1" kern="1200" dirty="0">
                <a:solidFill>
                  <a:srgbClr val="79E6A7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% закрыто</a:t>
            </a:r>
          </a:p>
        </p:txBody>
      </p:sp>
      <p:sp>
        <p:nvSpPr>
          <p:cNvPr id="265" name="Прямоугольник: скругленные углы 264">
            <a:extLst>
              <a:ext uri="{FF2B5EF4-FFF2-40B4-BE49-F238E27FC236}">
                <a16:creationId xmlns:a16="http://schemas.microsoft.com/office/drawing/2014/main" id="{A7DA284C-62D1-49F6-976A-EA9B07137CF8}"/>
              </a:ext>
            </a:extLst>
          </p:cNvPr>
          <p:cNvSpPr>
            <a:spLocks noGrp="1"/>
          </p:cNvSpPr>
          <p:nvPr/>
        </p:nvSpPr>
        <p:spPr>
          <a:xfrm>
            <a:off x="21685075" y="4453090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493A24">
              <a:alpha val="57000"/>
            </a:srgbClr>
          </a:solidFill>
          <a:ln w="0">
            <a:noFill/>
          </a:ln>
        </p:spPr>
      </p:sp>
      <p:sp>
        <p:nvSpPr>
          <p:cNvPr id="266" name="Прямоугольник 265">
            <a:extLst>
              <a:ext uri="{FF2B5EF4-FFF2-40B4-BE49-F238E27FC236}">
                <a16:creationId xmlns:a16="http://schemas.microsoft.com/office/drawing/2014/main" id="{1272277C-7C28-43B5-9452-F8720EA9F9BD}"/>
              </a:ext>
            </a:extLst>
          </p:cNvPr>
          <p:cNvSpPr>
            <a:spLocks noGrp="1"/>
          </p:cNvSpPr>
          <p:nvPr/>
        </p:nvSpPr>
        <p:spPr>
          <a:xfrm>
            <a:off x="21625869" y="4329405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D071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25</a:t>
            </a:r>
            <a:r>
              <a:rPr lang="ru-RU" sz="1200" b="1" dirty="0">
                <a:solidFill>
                  <a:srgbClr val="FFD071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% закрыто</a:t>
            </a:r>
          </a:p>
        </p:txBody>
      </p:sp>
      <p:sp>
        <p:nvSpPr>
          <p:cNvPr id="267" name="Прямоугольник: скругленные углы 266">
            <a:extLst>
              <a:ext uri="{FF2B5EF4-FFF2-40B4-BE49-F238E27FC236}">
                <a16:creationId xmlns:a16="http://schemas.microsoft.com/office/drawing/2014/main" id="{D83AD13F-FE9F-4273-95E9-0E145D4B4BC8}"/>
              </a:ext>
            </a:extLst>
          </p:cNvPr>
          <p:cNvSpPr>
            <a:spLocks noGrp="1"/>
          </p:cNvSpPr>
          <p:nvPr/>
        </p:nvSpPr>
        <p:spPr>
          <a:xfrm>
            <a:off x="4627242" y="7019152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68" name="Прямоугольник 267">
            <a:extLst>
              <a:ext uri="{FF2B5EF4-FFF2-40B4-BE49-F238E27FC236}">
                <a16:creationId xmlns:a16="http://schemas.microsoft.com/office/drawing/2014/main" id="{2E8167AF-69A0-43A9-BE4F-BE759DE1B303}"/>
              </a:ext>
            </a:extLst>
          </p:cNvPr>
          <p:cNvSpPr>
            <a:spLocks noGrp="1"/>
          </p:cNvSpPr>
          <p:nvPr/>
        </p:nvSpPr>
        <p:spPr>
          <a:xfrm>
            <a:off x="4627241" y="7019152"/>
            <a:ext cx="1404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69" name="Прямоугольник 268">
            <a:extLst>
              <a:ext uri="{FF2B5EF4-FFF2-40B4-BE49-F238E27FC236}">
                <a16:creationId xmlns:a16="http://schemas.microsoft.com/office/drawing/2014/main" id="{105A30B6-B829-4EFA-A575-8F31908D73D1}"/>
              </a:ext>
            </a:extLst>
          </p:cNvPr>
          <p:cNvSpPr>
            <a:spLocks noGrp="1"/>
          </p:cNvSpPr>
          <p:nvPr/>
        </p:nvSpPr>
        <p:spPr>
          <a:xfrm>
            <a:off x="5995413" y="7019152"/>
            <a:ext cx="324000" cy="85725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270" name="Прямоугольник 269">
            <a:extLst>
              <a:ext uri="{FF2B5EF4-FFF2-40B4-BE49-F238E27FC236}">
                <a16:creationId xmlns:a16="http://schemas.microsoft.com/office/drawing/2014/main" id="{3EA53379-5347-470D-BD39-38640A59838E}"/>
              </a:ext>
            </a:extLst>
          </p:cNvPr>
          <p:cNvSpPr>
            <a:spLocks noGrp="1"/>
          </p:cNvSpPr>
          <p:nvPr/>
        </p:nvSpPr>
        <p:spPr>
          <a:xfrm>
            <a:off x="6256016" y="7019152"/>
            <a:ext cx="1764000" cy="85725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271" name="Прямоугольник: скругленные углы 270">
            <a:extLst>
              <a:ext uri="{FF2B5EF4-FFF2-40B4-BE49-F238E27FC236}">
                <a16:creationId xmlns:a16="http://schemas.microsoft.com/office/drawing/2014/main" id="{C4F12407-5999-46AD-8456-DF3131B140DC}"/>
              </a:ext>
            </a:extLst>
          </p:cNvPr>
          <p:cNvSpPr>
            <a:spLocks noGrp="1"/>
          </p:cNvSpPr>
          <p:nvPr/>
        </p:nvSpPr>
        <p:spPr>
          <a:xfrm>
            <a:off x="8279527" y="7030139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72" name="Прямоугольник 271">
            <a:extLst>
              <a:ext uri="{FF2B5EF4-FFF2-40B4-BE49-F238E27FC236}">
                <a16:creationId xmlns:a16="http://schemas.microsoft.com/office/drawing/2014/main" id="{31FA9E05-E30D-4349-B03D-00F816152F62}"/>
              </a:ext>
            </a:extLst>
          </p:cNvPr>
          <p:cNvSpPr>
            <a:spLocks noGrp="1"/>
          </p:cNvSpPr>
          <p:nvPr/>
        </p:nvSpPr>
        <p:spPr>
          <a:xfrm>
            <a:off x="8279527" y="7030139"/>
            <a:ext cx="1548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73" name="Прямоугольник 272">
            <a:extLst>
              <a:ext uri="{FF2B5EF4-FFF2-40B4-BE49-F238E27FC236}">
                <a16:creationId xmlns:a16="http://schemas.microsoft.com/office/drawing/2014/main" id="{9F5C9759-E0B7-48AD-8487-CC4DBE10D550}"/>
              </a:ext>
            </a:extLst>
          </p:cNvPr>
          <p:cNvSpPr>
            <a:spLocks noGrp="1"/>
          </p:cNvSpPr>
          <p:nvPr/>
        </p:nvSpPr>
        <p:spPr>
          <a:xfrm>
            <a:off x="9827527" y="7030139"/>
            <a:ext cx="1361322" cy="85725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274" name="Прямоугольник 273">
            <a:extLst>
              <a:ext uri="{FF2B5EF4-FFF2-40B4-BE49-F238E27FC236}">
                <a16:creationId xmlns:a16="http://schemas.microsoft.com/office/drawing/2014/main" id="{02436E45-C100-41E2-BEC2-1FB14BB6D8C4}"/>
              </a:ext>
            </a:extLst>
          </p:cNvPr>
          <p:cNvSpPr>
            <a:spLocks noGrp="1"/>
          </p:cNvSpPr>
          <p:nvPr/>
        </p:nvSpPr>
        <p:spPr>
          <a:xfrm>
            <a:off x="11191851" y="7030139"/>
            <a:ext cx="504000" cy="85725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275" name="Прямоугольник: скругленные углы 274">
            <a:extLst>
              <a:ext uri="{FF2B5EF4-FFF2-40B4-BE49-F238E27FC236}">
                <a16:creationId xmlns:a16="http://schemas.microsoft.com/office/drawing/2014/main" id="{4C7EF585-B7DA-4C74-BA65-780A2576A2A3}"/>
              </a:ext>
            </a:extLst>
          </p:cNvPr>
          <p:cNvSpPr>
            <a:spLocks noGrp="1"/>
          </p:cNvSpPr>
          <p:nvPr/>
        </p:nvSpPr>
        <p:spPr>
          <a:xfrm>
            <a:off x="12244792" y="7034239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76" name="Прямоугольник 275">
            <a:extLst>
              <a:ext uri="{FF2B5EF4-FFF2-40B4-BE49-F238E27FC236}">
                <a16:creationId xmlns:a16="http://schemas.microsoft.com/office/drawing/2014/main" id="{60976D8C-ED9D-4A4A-8F37-07698F0799F4}"/>
              </a:ext>
            </a:extLst>
          </p:cNvPr>
          <p:cNvSpPr>
            <a:spLocks noGrp="1"/>
          </p:cNvSpPr>
          <p:nvPr/>
        </p:nvSpPr>
        <p:spPr>
          <a:xfrm>
            <a:off x="12244792" y="7034239"/>
            <a:ext cx="756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88AD3AD5-26DD-4E42-BDC6-27CBE4596CA9}"/>
              </a:ext>
            </a:extLst>
          </p:cNvPr>
          <p:cNvSpPr>
            <a:spLocks noGrp="1"/>
          </p:cNvSpPr>
          <p:nvPr/>
        </p:nvSpPr>
        <p:spPr>
          <a:xfrm>
            <a:off x="12998465" y="7034239"/>
            <a:ext cx="2664000" cy="85725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278" name="Прямоугольник: скругленные углы 277">
            <a:extLst>
              <a:ext uri="{FF2B5EF4-FFF2-40B4-BE49-F238E27FC236}">
                <a16:creationId xmlns:a16="http://schemas.microsoft.com/office/drawing/2014/main" id="{9D87CB66-86E8-4A33-9155-982BACAD3D18}"/>
              </a:ext>
            </a:extLst>
          </p:cNvPr>
          <p:cNvSpPr>
            <a:spLocks noGrp="1"/>
          </p:cNvSpPr>
          <p:nvPr/>
        </p:nvSpPr>
        <p:spPr>
          <a:xfrm>
            <a:off x="15981018" y="7026977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79" name="Прямоугольник 278">
            <a:extLst>
              <a:ext uri="{FF2B5EF4-FFF2-40B4-BE49-F238E27FC236}">
                <a16:creationId xmlns:a16="http://schemas.microsoft.com/office/drawing/2014/main" id="{B051AD55-5B51-4EDC-88E6-12CF306B06AF}"/>
              </a:ext>
            </a:extLst>
          </p:cNvPr>
          <p:cNvSpPr>
            <a:spLocks noGrp="1"/>
          </p:cNvSpPr>
          <p:nvPr/>
        </p:nvSpPr>
        <p:spPr>
          <a:xfrm>
            <a:off x="15981017" y="7026977"/>
            <a:ext cx="1692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80" name="Прямоугольник 279">
            <a:extLst>
              <a:ext uri="{FF2B5EF4-FFF2-40B4-BE49-F238E27FC236}">
                <a16:creationId xmlns:a16="http://schemas.microsoft.com/office/drawing/2014/main" id="{E5CAF3D8-DE50-4521-B756-B62174C9FC52}"/>
              </a:ext>
            </a:extLst>
          </p:cNvPr>
          <p:cNvSpPr>
            <a:spLocks noGrp="1"/>
          </p:cNvSpPr>
          <p:nvPr/>
        </p:nvSpPr>
        <p:spPr>
          <a:xfrm>
            <a:off x="17667028" y="7026977"/>
            <a:ext cx="1692000" cy="85725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281" name="Прямоугольник: скругленные углы 280">
            <a:extLst>
              <a:ext uri="{FF2B5EF4-FFF2-40B4-BE49-F238E27FC236}">
                <a16:creationId xmlns:a16="http://schemas.microsoft.com/office/drawing/2014/main" id="{251C3EE0-9786-4F87-864F-F8BD4254DD37}"/>
              </a:ext>
            </a:extLst>
          </p:cNvPr>
          <p:cNvSpPr>
            <a:spLocks noGrp="1"/>
          </p:cNvSpPr>
          <p:nvPr/>
        </p:nvSpPr>
        <p:spPr>
          <a:xfrm>
            <a:off x="19676791" y="7027650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82" name="Прямоугольник 281">
            <a:extLst>
              <a:ext uri="{FF2B5EF4-FFF2-40B4-BE49-F238E27FC236}">
                <a16:creationId xmlns:a16="http://schemas.microsoft.com/office/drawing/2014/main" id="{D908C7F3-EE39-49EE-908D-B1C3BB2BBB66}"/>
              </a:ext>
            </a:extLst>
          </p:cNvPr>
          <p:cNvSpPr>
            <a:spLocks noGrp="1"/>
          </p:cNvSpPr>
          <p:nvPr/>
        </p:nvSpPr>
        <p:spPr>
          <a:xfrm>
            <a:off x="19676791" y="7027650"/>
            <a:ext cx="864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83" name="Прямоугольник 282">
            <a:extLst>
              <a:ext uri="{FF2B5EF4-FFF2-40B4-BE49-F238E27FC236}">
                <a16:creationId xmlns:a16="http://schemas.microsoft.com/office/drawing/2014/main" id="{6DE2F0FB-46D5-4AD3-AAC1-6728C3B925C7}"/>
              </a:ext>
            </a:extLst>
          </p:cNvPr>
          <p:cNvSpPr>
            <a:spLocks noGrp="1"/>
          </p:cNvSpPr>
          <p:nvPr/>
        </p:nvSpPr>
        <p:spPr>
          <a:xfrm>
            <a:off x="20539322" y="7027650"/>
            <a:ext cx="864000" cy="85725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284" name="Прямоугольник 283">
            <a:extLst>
              <a:ext uri="{FF2B5EF4-FFF2-40B4-BE49-F238E27FC236}">
                <a16:creationId xmlns:a16="http://schemas.microsoft.com/office/drawing/2014/main" id="{CC3C56C8-2E44-48C0-9716-5979CE04ABAF}"/>
              </a:ext>
            </a:extLst>
          </p:cNvPr>
          <p:cNvSpPr>
            <a:spLocks noGrp="1"/>
          </p:cNvSpPr>
          <p:nvPr/>
        </p:nvSpPr>
        <p:spPr>
          <a:xfrm>
            <a:off x="21397144" y="7027650"/>
            <a:ext cx="1692000" cy="85725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286" name="Text 6">
            <a:extLst>
              <a:ext uri="{FF2B5EF4-FFF2-40B4-BE49-F238E27FC236}">
                <a16:creationId xmlns:a16="http://schemas.microsoft.com/office/drawing/2014/main" id="{E35453B5-6EAE-422E-ACEB-17D6504E393F}"/>
              </a:ext>
            </a:extLst>
          </p:cNvPr>
          <p:cNvSpPr/>
          <p:nvPr/>
        </p:nvSpPr>
        <p:spPr>
          <a:xfrm>
            <a:off x="564242" y="419381"/>
            <a:ext cx="19283795" cy="63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ru-RU" sz="4498" b="1" dirty="0">
                <a:solidFill>
                  <a:srgbClr val="F4F1E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Статистика по инцидентам ВК за 5 мес. 2026</a:t>
            </a:r>
          </a:p>
        </p:txBody>
      </p:sp>
      <p:sp>
        <p:nvSpPr>
          <p:cNvPr id="287" name="Shape 8">
            <a:extLst>
              <a:ext uri="{FF2B5EF4-FFF2-40B4-BE49-F238E27FC236}">
                <a16:creationId xmlns:a16="http://schemas.microsoft.com/office/drawing/2014/main" id="{92DB6C90-7CAB-4CCF-85A2-869334A76E0A}"/>
              </a:ext>
            </a:extLst>
          </p:cNvPr>
          <p:cNvSpPr/>
          <p:nvPr/>
        </p:nvSpPr>
        <p:spPr>
          <a:xfrm>
            <a:off x="795821" y="2331183"/>
            <a:ext cx="3276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8" name="Text 9">
            <a:extLst>
              <a:ext uri="{FF2B5EF4-FFF2-40B4-BE49-F238E27FC236}">
                <a16:creationId xmlns:a16="http://schemas.microsoft.com/office/drawing/2014/main" id="{AB585AD1-D372-4DDE-97FA-7B39F4A9BDE2}"/>
              </a:ext>
            </a:extLst>
          </p:cNvPr>
          <p:cNvSpPr/>
          <p:nvPr/>
        </p:nvSpPr>
        <p:spPr>
          <a:xfrm>
            <a:off x="975898" y="2591682"/>
            <a:ext cx="698627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Autofit/>
          </a:bodyPr>
          <a:lstStyle/>
          <a:p>
            <a:r>
              <a:rPr lang="ru-RU" sz="3600" b="1" dirty="0">
                <a:solidFill>
                  <a:srgbClr val="154B3C"/>
                </a:solidFill>
                <a:latin typeface="Georgia" pitchFamily="34" charset="0"/>
              </a:rPr>
              <a:t>51</a:t>
            </a:r>
            <a:endParaRPr lang="en-US" sz="3600" dirty="0"/>
          </a:p>
        </p:txBody>
      </p:sp>
      <p:sp>
        <p:nvSpPr>
          <p:cNvPr id="289" name="Text 10">
            <a:extLst>
              <a:ext uri="{FF2B5EF4-FFF2-40B4-BE49-F238E27FC236}">
                <a16:creationId xmlns:a16="http://schemas.microsoft.com/office/drawing/2014/main" id="{0A048E46-C244-4F65-A4B8-1FE379438BA3}"/>
              </a:ext>
            </a:extLst>
          </p:cNvPr>
          <p:cNvSpPr/>
          <p:nvPr/>
        </p:nvSpPr>
        <p:spPr>
          <a:xfrm>
            <a:off x="1642401" y="2490815"/>
            <a:ext cx="2244909" cy="683918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всего</a:t>
            </a:r>
            <a:r>
              <a:rPr lang="en-US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 </a:t>
            </a:r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инцидентов</a:t>
            </a:r>
            <a:r>
              <a:rPr lang="en-US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 </a:t>
            </a:r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за 5 </a:t>
            </a:r>
            <a:r>
              <a:rPr lang="ru-RU" b="1" dirty="0" err="1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мес</a:t>
            </a:r>
            <a:r>
              <a:rPr lang="en-US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 2026</a:t>
            </a:r>
            <a:endParaRPr lang="en-US" b="1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90" name="Shape 11">
            <a:extLst>
              <a:ext uri="{FF2B5EF4-FFF2-40B4-BE49-F238E27FC236}">
                <a16:creationId xmlns:a16="http://schemas.microsoft.com/office/drawing/2014/main" id="{AC57D621-77EE-4C35-B2D0-9D4CEBDE5C07}"/>
              </a:ext>
            </a:extLst>
          </p:cNvPr>
          <p:cNvSpPr/>
          <p:nvPr/>
        </p:nvSpPr>
        <p:spPr>
          <a:xfrm>
            <a:off x="4357389" y="2344608"/>
            <a:ext cx="3276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sp>
      <p:sp>
        <p:nvSpPr>
          <p:cNvPr id="291" name="Text 12">
            <a:extLst>
              <a:ext uri="{FF2B5EF4-FFF2-40B4-BE49-F238E27FC236}">
                <a16:creationId xmlns:a16="http://schemas.microsoft.com/office/drawing/2014/main" id="{330A5645-73C5-4382-80FD-15D01B66CCAB}"/>
              </a:ext>
            </a:extLst>
          </p:cNvPr>
          <p:cNvSpPr/>
          <p:nvPr/>
        </p:nvSpPr>
        <p:spPr>
          <a:xfrm>
            <a:off x="4563613" y="2550117"/>
            <a:ext cx="698627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Autofit/>
          </a:bodyPr>
          <a:lstStyle/>
          <a:p>
            <a:r>
              <a:rPr lang="en-US" sz="3600" b="1" dirty="0">
                <a:solidFill>
                  <a:srgbClr val="154B3C"/>
                </a:solidFill>
                <a:latin typeface="Georgia" pitchFamily="34" charset="0"/>
              </a:rPr>
              <a:t>3</a:t>
            </a:r>
            <a:r>
              <a:rPr lang="ru-RU" sz="3600" b="1" dirty="0">
                <a:solidFill>
                  <a:srgbClr val="154B3C"/>
                </a:solidFill>
                <a:latin typeface="Georgia" pitchFamily="34" charset="0"/>
              </a:rPr>
              <a:t>3</a:t>
            </a:r>
            <a:endParaRPr lang="en-US" sz="3600" dirty="0"/>
          </a:p>
        </p:txBody>
      </p:sp>
      <p:sp>
        <p:nvSpPr>
          <p:cNvPr id="292" name="Text 13">
            <a:extLst>
              <a:ext uri="{FF2B5EF4-FFF2-40B4-BE49-F238E27FC236}">
                <a16:creationId xmlns:a16="http://schemas.microsoft.com/office/drawing/2014/main" id="{1574E583-8E39-4E4C-BC61-B7E3CF5BC8BD}"/>
              </a:ext>
            </a:extLst>
          </p:cNvPr>
          <p:cNvSpPr/>
          <p:nvPr/>
        </p:nvSpPr>
        <p:spPr>
          <a:xfrm>
            <a:off x="5377449" y="2587549"/>
            <a:ext cx="2201018" cy="535280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 lnSpcReduction="10000"/>
          </a:bodyPr>
          <a:lstStyle/>
          <a:p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остаются в работе</a:t>
            </a:r>
          </a:p>
        </p:txBody>
      </p:sp>
      <p:sp>
        <p:nvSpPr>
          <p:cNvPr id="293" name="Shape 14">
            <a:extLst>
              <a:ext uri="{FF2B5EF4-FFF2-40B4-BE49-F238E27FC236}">
                <a16:creationId xmlns:a16="http://schemas.microsoft.com/office/drawing/2014/main" id="{AE86A782-1259-4AB3-A4DB-03158E69104D}"/>
              </a:ext>
            </a:extLst>
          </p:cNvPr>
          <p:cNvSpPr/>
          <p:nvPr/>
        </p:nvSpPr>
        <p:spPr>
          <a:xfrm>
            <a:off x="7898944" y="2341121"/>
            <a:ext cx="3276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sp>
      <p:sp>
        <p:nvSpPr>
          <p:cNvPr id="294" name="Text 15">
            <a:extLst>
              <a:ext uri="{FF2B5EF4-FFF2-40B4-BE49-F238E27FC236}">
                <a16:creationId xmlns:a16="http://schemas.microsoft.com/office/drawing/2014/main" id="{6CB70078-DE29-4160-835F-6018F21CE815}"/>
              </a:ext>
            </a:extLst>
          </p:cNvPr>
          <p:cNvSpPr/>
          <p:nvPr/>
        </p:nvSpPr>
        <p:spPr>
          <a:xfrm>
            <a:off x="8144751" y="2650768"/>
            <a:ext cx="536458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 fontScale="92500" lnSpcReduction="20000"/>
          </a:bodyPr>
          <a:lstStyle/>
          <a:p>
            <a:r>
              <a:rPr lang="ru-RU" sz="3200" b="1" dirty="0">
                <a:solidFill>
                  <a:srgbClr val="154B3C"/>
                </a:solidFill>
                <a:latin typeface="Georgia" pitchFamily="34" charset="0"/>
              </a:rPr>
              <a:t>18</a:t>
            </a:r>
            <a:endParaRPr lang="en-US" sz="3200" dirty="0"/>
          </a:p>
        </p:txBody>
      </p:sp>
      <p:sp>
        <p:nvSpPr>
          <p:cNvPr id="295" name="Text 16">
            <a:extLst>
              <a:ext uri="{FF2B5EF4-FFF2-40B4-BE49-F238E27FC236}">
                <a16:creationId xmlns:a16="http://schemas.microsoft.com/office/drawing/2014/main" id="{7047F7EA-6B8B-46AC-A64D-AD55FC7444A4}"/>
              </a:ext>
            </a:extLst>
          </p:cNvPr>
          <p:cNvSpPr/>
          <p:nvPr/>
        </p:nvSpPr>
        <p:spPr>
          <a:xfrm>
            <a:off x="8785971" y="2575332"/>
            <a:ext cx="2124523" cy="544010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закрыты</a:t>
            </a:r>
            <a:endParaRPr lang="ru-RU" b="1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96" name="Shape 17">
            <a:extLst>
              <a:ext uri="{FF2B5EF4-FFF2-40B4-BE49-F238E27FC236}">
                <a16:creationId xmlns:a16="http://schemas.microsoft.com/office/drawing/2014/main" id="{18EAD04F-01FE-44D8-9C10-8C1039F94B89}"/>
              </a:ext>
            </a:extLst>
          </p:cNvPr>
          <p:cNvSpPr/>
          <p:nvPr/>
        </p:nvSpPr>
        <p:spPr>
          <a:xfrm>
            <a:off x="11460512" y="2351300"/>
            <a:ext cx="3276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sp>
      <p:sp>
        <p:nvSpPr>
          <p:cNvPr id="297" name="Text 18">
            <a:extLst>
              <a:ext uri="{FF2B5EF4-FFF2-40B4-BE49-F238E27FC236}">
                <a16:creationId xmlns:a16="http://schemas.microsoft.com/office/drawing/2014/main" id="{C9AF6520-AD6C-4BF7-A2F1-3EF40D18C101}"/>
              </a:ext>
            </a:extLst>
          </p:cNvPr>
          <p:cNvSpPr/>
          <p:nvPr/>
        </p:nvSpPr>
        <p:spPr>
          <a:xfrm>
            <a:off x="11585419" y="2573809"/>
            <a:ext cx="698627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Autofit/>
          </a:bodyPr>
          <a:lstStyle/>
          <a:p>
            <a:r>
              <a:rPr lang="ru-RU" sz="3600" b="1" dirty="0">
                <a:solidFill>
                  <a:srgbClr val="154B3C"/>
                </a:solidFill>
                <a:latin typeface="Georgia" pitchFamily="34" charset="0"/>
              </a:rPr>
              <a:t>25</a:t>
            </a:r>
            <a:endParaRPr lang="en-US" sz="3600" dirty="0"/>
          </a:p>
        </p:txBody>
      </p:sp>
      <p:sp>
        <p:nvSpPr>
          <p:cNvPr id="298" name="Text 19">
            <a:extLst>
              <a:ext uri="{FF2B5EF4-FFF2-40B4-BE49-F238E27FC236}">
                <a16:creationId xmlns:a16="http://schemas.microsoft.com/office/drawing/2014/main" id="{FF940EFC-7EA2-498A-ABCC-20F473417219}"/>
              </a:ext>
            </a:extLst>
          </p:cNvPr>
          <p:cNvSpPr/>
          <p:nvPr/>
        </p:nvSpPr>
        <p:spPr>
          <a:xfrm>
            <a:off x="12351098" y="2509821"/>
            <a:ext cx="2080385" cy="632545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 fontScale="92500"/>
          </a:bodyPr>
          <a:lstStyle/>
          <a:p>
            <a:r>
              <a:rPr lang="ru-RU" sz="1819" b="1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высокий уровень критичности</a:t>
            </a:r>
            <a:endParaRPr lang="ru-RU" sz="1819" b="1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99" name="Shape 20">
            <a:extLst>
              <a:ext uri="{FF2B5EF4-FFF2-40B4-BE49-F238E27FC236}">
                <a16:creationId xmlns:a16="http://schemas.microsoft.com/office/drawing/2014/main" id="{D0FCCF38-A22D-4CBC-B30C-275C99DF587A}"/>
              </a:ext>
            </a:extLst>
          </p:cNvPr>
          <p:cNvSpPr/>
          <p:nvPr/>
        </p:nvSpPr>
        <p:spPr>
          <a:xfrm>
            <a:off x="14955031" y="2351367"/>
            <a:ext cx="3413392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sp>
      <p:sp>
        <p:nvSpPr>
          <p:cNvPr id="300" name="Text 21">
            <a:extLst>
              <a:ext uri="{FF2B5EF4-FFF2-40B4-BE49-F238E27FC236}">
                <a16:creationId xmlns:a16="http://schemas.microsoft.com/office/drawing/2014/main" id="{6E76AE9C-5D23-4CD2-9820-D201C0A281CF}"/>
              </a:ext>
            </a:extLst>
          </p:cNvPr>
          <p:cNvSpPr/>
          <p:nvPr/>
        </p:nvSpPr>
        <p:spPr>
          <a:xfrm>
            <a:off x="15366023" y="2618304"/>
            <a:ext cx="698627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 fontScale="92500" lnSpcReduction="20000"/>
          </a:bodyPr>
          <a:lstStyle/>
          <a:p>
            <a:endParaRPr lang="en-US" sz="3200" dirty="0"/>
          </a:p>
        </p:txBody>
      </p:sp>
      <p:sp>
        <p:nvSpPr>
          <p:cNvPr id="301" name="Text 22">
            <a:extLst>
              <a:ext uri="{FF2B5EF4-FFF2-40B4-BE49-F238E27FC236}">
                <a16:creationId xmlns:a16="http://schemas.microsoft.com/office/drawing/2014/main" id="{3042FC89-F7A8-4F7B-869C-08D82B497B81}"/>
              </a:ext>
            </a:extLst>
          </p:cNvPr>
          <p:cNvSpPr/>
          <p:nvPr/>
        </p:nvSpPr>
        <p:spPr>
          <a:xfrm>
            <a:off x="15111142" y="2447845"/>
            <a:ext cx="3057494" cy="789850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sz="1819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Самый активный ЦЭ – </a:t>
            </a:r>
          </a:p>
          <a:p>
            <a:r>
              <a:rPr lang="ru-RU" sz="1819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 </a:t>
            </a:r>
            <a:r>
              <a:rPr lang="ru-RU" sz="2400" b="1" dirty="0">
                <a:solidFill>
                  <a:srgbClr val="154B3C"/>
                </a:solidFill>
                <a:latin typeface="Georgia" pitchFamily="34" charset="0"/>
              </a:rPr>
              <a:t>БЕ Импорт</a:t>
            </a:r>
          </a:p>
        </p:txBody>
      </p:sp>
      <p:sp>
        <p:nvSpPr>
          <p:cNvPr id="302" name="Shape 20">
            <a:extLst>
              <a:ext uri="{FF2B5EF4-FFF2-40B4-BE49-F238E27FC236}">
                <a16:creationId xmlns:a16="http://schemas.microsoft.com/office/drawing/2014/main" id="{101512ED-A800-4E87-8C85-96A30304F25B}"/>
              </a:ext>
            </a:extLst>
          </p:cNvPr>
          <p:cNvSpPr/>
          <p:nvPr/>
        </p:nvSpPr>
        <p:spPr>
          <a:xfrm>
            <a:off x="18743052" y="2279824"/>
            <a:ext cx="4349335" cy="1055865"/>
          </a:xfrm>
          <a:prstGeom prst="rect">
            <a:avLst/>
          </a:prstGeom>
          <a:ln w="6350">
            <a:solidFill>
              <a:srgbClr val="FF0000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303" name="Text 21">
            <a:extLst>
              <a:ext uri="{FF2B5EF4-FFF2-40B4-BE49-F238E27FC236}">
                <a16:creationId xmlns:a16="http://schemas.microsoft.com/office/drawing/2014/main" id="{665BA3BE-71F7-42FB-9792-78BF41C08831}"/>
              </a:ext>
            </a:extLst>
          </p:cNvPr>
          <p:cNvSpPr/>
          <p:nvPr/>
        </p:nvSpPr>
        <p:spPr>
          <a:xfrm>
            <a:off x="18926038" y="2312085"/>
            <a:ext cx="3233315" cy="745960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sz="3200" b="1" dirty="0">
                <a:solidFill>
                  <a:srgbClr val="154B3C"/>
                </a:solidFill>
                <a:latin typeface="Georgia" pitchFamily="34" charset="0"/>
              </a:rPr>
              <a:t>3 575 млн. руб.</a:t>
            </a:r>
            <a:endParaRPr lang="en-US" sz="3200" dirty="0"/>
          </a:p>
        </p:txBody>
      </p:sp>
      <p:sp>
        <p:nvSpPr>
          <p:cNvPr id="304" name="Text 22">
            <a:extLst>
              <a:ext uri="{FF2B5EF4-FFF2-40B4-BE49-F238E27FC236}">
                <a16:creationId xmlns:a16="http://schemas.microsoft.com/office/drawing/2014/main" id="{D829F89F-C922-4967-B63E-87018FBA4A40}"/>
              </a:ext>
            </a:extLst>
          </p:cNvPr>
          <p:cNvSpPr/>
          <p:nvPr/>
        </p:nvSpPr>
        <p:spPr>
          <a:xfrm>
            <a:off x="18926038" y="2612954"/>
            <a:ext cx="3853436" cy="975978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sz="1819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Оценка влияния инцидентов</a:t>
            </a:r>
            <a:endParaRPr lang="ru-RU" sz="1819" b="1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D7FDBB8A-795C-45EF-9CB0-86F0597B12A1}"/>
              </a:ext>
            </a:extLst>
          </p:cNvPr>
          <p:cNvSpPr txBox="1"/>
          <p:nvPr/>
        </p:nvSpPr>
        <p:spPr>
          <a:xfrm>
            <a:off x="795821" y="3606541"/>
            <a:ext cx="4488632" cy="504715"/>
          </a:xfrm>
          <a:prstGeom prst="rect">
            <a:avLst/>
          </a:prstGeom>
          <a:noFill/>
        </p:spPr>
        <p:txBody>
          <a:bodyPr wrap="none" lIns="91392" tIns="36557" rIns="91392" bIns="36557">
            <a:spAutoFit/>
          </a:bodyPr>
          <a:lstStyle/>
          <a:p>
            <a:pPr algn="l">
              <a:defRPr sz="1050" b="1">
                <a:solidFill>
                  <a:srgbClr val="13294B"/>
                </a:solidFill>
                <a:latin typeface="Arial"/>
              </a:defRPr>
            </a:pPr>
            <a:r>
              <a:rPr lang="ru-RU" sz="2800" dirty="0">
                <a:solidFill>
                  <a:srgbClr val="F4F1E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Статистика по активам</a:t>
            </a:r>
          </a:p>
        </p:txBody>
      </p:sp>
      <p:sp>
        <p:nvSpPr>
          <p:cNvPr id="306" name="Rectangle 5">
            <a:extLst>
              <a:ext uri="{FF2B5EF4-FFF2-40B4-BE49-F238E27FC236}">
                <a16:creationId xmlns:a16="http://schemas.microsoft.com/office/drawing/2014/main" id="{98C369DE-3610-4701-9239-C89066A3DB0D}"/>
              </a:ext>
            </a:extLst>
          </p:cNvPr>
          <p:cNvSpPr/>
          <p:nvPr/>
        </p:nvSpPr>
        <p:spPr>
          <a:xfrm>
            <a:off x="879751" y="4119001"/>
            <a:ext cx="22248000" cy="18000"/>
          </a:xfrm>
          <a:prstGeom prst="rect">
            <a:avLst/>
          </a:prstGeom>
          <a:solidFill>
            <a:srgbClr val="FC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598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860E9A4A-21FC-4C4F-AC1F-279EBAEE715B}"/>
              </a:ext>
            </a:extLst>
          </p:cNvPr>
          <p:cNvSpPr txBox="1"/>
          <p:nvPr/>
        </p:nvSpPr>
        <p:spPr>
          <a:xfrm>
            <a:off x="795821" y="1496875"/>
            <a:ext cx="6502004" cy="504715"/>
          </a:xfrm>
          <a:prstGeom prst="rect">
            <a:avLst/>
          </a:prstGeom>
          <a:noFill/>
        </p:spPr>
        <p:txBody>
          <a:bodyPr wrap="none" lIns="91392" tIns="36557" rIns="91392" bIns="36557">
            <a:spAutoFit/>
          </a:bodyPr>
          <a:lstStyle/>
          <a:p>
            <a:pPr algn="l">
              <a:defRPr sz="1050" b="1">
                <a:solidFill>
                  <a:srgbClr val="13294B"/>
                </a:solidFill>
                <a:latin typeface="Arial"/>
              </a:defRPr>
            </a:pPr>
            <a:r>
              <a:rPr lang="ru-RU" sz="2800" dirty="0">
                <a:solidFill>
                  <a:srgbClr val="F4F1E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Общая статистика по инцидентам</a:t>
            </a:r>
          </a:p>
        </p:txBody>
      </p:sp>
      <p:sp>
        <p:nvSpPr>
          <p:cNvPr id="308" name="Rectangle 5">
            <a:extLst>
              <a:ext uri="{FF2B5EF4-FFF2-40B4-BE49-F238E27FC236}">
                <a16:creationId xmlns:a16="http://schemas.microsoft.com/office/drawing/2014/main" id="{C9BDFC1D-C258-4687-88C2-C324F04D7D4D}"/>
              </a:ext>
            </a:extLst>
          </p:cNvPr>
          <p:cNvSpPr/>
          <p:nvPr/>
        </p:nvSpPr>
        <p:spPr>
          <a:xfrm>
            <a:off x="879751" y="2009335"/>
            <a:ext cx="22248000" cy="18000"/>
          </a:xfrm>
          <a:prstGeom prst="rect">
            <a:avLst/>
          </a:prstGeom>
          <a:solidFill>
            <a:srgbClr val="FC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598"/>
          </a:p>
        </p:txBody>
      </p:sp>
      <p:sp>
        <p:nvSpPr>
          <p:cNvPr id="309" name="Прямоугольник 308">
            <a:extLst>
              <a:ext uri="{FF2B5EF4-FFF2-40B4-BE49-F238E27FC236}">
                <a16:creationId xmlns:a16="http://schemas.microsoft.com/office/drawing/2014/main" id="{312D9826-1B63-497C-8B04-FBBD93EC5DD7}"/>
              </a:ext>
            </a:extLst>
          </p:cNvPr>
          <p:cNvSpPr>
            <a:spLocks noGrp="1"/>
          </p:cNvSpPr>
          <p:nvPr/>
        </p:nvSpPr>
        <p:spPr>
          <a:xfrm>
            <a:off x="958218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311" name="Прямоугольник 310">
            <a:extLst>
              <a:ext uri="{FF2B5EF4-FFF2-40B4-BE49-F238E27FC236}">
                <a16:creationId xmlns:a16="http://schemas.microsoft.com/office/drawing/2014/main" id="{CAB1BDA2-8CD6-4A95-8E88-0AF633D61AC6}"/>
              </a:ext>
            </a:extLst>
          </p:cNvPr>
          <p:cNvSpPr>
            <a:spLocks noGrp="1"/>
          </p:cNvSpPr>
          <p:nvPr/>
        </p:nvSpPr>
        <p:spPr>
          <a:xfrm>
            <a:off x="953058" y="7016845"/>
            <a:ext cx="2124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312" name="Прямоугольник 311">
            <a:extLst>
              <a:ext uri="{FF2B5EF4-FFF2-40B4-BE49-F238E27FC236}">
                <a16:creationId xmlns:a16="http://schemas.microsoft.com/office/drawing/2014/main" id="{EF21B527-DD95-41AA-934F-DE87F5DC512F}"/>
              </a:ext>
            </a:extLst>
          </p:cNvPr>
          <p:cNvSpPr>
            <a:spLocks noGrp="1"/>
          </p:cNvSpPr>
          <p:nvPr/>
        </p:nvSpPr>
        <p:spPr>
          <a:xfrm>
            <a:off x="953058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71%</a:t>
            </a:r>
          </a:p>
        </p:txBody>
      </p:sp>
      <p:sp>
        <p:nvSpPr>
          <p:cNvPr id="313" name="Прямоугольник 312">
            <a:extLst>
              <a:ext uri="{FF2B5EF4-FFF2-40B4-BE49-F238E27FC236}">
                <a16:creationId xmlns:a16="http://schemas.microsoft.com/office/drawing/2014/main" id="{9B5BFEFE-D126-4CAE-87D9-9EA3A8C2D499}"/>
              </a:ext>
            </a:extLst>
          </p:cNvPr>
          <p:cNvSpPr>
            <a:spLocks noGrp="1"/>
          </p:cNvSpPr>
          <p:nvPr/>
        </p:nvSpPr>
        <p:spPr>
          <a:xfrm>
            <a:off x="1652480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0%</a:t>
            </a:r>
          </a:p>
        </p:txBody>
      </p:sp>
      <p:sp>
        <p:nvSpPr>
          <p:cNvPr id="317" name="Прямоугольник 316">
            <a:extLst>
              <a:ext uri="{FF2B5EF4-FFF2-40B4-BE49-F238E27FC236}">
                <a16:creationId xmlns:a16="http://schemas.microsoft.com/office/drawing/2014/main" id="{2A8A0CC7-71C5-4701-9456-3890FB8F4C6A}"/>
              </a:ext>
            </a:extLst>
          </p:cNvPr>
          <p:cNvSpPr>
            <a:spLocks noGrp="1"/>
          </p:cNvSpPr>
          <p:nvPr/>
        </p:nvSpPr>
        <p:spPr>
          <a:xfrm>
            <a:off x="957696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318" name="Прямоугольник 317">
            <a:extLst>
              <a:ext uri="{FF2B5EF4-FFF2-40B4-BE49-F238E27FC236}">
                <a16:creationId xmlns:a16="http://schemas.microsoft.com/office/drawing/2014/main" id="{5EFD1BC0-B2EB-4B61-A481-5A9CC423D418}"/>
              </a:ext>
            </a:extLst>
          </p:cNvPr>
          <p:cNvSpPr>
            <a:spLocks noGrp="1"/>
          </p:cNvSpPr>
          <p:nvPr/>
        </p:nvSpPr>
        <p:spPr>
          <a:xfrm>
            <a:off x="2101655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82B4E-3DC4-464B-9867-8BAE11AFC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80" y="8048750"/>
            <a:ext cx="22277679" cy="530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Рисунок 20" descr="Рисунок 20">
            <a:extLst>
              <a:ext uri="{FF2B5EF4-FFF2-40B4-BE49-F238E27FC236}">
                <a16:creationId xmlns:a16="http://schemas.microsoft.com/office/drawing/2014/main" id="{583A5489-E40F-4688-863F-006BACD309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5400000">
            <a:off x="5352019" y="-5327652"/>
            <a:ext cx="13716000" cy="24371304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/>
          <p:cNvSpPr txBox="1"/>
          <p:nvPr/>
        </p:nvSpPr>
        <p:spPr>
          <a:xfrm>
            <a:off x="795821" y="7286300"/>
            <a:ext cx="6728027" cy="504715"/>
          </a:xfrm>
          <a:prstGeom prst="rect">
            <a:avLst/>
          </a:prstGeom>
          <a:noFill/>
        </p:spPr>
        <p:txBody>
          <a:bodyPr wrap="none" lIns="91392" tIns="36557" rIns="91392" bIns="36557">
            <a:spAutoFit/>
          </a:bodyPr>
          <a:lstStyle/>
          <a:p>
            <a:pPr algn="l">
              <a:defRPr sz="1050" b="1">
                <a:solidFill>
                  <a:srgbClr val="13294B"/>
                </a:solidFill>
                <a:latin typeface="Arial"/>
              </a:defRPr>
            </a:pPr>
            <a:r>
              <a:rPr lang="ru-RU" sz="2800" dirty="0">
                <a:solidFill>
                  <a:srgbClr val="F4F1E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Статистка регистрации помесячно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879751" y="7811992"/>
            <a:ext cx="22205965" cy="18000"/>
          </a:xfrm>
          <a:prstGeom prst="rect">
            <a:avLst/>
          </a:prstGeom>
          <a:solidFill>
            <a:srgbClr val="FC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598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4618CDF-8196-48A1-97A7-0446532C224F}"/>
              </a:ext>
            </a:extLst>
          </p:cNvPr>
          <p:cNvSpPr>
            <a:spLocks noGrp="1"/>
          </p:cNvSpPr>
          <p:nvPr/>
        </p:nvSpPr>
        <p:spPr>
          <a:xfrm>
            <a:off x="817087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BEEAA8E-F86B-4C7E-A5E1-EE342F7DE4F9}"/>
              </a:ext>
            </a:extLst>
          </p:cNvPr>
          <p:cNvSpPr>
            <a:spLocks noGrp="1"/>
          </p:cNvSpPr>
          <p:nvPr/>
        </p:nvSpPr>
        <p:spPr>
          <a:xfrm>
            <a:off x="983938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Импорт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D8A409BB-FEAA-4D2B-952B-2F63DA027853}"/>
              </a:ext>
            </a:extLst>
          </p:cNvPr>
          <p:cNvSpPr>
            <a:spLocks noGrp="1"/>
          </p:cNvSpPr>
          <p:nvPr/>
        </p:nvSpPr>
        <p:spPr>
          <a:xfrm>
            <a:off x="2985807" y="4414532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442833">
              <a:alpha val="57000"/>
            </a:srgbClr>
          </a:solidFill>
          <a:ln w="0">
            <a:noFill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0FB261F-DE67-46F2-8DE3-46D981D201C9}"/>
              </a:ext>
            </a:extLst>
          </p:cNvPr>
          <p:cNvSpPr>
            <a:spLocks noGrp="1"/>
          </p:cNvSpPr>
          <p:nvPr/>
        </p:nvSpPr>
        <p:spPr>
          <a:xfrm>
            <a:off x="2926601" y="4290847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9B9B"/>
                </a:solidFill>
                <a:latin typeface="Arial"/>
                <a:ea typeface="Arial"/>
                <a:cs typeface="Arial"/>
              </a:defRPr>
            </a:pP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0% закрыто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37DAADF-CAED-4B9B-B391-B035D5357BF8}"/>
              </a:ext>
            </a:extLst>
          </p:cNvPr>
          <p:cNvSpPr>
            <a:spLocks noGrp="1"/>
          </p:cNvSpPr>
          <p:nvPr/>
        </p:nvSpPr>
        <p:spPr>
          <a:xfrm>
            <a:off x="984594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17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8BA4106-9E1A-4B79-AC07-7C7E7F27277D}"/>
              </a:ext>
            </a:extLst>
          </p:cNvPr>
          <p:cNvSpPr>
            <a:spLocks noGrp="1"/>
          </p:cNvSpPr>
          <p:nvPr/>
        </p:nvSpPr>
        <p:spPr>
          <a:xfrm>
            <a:off x="8335027" y="2307440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5F20AAE-7F98-49DC-B526-BD0EF5B58DE5}"/>
              </a:ext>
            </a:extLst>
          </p:cNvPr>
          <p:cNvSpPr>
            <a:spLocks noGrp="1"/>
          </p:cNvSpPr>
          <p:nvPr/>
        </p:nvSpPr>
        <p:spPr>
          <a:xfrm>
            <a:off x="2132978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0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508DA25-9506-4C10-A318-0F34F06BF535}"/>
              </a:ext>
            </a:extLst>
          </p:cNvPr>
          <p:cNvSpPr>
            <a:spLocks noGrp="1"/>
          </p:cNvSpPr>
          <p:nvPr/>
        </p:nvSpPr>
        <p:spPr>
          <a:xfrm>
            <a:off x="9478986" y="2308718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AFB5017-01D2-4DC7-BD05-CF11BD36AD75}"/>
              </a:ext>
            </a:extLst>
          </p:cNvPr>
          <p:cNvSpPr>
            <a:spLocks noGrp="1"/>
          </p:cNvSpPr>
          <p:nvPr/>
        </p:nvSpPr>
        <p:spPr>
          <a:xfrm>
            <a:off x="3281362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17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3BDAA1B-CB7F-4C96-98D4-B0AB77522F75}"/>
              </a:ext>
            </a:extLst>
          </p:cNvPr>
          <p:cNvSpPr>
            <a:spLocks noGrp="1"/>
          </p:cNvSpPr>
          <p:nvPr/>
        </p:nvSpPr>
        <p:spPr>
          <a:xfrm>
            <a:off x="3234603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79632FC-38BB-4C50-A7F0-66225791EB2A}"/>
              </a:ext>
            </a:extLst>
          </p:cNvPr>
          <p:cNvSpPr>
            <a:spLocks noGrp="1"/>
          </p:cNvSpPr>
          <p:nvPr/>
        </p:nvSpPr>
        <p:spPr>
          <a:xfrm>
            <a:off x="2013802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E57FAF9-A061-4095-991C-820A3D4E5719}"/>
              </a:ext>
            </a:extLst>
          </p:cNvPr>
          <p:cNvSpPr>
            <a:spLocks noGrp="1"/>
          </p:cNvSpPr>
          <p:nvPr/>
        </p:nvSpPr>
        <p:spPr>
          <a:xfrm>
            <a:off x="3135412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CB3C6370-5AB0-4640-823E-DBDF6AE8C157}"/>
              </a:ext>
            </a:extLst>
          </p:cNvPr>
          <p:cNvSpPr>
            <a:spLocks noGrp="1"/>
          </p:cNvSpPr>
          <p:nvPr/>
        </p:nvSpPr>
        <p:spPr>
          <a:xfrm>
            <a:off x="960427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0047812-B1B5-436D-9885-92920EA340E5}"/>
              </a:ext>
            </a:extLst>
          </p:cNvPr>
          <p:cNvSpPr>
            <a:spLocks noGrp="1"/>
          </p:cNvSpPr>
          <p:nvPr/>
        </p:nvSpPr>
        <p:spPr>
          <a:xfrm>
            <a:off x="8286081" y="2754619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E39BF92-7334-40B7-B1DD-753BF1D064EF}"/>
              </a:ext>
            </a:extLst>
          </p:cNvPr>
          <p:cNvSpPr>
            <a:spLocks noGrp="1"/>
          </p:cNvSpPr>
          <p:nvPr/>
        </p:nvSpPr>
        <p:spPr>
          <a:xfrm>
            <a:off x="954247" y="5993865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2,11 млрд ₽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6E8EA93-C083-44A4-A546-1CAADCEF80D3}"/>
              </a:ext>
            </a:extLst>
          </p:cNvPr>
          <p:cNvSpPr>
            <a:spLocks noGrp="1"/>
          </p:cNvSpPr>
          <p:nvPr/>
        </p:nvSpPr>
        <p:spPr>
          <a:xfrm>
            <a:off x="960426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987BCC-34A8-47C0-9735-60EB566330FB}"/>
              </a:ext>
            </a:extLst>
          </p:cNvPr>
          <p:cNvSpPr>
            <a:spLocks noGrp="1"/>
          </p:cNvSpPr>
          <p:nvPr/>
        </p:nvSpPr>
        <p:spPr>
          <a:xfrm>
            <a:off x="11853787" y="2475618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71%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BC725DC2-F395-4337-B3B1-2796C55DB21A}"/>
              </a:ext>
            </a:extLst>
          </p:cNvPr>
          <p:cNvSpPr>
            <a:spLocks noGrp="1"/>
          </p:cNvSpPr>
          <p:nvPr/>
        </p:nvSpPr>
        <p:spPr>
          <a:xfrm>
            <a:off x="12553209" y="2454892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0%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5C96C09-817B-4ED3-A66B-C25C7A9D8E3E}"/>
              </a:ext>
            </a:extLst>
          </p:cNvPr>
          <p:cNvSpPr>
            <a:spLocks noGrp="1"/>
          </p:cNvSpPr>
          <p:nvPr/>
        </p:nvSpPr>
        <p:spPr>
          <a:xfrm>
            <a:off x="2294150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29%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A2231DE5-F8CA-4D34-9430-DD2094DDE824}"/>
              </a:ext>
            </a:extLst>
          </p:cNvPr>
          <p:cNvSpPr>
            <a:spLocks noGrp="1"/>
          </p:cNvSpPr>
          <p:nvPr/>
        </p:nvSpPr>
        <p:spPr>
          <a:xfrm>
            <a:off x="11853788" y="2785375"/>
            <a:ext cx="2016000" cy="86400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033BB72C-2F1A-4BAE-AB16-2AB5E67C73CE}"/>
              </a:ext>
            </a:extLst>
          </p:cNvPr>
          <p:cNvSpPr>
            <a:spLocks noGrp="1"/>
          </p:cNvSpPr>
          <p:nvPr/>
        </p:nvSpPr>
        <p:spPr>
          <a:xfrm>
            <a:off x="2976426" y="7016845"/>
            <a:ext cx="1368000" cy="86400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154" name="Прямоугольник: скругленные углы 153">
            <a:extLst>
              <a:ext uri="{FF2B5EF4-FFF2-40B4-BE49-F238E27FC236}">
                <a16:creationId xmlns:a16="http://schemas.microsoft.com/office/drawing/2014/main" id="{DE4CD7C5-2442-4DE9-94A5-779455E9FF85}"/>
              </a:ext>
            </a:extLst>
          </p:cNvPr>
          <p:cNvSpPr>
            <a:spLocks noGrp="1"/>
          </p:cNvSpPr>
          <p:nvPr/>
        </p:nvSpPr>
        <p:spPr>
          <a:xfrm>
            <a:off x="4490082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D16D51D1-812C-4950-9149-9BF0EA779ADB}"/>
              </a:ext>
            </a:extLst>
          </p:cNvPr>
          <p:cNvSpPr>
            <a:spLocks noGrp="1"/>
          </p:cNvSpPr>
          <p:nvPr/>
        </p:nvSpPr>
        <p:spPr>
          <a:xfrm>
            <a:off x="4656933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БПБ</a:t>
            </a:r>
          </a:p>
        </p:txBody>
      </p:sp>
      <p:sp>
        <p:nvSpPr>
          <p:cNvPr id="156" name="Прямоугольник: скругленные углы 155">
            <a:extLst>
              <a:ext uri="{FF2B5EF4-FFF2-40B4-BE49-F238E27FC236}">
                <a16:creationId xmlns:a16="http://schemas.microsoft.com/office/drawing/2014/main" id="{6E227A9C-D5EE-4074-A029-C6DEDA2BB1CE}"/>
              </a:ext>
            </a:extLst>
          </p:cNvPr>
          <p:cNvSpPr>
            <a:spLocks noGrp="1"/>
          </p:cNvSpPr>
          <p:nvPr/>
        </p:nvSpPr>
        <p:spPr>
          <a:xfrm>
            <a:off x="6658802" y="4414532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173D31"/>
          </a:solidFill>
          <a:ln w="0">
            <a:noFill/>
          </a:ln>
        </p:spPr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FA46FD7-F5EB-44C8-8B1F-D0C1642805AE}"/>
              </a:ext>
            </a:extLst>
          </p:cNvPr>
          <p:cNvSpPr>
            <a:spLocks noGrp="1"/>
          </p:cNvSpPr>
          <p:nvPr/>
        </p:nvSpPr>
        <p:spPr>
          <a:xfrm>
            <a:off x="6599596" y="4290847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9B9B"/>
                </a:solidFill>
                <a:latin typeface="Arial"/>
                <a:ea typeface="Arial"/>
                <a:cs typeface="Arial"/>
              </a:defRPr>
            </a:pPr>
            <a:r>
              <a:rPr lang="en-US" sz="1200" b="1" kern="1200" dirty="0">
                <a:solidFill>
                  <a:srgbClr val="79E6A7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75</a:t>
            </a:r>
            <a:r>
              <a:rPr lang="ru-RU" sz="1200" b="1" kern="1200" dirty="0">
                <a:solidFill>
                  <a:srgbClr val="79E6A7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% закрыто</a:t>
            </a: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60D9255F-3AAB-414C-AE1F-3BE8703D4190}"/>
              </a:ext>
            </a:extLst>
          </p:cNvPr>
          <p:cNvSpPr>
            <a:spLocks noGrp="1"/>
          </p:cNvSpPr>
          <p:nvPr/>
        </p:nvSpPr>
        <p:spPr>
          <a:xfrm>
            <a:off x="4657589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12</a:t>
            </a:r>
          </a:p>
        </p:txBody>
      </p:sp>
      <p:sp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CA413406-7F24-4E89-8907-1EE5D0099681}"/>
              </a:ext>
            </a:extLst>
          </p:cNvPr>
          <p:cNvSpPr>
            <a:spLocks noGrp="1"/>
          </p:cNvSpPr>
          <p:nvPr/>
        </p:nvSpPr>
        <p:spPr>
          <a:xfrm>
            <a:off x="4676228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5D5E7F01-AB76-4364-B248-77C67EFE5339}"/>
              </a:ext>
            </a:extLst>
          </p:cNvPr>
          <p:cNvSpPr>
            <a:spLocks noGrp="1"/>
          </p:cNvSpPr>
          <p:nvPr/>
        </p:nvSpPr>
        <p:spPr>
          <a:xfrm>
            <a:off x="5805973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en-US" sz="3200" dirty="0">
                <a:latin typeface="X5 Sans" panose="020B0403020203020204" pitchFamily="34" charset="0"/>
                <a:ea typeface="X5 Sans" panose="020B0403020203020204" pitchFamily="34" charset="0"/>
              </a:rPr>
              <a:t>9</a:t>
            </a:r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095B7210-3352-4A53-9BC1-6AAD70CC73EB}"/>
              </a:ext>
            </a:extLst>
          </p:cNvPr>
          <p:cNvSpPr>
            <a:spLocks noGrp="1"/>
          </p:cNvSpPr>
          <p:nvPr/>
        </p:nvSpPr>
        <p:spPr>
          <a:xfrm>
            <a:off x="5820187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55F84F71-95A2-4F89-9E1B-788C9FF60433}"/>
              </a:ext>
            </a:extLst>
          </p:cNvPr>
          <p:cNvSpPr>
            <a:spLocks noGrp="1"/>
          </p:cNvSpPr>
          <p:nvPr/>
        </p:nvSpPr>
        <p:spPr>
          <a:xfrm>
            <a:off x="6954357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3</a:t>
            </a:r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34042B86-206E-4135-A4E7-935AC746F191}"/>
              </a:ext>
            </a:extLst>
          </p:cNvPr>
          <p:cNvSpPr>
            <a:spLocks noGrp="1"/>
          </p:cNvSpPr>
          <p:nvPr/>
        </p:nvSpPr>
        <p:spPr>
          <a:xfrm>
            <a:off x="6907598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4118C7D0-45CD-445B-8D43-C20A1062EFD7}"/>
              </a:ext>
            </a:extLst>
          </p:cNvPr>
          <p:cNvSpPr>
            <a:spLocks noGrp="1"/>
          </p:cNvSpPr>
          <p:nvPr/>
        </p:nvSpPr>
        <p:spPr>
          <a:xfrm>
            <a:off x="5686797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AEC55C46-08CD-4729-AE9C-C7897574DBAD}"/>
              </a:ext>
            </a:extLst>
          </p:cNvPr>
          <p:cNvSpPr>
            <a:spLocks noGrp="1"/>
          </p:cNvSpPr>
          <p:nvPr/>
        </p:nvSpPr>
        <p:spPr>
          <a:xfrm>
            <a:off x="6808407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2D8DFFC3-43D6-4ED8-80AD-94C68C43221F}"/>
              </a:ext>
            </a:extLst>
          </p:cNvPr>
          <p:cNvSpPr>
            <a:spLocks noGrp="1"/>
          </p:cNvSpPr>
          <p:nvPr/>
        </p:nvSpPr>
        <p:spPr>
          <a:xfrm>
            <a:off x="4633422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9682A3CD-CB5C-46FE-8570-418FEDE981AC}"/>
              </a:ext>
            </a:extLst>
          </p:cNvPr>
          <p:cNvSpPr>
            <a:spLocks noGrp="1"/>
          </p:cNvSpPr>
          <p:nvPr/>
        </p:nvSpPr>
        <p:spPr>
          <a:xfrm>
            <a:off x="4627282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447DDE9A-ADCC-4520-B166-D689DFCEFD4B}"/>
              </a:ext>
            </a:extLst>
          </p:cNvPr>
          <p:cNvSpPr>
            <a:spLocks noGrp="1"/>
          </p:cNvSpPr>
          <p:nvPr/>
        </p:nvSpPr>
        <p:spPr>
          <a:xfrm>
            <a:off x="4627242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384,8</a:t>
            </a: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млн ₽</a:t>
            </a: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1379A306-65C5-452C-A793-34ED8D4BBE32}"/>
              </a:ext>
            </a:extLst>
          </p:cNvPr>
          <p:cNvSpPr>
            <a:spLocks noGrp="1"/>
          </p:cNvSpPr>
          <p:nvPr/>
        </p:nvSpPr>
        <p:spPr>
          <a:xfrm>
            <a:off x="4633421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EBEFE80D-DAE1-4A07-BE38-5BCEB5E7CEAA}"/>
              </a:ext>
            </a:extLst>
          </p:cNvPr>
          <p:cNvSpPr>
            <a:spLocks noGrp="1"/>
          </p:cNvSpPr>
          <p:nvPr/>
        </p:nvSpPr>
        <p:spPr>
          <a:xfrm>
            <a:off x="4633420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42%</a:t>
            </a: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160A045F-48E0-4CBC-91B6-D6A05B6936BE}"/>
              </a:ext>
            </a:extLst>
          </p:cNvPr>
          <p:cNvSpPr>
            <a:spLocks noGrp="1"/>
          </p:cNvSpPr>
          <p:nvPr/>
        </p:nvSpPr>
        <p:spPr>
          <a:xfrm>
            <a:off x="5332842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8%</a:t>
            </a: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4912CE38-F655-4CD1-8580-846D25DF98C2}"/>
              </a:ext>
            </a:extLst>
          </p:cNvPr>
          <p:cNvSpPr>
            <a:spLocks noGrp="1"/>
          </p:cNvSpPr>
          <p:nvPr/>
        </p:nvSpPr>
        <p:spPr>
          <a:xfrm>
            <a:off x="5967145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50%</a:t>
            </a:r>
          </a:p>
        </p:txBody>
      </p:sp>
      <p:sp>
        <p:nvSpPr>
          <p:cNvPr id="175" name="Прямоугольник: скругленные углы 174">
            <a:extLst>
              <a:ext uri="{FF2B5EF4-FFF2-40B4-BE49-F238E27FC236}">
                <a16:creationId xmlns:a16="http://schemas.microsoft.com/office/drawing/2014/main" id="{AA2C0CB3-63CF-4E1B-A3ED-1E7D47996511}"/>
              </a:ext>
            </a:extLst>
          </p:cNvPr>
          <p:cNvSpPr>
            <a:spLocks noGrp="1"/>
          </p:cNvSpPr>
          <p:nvPr/>
        </p:nvSpPr>
        <p:spPr>
          <a:xfrm>
            <a:off x="8170022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303D4CEF-3647-43A0-BC4B-F79A61EA3FC1}"/>
              </a:ext>
            </a:extLst>
          </p:cNvPr>
          <p:cNvSpPr>
            <a:spLocks noGrp="1"/>
          </p:cNvSpPr>
          <p:nvPr/>
        </p:nvSpPr>
        <p:spPr>
          <a:xfrm>
            <a:off x="8358406" y="4360810"/>
            <a:ext cx="3182332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ТС5</a:t>
            </a:r>
          </a:p>
        </p:txBody>
      </p:sp>
      <p:sp>
        <p:nvSpPr>
          <p:cNvPr id="177" name="Прямоугольник: скругленные углы 176">
            <a:extLst>
              <a:ext uri="{FF2B5EF4-FFF2-40B4-BE49-F238E27FC236}">
                <a16:creationId xmlns:a16="http://schemas.microsoft.com/office/drawing/2014/main" id="{1FE0EE45-2EEA-42FC-B631-8541B8568F34}"/>
              </a:ext>
            </a:extLst>
          </p:cNvPr>
          <p:cNvSpPr>
            <a:spLocks noGrp="1"/>
          </p:cNvSpPr>
          <p:nvPr/>
        </p:nvSpPr>
        <p:spPr>
          <a:xfrm>
            <a:off x="10338742" y="4414532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493A24">
              <a:alpha val="57000"/>
            </a:srgbClr>
          </a:solidFill>
          <a:ln w="0">
            <a:noFill/>
          </a:ln>
        </p:spPr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617870C0-AD70-4907-BA32-CDDE508FF583}"/>
              </a:ext>
            </a:extLst>
          </p:cNvPr>
          <p:cNvSpPr>
            <a:spLocks noGrp="1"/>
          </p:cNvSpPr>
          <p:nvPr/>
        </p:nvSpPr>
        <p:spPr>
          <a:xfrm>
            <a:off x="10279536" y="4290847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D071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33</a:t>
            </a:r>
            <a:r>
              <a:rPr lang="ru-RU" sz="1200" b="1" dirty="0">
                <a:solidFill>
                  <a:srgbClr val="FFD071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% закрыто</a:t>
            </a:r>
          </a:p>
        </p:txBody>
      </p:sp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189E8B7D-2BA9-43B0-A81E-6951B09E1E72}"/>
              </a:ext>
            </a:extLst>
          </p:cNvPr>
          <p:cNvSpPr>
            <a:spLocks noGrp="1"/>
          </p:cNvSpPr>
          <p:nvPr/>
        </p:nvSpPr>
        <p:spPr>
          <a:xfrm>
            <a:off x="8337529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9</a:t>
            </a: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A06A1131-2214-4210-A0F1-E99D43C8C2AA}"/>
              </a:ext>
            </a:extLst>
          </p:cNvPr>
          <p:cNvSpPr>
            <a:spLocks noGrp="1"/>
          </p:cNvSpPr>
          <p:nvPr/>
        </p:nvSpPr>
        <p:spPr>
          <a:xfrm>
            <a:off x="8356168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F4139204-17D1-47FD-AB24-81CA7A14DF64}"/>
              </a:ext>
            </a:extLst>
          </p:cNvPr>
          <p:cNvSpPr>
            <a:spLocks noGrp="1"/>
          </p:cNvSpPr>
          <p:nvPr/>
        </p:nvSpPr>
        <p:spPr>
          <a:xfrm>
            <a:off x="9485913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4</a:t>
            </a: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7C05740F-318F-446B-8E15-0C95482C8731}"/>
              </a:ext>
            </a:extLst>
          </p:cNvPr>
          <p:cNvSpPr>
            <a:spLocks noGrp="1"/>
          </p:cNvSpPr>
          <p:nvPr/>
        </p:nvSpPr>
        <p:spPr>
          <a:xfrm>
            <a:off x="9500127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183" name="Прямоугольник 182">
            <a:extLst>
              <a:ext uri="{FF2B5EF4-FFF2-40B4-BE49-F238E27FC236}">
                <a16:creationId xmlns:a16="http://schemas.microsoft.com/office/drawing/2014/main" id="{E81E28EE-8B29-4BB1-BBF2-5A4536DCB9BD}"/>
              </a:ext>
            </a:extLst>
          </p:cNvPr>
          <p:cNvSpPr>
            <a:spLocks noGrp="1"/>
          </p:cNvSpPr>
          <p:nvPr/>
        </p:nvSpPr>
        <p:spPr>
          <a:xfrm>
            <a:off x="10634297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5</a:t>
            </a:r>
          </a:p>
        </p:txBody>
      </p:sp>
      <p:sp>
        <p:nvSpPr>
          <p:cNvPr id="184" name="Прямоугольник 183">
            <a:extLst>
              <a:ext uri="{FF2B5EF4-FFF2-40B4-BE49-F238E27FC236}">
                <a16:creationId xmlns:a16="http://schemas.microsoft.com/office/drawing/2014/main" id="{6320F789-4B12-48A9-ADE0-C411D7383207}"/>
              </a:ext>
            </a:extLst>
          </p:cNvPr>
          <p:cNvSpPr>
            <a:spLocks noGrp="1"/>
          </p:cNvSpPr>
          <p:nvPr/>
        </p:nvSpPr>
        <p:spPr>
          <a:xfrm>
            <a:off x="10587538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185" name="Прямоугольник 184">
            <a:extLst>
              <a:ext uri="{FF2B5EF4-FFF2-40B4-BE49-F238E27FC236}">
                <a16:creationId xmlns:a16="http://schemas.microsoft.com/office/drawing/2014/main" id="{A8288541-6BA8-42BC-9205-4065681C2F85}"/>
              </a:ext>
            </a:extLst>
          </p:cNvPr>
          <p:cNvSpPr>
            <a:spLocks noGrp="1"/>
          </p:cNvSpPr>
          <p:nvPr/>
        </p:nvSpPr>
        <p:spPr>
          <a:xfrm>
            <a:off x="9366737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86" name="Прямоугольник 185">
            <a:extLst>
              <a:ext uri="{FF2B5EF4-FFF2-40B4-BE49-F238E27FC236}">
                <a16:creationId xmlns:a16="http://schemas.microsoft.com/office/drawing/2014/main" id="{51F55A86-8AE4-4FDF-9CFA-856C369BD28F}"/>
              </a:ext>
            </a:extLst>
          </p:cNvPr>
          <p:cNvSpPr>
            <a:spLocks noGrp="1"/>
          </p:cNvSpPr>
          <p:nvPr/>
        </p:nvSpPr>
        <p:spPr>
          <a:xfrm>
            <a:off x="10488347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87" name="Прямоугольник 186">
            <a:extLst>
              <a:ext uri="{FF2B5EF4-FFF2-40B4-BE49-F238E27FC236}">
                <a16:creationId xmlns:a16="http://schemas.microsoft.com/office/drawing/2014/main" id="{1792F7B6-6814-4A88-9CB0-F3DC68F4D88B}"/>
              </a:ext>
            </a:extLst>
          </p:cNvPr>
          <p:cNvSpPr>
            <a:spLocks noGrp="1"/>
          </p:cNvSpPr>
          <p:nvPr/>
        </p:nvSpPr>
        <p:spPr>
          <a:xfrm>
            <a:off x="8313362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188" name="Прямоугольник 187">
            <a:extLst>
              <a:ext uri="{FF2B5EF4-FFF2-40B4-BE49-F238E27FC236}">
                <a16:creationId xmlns:a16="http://schemas.microsoft.com/office/drawing/2014/main" id="{5E2F744A-CE12-48B6-A0EE-CCDF8CBD5544}"/>
              </a:ext>
            </a:extLst>
          </p:cNvPr>
          <p:cNvSpPr>
            <a:spLocks noGrp="1"/>
          </p:cNvSpPr>
          <p:nvPr/>
        </p:nvSpPr>
        <p:spPr>
          <a:xfrm>
            <a:off x="8307222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189" name="Прямоугольник 188">
            <a:extLst>
              <a:ext uri="{FF2B5EF4-FFF2-40B4-BE49-F238E27FC236}">
                <a16:creationId xmlns:a16="http://schemas.microsoft.com/office/drawing/2014/main" id="{0A31EE62-A430-413E-892A-5B0546EBF10C}"/>
              </a:ext>
            </a:extLst>
          </p:cNvPr>
          <p:cNvSpPr>
            <a:spLocks noGrp="1"/>
          </p:cNvSpPr>
          <p:nvPr/>
        </p:nvSpPr>
        <p:spPr>
          <a:xfrm>
            <a:off x="8307182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910</a:t>
            </a: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 млн ₽</a:t>
            </a:r>
          </a:p>
        </p:txBody>
      </p:sp>
      <p:sp>
        <p:nvSpPr>
          <p:cNvPr id="190" name="Прямоугольник 189">
            <a:extLst>
              <a:ext uri="{FF2B5EF4-FFF2-40B4-BE49-F238E27FC236}">
                <a16:creationId xmlns:a16="http://schemas.microsoft.com/office/drawing/2014/main" id="{F056CAD0-D6E8-4274-A396-5ED969E04328}"/>
              </a:ext>
            </a:extLst>
          </p:cNvPr>
          <p:cNvSpPr>
            <a:spLocks noGrp="1"/>
          </p:cNvSpPr>
          <p:nvPr/>
        </p:nvSpPr>
        <p:spPr>
          <a:xfrm>
            <a:off x="8313361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191" name="Прямоугольник 190">
            <a:extLst>
              <a:ext uri="{FF2B5EF4-FFF2-40B4-BE49-F238E27FC236}">
                <a16:creationId xmlns:a16="http://schemas.microsoft.com/office/drawing/2014/main" id="{1DE8312A-61CF-4AB8-807F-705E0AD05117}"/>
              </a:ext>
            </a:extLst>
          </p:cNvPr>
          <p:cNvSpPr>
            <a:spLocks noGrp="1"/>
          </p:cNvSpPr>
          <p:nvPr/>
        </p:nvSpPr>
        <p:spPr>
          <a:xfrm>
            <a:off x="8313360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44%</a:t>
            </a:r>
          </a:p>
        </p:txBody>
      </p:sp>
      <p:sp>
        <p:nvSpPr>
          <p:cNvPr id="192" name="Прямоугольник 191">
            <a:extLst>
              <a:ext uri="{FF2B5EF4-FFF2-40B4-BE49-F238E27FC236}">
                <a16:creationId xmlns:a16="http://schemas.microsoft.com/office/drawing/2014/main" id="{5434E8B4-3924-4AB4-B35C-33A130EE7E6D}"/>
              </a:ext>
            </a:extLst>
          </p:cNvPr>
          <p:cNvSpPr>
            <a:spLocks noGrp="1"/>
          </p:cNvSpPr>
          <p:nvPr/>
        </p:nvSpPr>
        <p:spPr>
          <a:xfrm>
            <a:off x="9012782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44%</a:t>
            </a:r>
          </a:p>
        </p:txBody>
      </p:sp>
      <p:sp>
        <p:nvSpPr>
          <p:cNvPr id="193" name="Прямоугольник 192">
            <a:extLst>
              <a:ext uri="{FF2B5EF4-FFF2-40B4-BE49-F238E27FC236}">
                <a16:creationId xmlns:a16="http://schemas.microsoft.com/office/drawing/2014/main" id="{A3478A8E-5511-4A8C-BF78-B27A26E50EFD}"/>
              </a:ext>
            </a:extLst>
          </p:cNvPr>
          <p:cNvSpPr>
            <a:spLocks noGrp="1"/>
          </p:cNvSpPr>
          <p:nvPr/>
        </p:nvSpPr>
        <p:spPr>
          <a:xfrm>
            <a:off x="9647085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22%</a:t>
            </a:r>
          </a:p>
        </p:txBody>
      </p:sp>
      <p:sp>
        <p:nvSpPr>
          <p:cNvPr id="196" name="Прямоугольник: скругленные углы 195">
            <a:extLst>
              <a:ext uri="{FF2B5EF4-FFF2-40B4-BE49-F238E27FC236}">
                <a16:creationId xmlns:a16="http://schemas.microsoft.com/office/drawing/2014/main" id="{A206AF96-7143-4C26-B2C9-093BD092DCD2}"/>
              </a:ext>
            </a:extLst>
          </p:cNvPr>
          <p:cNvSpPr>
            <a:spLocks noGrp="1"/>
          </p:cNvSpPr>
          <p:nvPr/>
        </p:nvSpPr>
        <p:spPr>
          <a:xfrm>
            <a:off x="12108226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197" name="Прямоугольник 196">
            <a:extLst>
              <a:ext uri="{FF2B5EF4-FFF2-40B4-BE49-F238E27FC236}">
                <a16:creationId xmlns:a16="http://schemas.microsoft.com/office/drawing/2014/main" id="{894D9902-AE72-4564-A914-6054E8EDBD13}"/>
              </a:ext>
            </a:extLst>
          </p:cNvPr>
          <p:cNvSpPr>
            <a:spLocks noGrp="1"/>
          </p:cNvSpPr>
          <p:nvPr/>
        </p:nvSpPr>
        <p:spPr>
          <a:xfrm>
            <a:off x="12275077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 err="1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Делекто</a:t>
            </a:r>
            <a:endParaRPr lang="ru-RU" sz="2800" dirty="0">
              <a:solidFill>
                <a:schemeClr val="bg1"/>
              </a:solidFill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198" name="Прямоугольник: скругленные углы 197">
            <a:extLst>
              <a:ext uri="{FF2B5EF4-FFF2-40B4-BE49-F238E27FC236}">
                <a16:creationId xmlns:a16="http://schemas.microsoft.com/office/drawing/2014/main" id="{BAD82907-C936-46BD-AAC0-D83ECFF8E2A9}"/>
              </a:ext>
            </a:extLst>
          </p:cNvPr>
          <p:cNvSpPr>
            <a:spLocks noGrp="1"/>
          </p:cNvSpPr>
          <p:nvPr/>
        </p:nvSpPr>
        <p:spPr>
          <a:xfrm>
            <a:off x="14276946" y="4414532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442833">
              <a:alpha val="57000"/>
            </a:srgbClr>
          </a:solidFill>
          <a:ln w="0">
            <a:noFill/>
          </a:ln>
        </p:spPr>
      </p:sp>
      <p:sp>
        <p:nvSpPr>
          <p:cNvPr id="199" name="Прямоугольник 198">
            <a:extLst>
              <a:ext uri="{FF2B5EF4-FFF2-40B4-BE49-F238E27FC236}">
                <a16:creationId xmlns:a16="http://schemas.microsoft.com/office/drawing/2014/main" id="{415BE5DD-2790-4274-BF6A-FC14F1347B69}"/>
              </a:ext>
            </a:extLst>
          </p:cNvPr>
          <p:cNvSpPr>
            <a:spLocks noGrp="1"/>
          </p:cNvSpPr>
          <p:nvPr/>
        </p:nvSpPr>
        <p:spPr>
          <a:xfrm>
            <a:off x="14217740" y="4290847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9B9B"/>
                </a:solidFill>
                <a:latin typeface="Arial"/>
                <a:ea typeface="Arial"/>
                <a:cs typeface="Arial"/>
              </a:defRPr>
            </a:pPr>
            <a:r>
              <a:rPr lang="ru-RU" sz="1200" dirty="0">
                <a:latin typeface="X5 Sans" panose="020B0403020203020204" pitchFamily="34" charset="0"/>
                <a:ea typeface="X5 Sans" panose="020B0403020203020204" pitchFamily="34" charset="0"/>
              </a:rPr>
              <a:t>0% закрыто</a:t>
            </a:r>
          </a:p>
        </p:txBody>
      </p:sp>
      <p:sp>
        <p:nvSpPr>
          <p:cNvPr id="200" name="Прямоугольник 199">
            <a:extLst>
              <a:ext uri="{FF2B5EF4-FFF2-40B4-BE49-F238E27FC236}">
                <a16:creationId xmlns:a16="http://schemas.microsoft.com/office/drawing/2014/main" id="{2C786D16-DF2B-4AFD-AF7A-2FFD87944E3C}"/>
              </a:ext>
            </a:extLst>
          </p:cNvPr>
          <p:cNvSpPr>
            <a:spLocks noGrp="1"/>
          </p:cNvSpPr>
          <p:nvPr/>
        </p:nvSpPr>
        <p:spPr>
          <a:xfrm>
            <a:off x="12275733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5</a:t>
            </a:r>
          </a:p>
        </p:txBody>
      </p:sp>
      <p:sp>
        <p:nvSpPr>
          <p:cNvPr id="201" name="Прямоугольник 200">
            <a:extLst>
              <a:ext uri="{FF2B5EF4-FFF2-40B4-BE49-F238E27FC236}">
                <a16:creationId xmlns:a16="http://schemas.microsoft.com/office/drawing/2014/main" id="{9C8BFEFD-00FA-4676-849E-D9141B8EC67A}"/>
              </a:ext>
            </a:extLst>
          </p:cNvPr>
          <p:cNvSpPr>
            <a:spLocks noGrp="1"/>
          </p:cNvSpPr>
          <p:nvPr/>
        </p:nvSpPr>
        <p:spPr>
          <a:xfrm>
            <a:off x="12294372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202" name="Прямоугольник 201">
            <a:extLst>
              <a:ext uri="{FF2B5EF4-FFF2-40B4-BE49-F238E27FC236}">
                <a16:creationId xmlns:a16="http://schemas.microsoft.com/office/drawing/2014/main" id="{AE1977BE-CC3E-45BB-AE81-EBACE16AB839}"/>
              </a:ext>
            </a:extLst>
          </p:cNvPr>
          <p:cNvSpPr>
            <a:spLocks noGrp="1"/>
          </p:cNvSpPr>
          <p:nvPr/>
        </p:nvSpPr>
        <p:spPr>
          <a:xfrm>
            <a:off x="13424117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0</a:t>
            </a:r>
          </a:p>
        </p:txBody>
      </p:sp>
      <p:sp>
        <p:nvSpPr>
          <p:cNvPr id="203" name="Прямоугольник 202">
            <a:extLst>
              <a:ext uri="{FF2B5EF4-FFF2-40B4-BE49-F238E27FC236}">
                <a16:creationId xmlns:a16="http://schemas.microsoft.com/office/drawing/2014/main" id="{30368568-7116-4025-AB8D-2FA6D1658026}"/>
              </a:ext>
            </a:extLst>
          </p:cNvPr>
          <p:cNvSpPr>
            <a:spLocks noGrp="1"/>
          </p:cNvSpPr>
          <p:nvPr/>
        </p:nvSpPr>
        <p:spPr>
          <a:xfrm>
            <a:off x="13438331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204" name="Прямоугольник 203">
            <a:extLst>
              <a:ext uri="{FF2B5EF4-FFF2-40B4-BE49-F238E27FC236}">
                <a16:creationId xmlns:a16="http://schemas.microsoft.com/office/drawing/2014/main" id="{483DC75E-14AD-4574-9476-953125CFCF2C}"/>
              </a:ext>
            </a:extLst>
          </p:cNvPr>
          <p:cNvSpPr>
            <a:spLocks noGrp="1"/>
          </p:cNvSpPr>
          <p:nvPr/>
        </p:nvSpPr>
        <p:spPr>
          <a:xfrm>
            <a:off x="14572501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5</a:t>
            </a:r>
          </a:p>
        </p:txBody>
      </p:sp>
      <p:sp>
        <p:nvSpPr>
          <p:cNvPr id="205" name="Прямоугольник 204">
            <a:extLst>
              <a:ext uri="{FF2B5EF4-FFF2-40B4-BE49-F238E27FC236}">
                <a16:creationId xmlns:a16="http://schemas.microsoft.com/office/drawing/2014/main" id="{30A39A4D-99A5-4406-AA83-2644477B3189}"/>
              </a:ext>
            </a:extLst>
          </p:cNvPr>
          <p:cNvSpPr>
            <a:spLocks noGrp="1"/>
          </p:cNvSpPr>
          <p:nvPr/>
        </p:nvSpPr>
        <p:spPr>
          <a:xfrm>
            <a:off x="14525742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206" name="Прямоугольник 205">
            <a:extLst>
              <a:ext uri="{FF2B5EF4-FFF2-40B4-BE49-F238E27FC236}">
                <a16:creationId xmlns:a16="http://schemas.microsoft.com/office/drawing/2014/main" id="{D1A3DDE4-8214-4C70-8C9B-BFFE835C2CA7}"/>
              </a:ext>
            </a:extLst>
          </p:cNvPr>
          <p:cNvSpPr>
            <a:spLocks noGrp="1"/>
          </p:cNvSpPr>
          <p:nvPr/>
        </p:nvSpPr>
        <p:spPr>
          <a:xfrm>
            <a:off x="13304941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07" name="Прямоугольник 206">
            <a:extLst>
              <a:ext uri="{FF2B5EF4-FFF2-40B4-BE49-F238E27FC236}">
                <a16:creationId xmlns:a16="http://schemas.microsoft.com/office/drawing/2014/main" id="{782AAE3F-A5B6-421C-85B1-AF733EF2F9A5}"/>
              </a:ext>
            </a:extLst>
          </p:cNvPr>
          <p:cNvSpPr>
            <a:spLocks noGrp="1"/>
          </p:cNvSpPr>
          <p:nvPr/>
        </p:nvSpPr>
        <p:spPr>
          <a:xfrm>
            <a:off x="14426551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08" name="Прямоугольник 207">
            <a:extLst>
              <a:ext uri="{FF2B5EF4-FFF2-40B4-BE49-F238E27FC236}">
                <a16:creationId xmlns:a16="http://schemas.microsoft.com/office/drawing/2014/main" id="{B6DDA7EB-71BB-4B64-81C9-28F8C45AEA3A}"/>
              </a:ext>
            </a:extLst>
          </p:cNvPr>
          <p:cNvSpPr>
            <a:spLocks noGrp="1"/>
          </p:cNvSpPr>
          <p:nvPr/>
        </p:nvSpPr>
        <p:spPr>
          <a:xfrm>
            <a:off x="12251566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09" name="Прямоугольник 208">
            <a:extLst>
              <a:ext uri="{FF2B5EF4-FFF2-40B4-BE49-F238E27FC236}">
                <a16:creationId xmlns:a16="http://schemas.microsoft.com/office/drawing/2014/main" id="{57386DB1-BBD4-482D-BDFD-53C6D95BA5D6}"/>
              </a:ext>
            </a:extLst>
          </p:cNvPr>
          <p:cNvSpPr>
            <a:spLocks noGrp="1"/>
          </p:cNvSpPr>
          <p:nvPr/>
        </p:nvSpPr>
        <p:spPr>
          <a:xfrm>
            <a:off x="12245426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210" name="Прямоугольник 209">
            <a:extLst>
              <a:ext uri="{FF2B5EF4-FFF2-40B4-BE49-F238E27FC236}">
                <a16:creationId xmlns:a16="http://schemas.microsoft.com/office/drawing/2014/main" id="{0A8B05EF-7C43-4FD7-BA49-257739885728}"/>
              </a:ext>
            </a:extLst>
          </p:cNvPr>
          <p:cNvSpPr>
            <a:spLocks noGrp="1"/>
          </p:cNvSpPr>
          <p:nvPr/>
        </p:nvSpPr>
        <p:spPr>
          <a:xfrm>
            <a:off x="12245386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23,5 млн ₽</a:t>
            </a:r>
          </a:p>
        </p:txBody>
      </p:sp>
      <p:sp>
        <p:nvSpPr>
          <p:cNvPr id="211" name="Прямоугольник 210">
            <a:extLst>
              <a:ext uri="{FF2B5EF4-FFF2-40B4-BE49-F238E27FC236}">
                <a16:creationId xmlns:a16="http://schemas.microsoft.com/office/drawing/2014/main" id="{AD7F0346-A02A-42A5-ADC0-44145CB8B226}"/>
              </a:ext>
            </a:extLst>
          </p:cNvPr>
          <p:cNvSpPr>
            <a:spLocks noGrp="1"/>
          </p:cNvSpPr>
          <p:nvPr/>
        </p:nvSpPr>
        <p:spPr>
          <a:xfrm>
            <a:off x="12251565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212" name="Прямоугольник 211">
            <a:extLst>
              <a:ext uri="{FF2B5EF4-FFF2-40B4-BE49-F238E27FC236}">
                <a16:creationId xmlns:a16="http://schemas.microsoft.com/office/drawing/2014/main" id="{6B0AEC4D-4223-4672-83A9-30C7B9C820D1}"/>
              </a:ext>
            </a:extLst>
          </p:cNvPr>
          <p:cNvSpPr>
            <a:spLocks noGrp="1"/>
          </p:cNvSpPr>
          <p:nvPr/>
        </p:nvSpPr>
        <p:spPr>
          <a:xfrm>
            <a:off x="12251564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20%</a:t>
            </a:r>
          </a:p>
        </p:txBody>
      </p:sp>
      <p:sp>
        <p:nvSpPr>
          <p:cNvPr id="213" name="Прямоугольник 212">
            <a:extLst>
              <a:ext uri="{FF2B5EF4-FFF2-40B4-BE49-F238E27FC236}">
                <a16:creationId xmlns:a16="http://schemas.microsoft.com/office/drawing/2014/main" id="{4915A3B3-07A5-4ACA-BCF3-A77608CD3CC4}"/>
              </a:ext>
            </a:extLst>
          </p:cNvPr>
          <p:cNvSpPr>
            <a:spLocks noGrp="1"/>
          </p:cNvSpPr>
          <p:nvPr/>
        </p:nvSpPr>
        <p:spPr>
          <a:xfrm>
            <a:off x="12950986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80%</a:t>
            </a:r>
          </a:p>
        </p:txBody>
      </p:sp>
      <p:sp>
        <p:nvSpPr>
          <p:cNvPr id="214" name="Прямоугольник 213">
            <a:extLst>
              <a:ext uri="{FF2B5EF4-FFF2-40B4-BE49-F238E27FC236}">
                <a16:creationId xmlns:a16="http://schemas.microsoft.com/office/drawing/2014/main" id="{C910556A-14D4-4633-AF7F-394EB547FB94}"/>
              </a:ext>
            </a:extLst>
          </p:cNvPr>
          <p:cNvSpPr>
            <a:spLocks noGrp="1"/>
          </p:cNvSpPr>
          <p:nvPr/>
        </p:nvSpPr>
        <p:spPr>
          <a:xfrm>
            <a:off x="13585289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0%</a:t>
            </a:r>
          </a:p>
        </p:txBody>
      </p:sp>
      <p:sp>
        <p:nvSpPr>
          <p:cNvPr id="217" name="Прямоугольник: скругленные углы 216">
            <a:extLst>
              <a:ext uri="{FF2B5EF4-FFF2-40B4-BE49-F238E27FC236}">
                <a16:creationId xmlns:a16="http://schemas.microsoft.com/office/drawing/2014/main" id="{AE617BC6-16B2-4F4E-B17A-6747FB1CDC4B}"/>
              </a:ext>
            </a:extLst>
          </p:cNvPr>
          <p:cNvSpPr>
            <a:spLocks noGrp="1"/>
          </p:cNvSpPr>
          <p:nvPr/>
        </p:nvSpPr>
        <p:spPr>
          <a:xfrm>
            <a:off x="15831271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B0FEEA35-3763-446A-9F70-4D0BF4D504B8}"/>
              </a:ext>
            </a:extLst>
          </p:cNvPr>
          <p:cNvSpPr>
            <a:spLocks noGrp="1"/>
          </p:cNvSpPr>
          <p:nvPr/>
        </p:nvSpPr>
        <p:spPr>
          <a:xfrm>
            <a:off x="15998122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ТСХ</a:t>
            </a:r>
          </a:p>
        </p:txBody>
      </p:sp>
      <p:sp>
        <p:nvSpPr>
          <p:cNvPr id="221" name="Прямоугольник 220">
            <a:extLst>
              <a:ext uri="{FF2B5EF4-FFF2-40B4-BE49-F238E27FC236}">
                <a16:creationId xmlns:a16="http://schemas.microsoft.com/office/drawing/2014/main" id="{285D7C2D-E579-4094-90C9-C376A8E4DD0D}"/>
              </a:ext>
            </a:extLst>
          </p:cNvPr>
          <p:cNvSpPr>
            <a:spLocks noGrp="1"/>
          </p:cNvSpPr>
          <p:nvPr/>
        </p:nvSpPr>
        <p:spPr>
          <a:xfrm>
            <a:off x="15998778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4</a:t>
            </a:r>
          </a:p>
        </p:txBody>
      </p:sp>
      <p:sp>
        <p:nvSpPr>
          <p:cNvPr id="222" name="Прямоугольник 221">
            <a:extLst>
              <a:ext uri="{FF2B5EF4-FFF2-40B4-BE49-F238E27FC236}">
                <a16:creationId xmlns:a16="http://schemas.microsoft.com/office/drawing/2014/main" id="{18F48DD3-83E2-41A2-AECF-7C4DDC6CA699}"/>
              </a:ext>
            </a:extLst>
          </p:cNvPr>
          <p:cNvSpPr>
            <a:spLocks noGrp="1"/>
          </p:cNvSpPr>
          <p:nvPr/>
        </p:nvSpPr>
        <p:spPr>
          <a:xfrm>
            <a:off x="16017417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223" name="Прямоугольник 222">
            <a:extLst>
              <a:ext uri="{FF2B5EF4-FFF2-40B4-BE49-F238E27FC236}">
                <a16:creationId xmlns:a16="http://schemas.microsoft.com/office/drawing/2014/main" id="{F9D70D9D-2061-4527-BDE9-E94CE86A1D24}"/>
              </a:ext>
            </a:extLst>
          </p:cNvPr>
          <p:cNvSpPr>
            <a:spLocks noGrp="1"/>
          </p:cNvSpPr>
          <p:nvPr/>
        </p:nvSpPr>
        <p:spPr>
          <a:xfrm>
            <a:off x="17147162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4</a:t>
            </a:r>
          </a:p>
        </p:txBody>
      </p:sp>
      <p:sp>
        <p:nvSpPr>
          <p:cNvPr id="224" name="Прямоугольник 223">
            <a:extLst>
              <a:ext uri="{FF2B5EF4-FFF2-40B4-BE49-F238E27FC236}">
                <a16:creationId xmlns:a16="http://schemas.microsoft.com/office/drawing/2014/main" id="{410415D2-1BEE-482C-9A1D-ECAC4A720272}"/>
              </a:ext>
            </a:extLst>
          </p:cNvPr>
          <p:cNvSpPr>
            <a:spLocks noGrp="1"/>
          </p:cNvSpPr>
          <p:nvPr/>
        </p:nvSpPr>
        <p:spPr>
          <a:xfrm>
            <a:off x="17161376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225" name="Прямоугольник 224">
            <a:extLst>
              <a:ext uri="{FF2B5EF4-FFF2-40B4-BE49-F238E27FC236}">
                <a16:creationId xmlns:a16="http://schemas.microsoft.com/office/drawing/2014/main" id="{DE7D809B-FF50-420E-B242-2FC83703701B}"/>
              </a:ext>
            </a:extLst>
          </p:cNvPr>
          <p:cNvSpPr>
            <a:spLocks noGrp="1"/>
          </p:cNvSpPr>
          <p:nvPr/>
        </p:nvSpPr>
        <p:spPr>
          <a:xfrm>
            <a:off x="18295546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latin typeface="X5 Sans" panose="020B0403020203020204" pitchFamily="34" charset="0"/>
                <a:ea typeface="X5 Sans" panose="020B0403020203020204" pitchFamily="34" charset="0"/>
              </a:rPr>
              <a:t>0</a:t>
            </a:r>
          </a:p>
        </p:txBody>
      </p:sp>
      <p:sp>
        <p:nvSpPr>
          <p:cNvPr id="226" name="Прямоугольник 225">
            <a:extLst>
              <a:ext uri="{FF2B5EF4-FFF2-40B4-BE49-F238E27FC236}">
                <a16:creationId xmlns:a16="http://schemas.microsoft.com/office/drawing/2014/main" id="{19D98DAA-9070-40CE-9157-D69FCE597E8F}"/>
              </a:ext>
            </a:extLst>
          </p:cNvPr>
          <p:cNvSpPr>
            <a:spLocks noGrp="1"/>
          </p:cNvSpPr>
          <p:nvPr/>
        </p:nvSpPr>
        <p:spPr>
          <a:xfrm>
            <a:off x="18248787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227" name="Прямоугольник 226">
            <a:extLst>
              <a:ext uri="{FF2B5EF4-FFF2-40B4-BE49-F238E27FC236}">
                <a16:creationId xmlns:a16="http://schemas.microsoft.com/office/drawing/2014/main" id="{34C7F290-26AF-44A4-81CB-9147C41C76BC}"/>
              </a:ext>
            </a:extLst>
          </p:cNvPr>
          <p:cNvSpPr>
            <a:spLocks noGrp="1"/>
          </p:cNvSpPr>
          <p:nvPr/>
        </p:nvSpPr>
        <p:spPr>
          <a:xfrm>
            <a:off x="17027986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28" name="Прямоугольник 227">
            <a:extLst>
              <a:ext uri="{FF2B5EF4-FFF2-40B4-BE49-F238E27FC236}">
                <a16:creationId xmlns:a16="http://schemas.microsoft.com/office/drawing/2014/main" id="{BCA8B54E-C034-4B07-B831-CF40E0D92D4C}"/>
              </a:ext>
            </a:extLst>
          </p:cNvPr>
          <p:cNvSpPr>
            <a:spLocks noGrp="1"/>
          </p:cNvSpPr>
          <p:nvPr/>
        </p:nvSpPr>
        <p:spPr>
          <a:xfrm>
            <a:off x="18149596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29" name="Прямоугольник 228">
            <a:extLst>
              <a:ext uri="{FF2B5EF4-FFF2-40B4-BE49-F238E27FC236}">
                <a16:creationId xmlns:a16="http://schemas.microsoft.com/office/drawing/2014/main" id="{8F56DF3E-3264-4431-9546-DD71AA348D42}"/>
              </a:ext>
            </a:extLst>
          </p:cNvPr>
          <p:cNvSpPr>
            <a:spLocks noGrp="1"/>
          </p:cNvSpPr>
          <p:nvPr/>
        </p:nvSpPr>
        <p:spPr>
          <a:xfrm>
            <a:off x="15974611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30" name="Прямоугольник 229">
            <a:extLst>
              <a:ext uri="{FF2B5EF4-FFF2-40B4-BE49-F238E27FC236}">
                <a16:creationId xmlns:a16="http://schemas.microsoft.com/office/drawing/2014/main" id="{16867DFD-2E1F-4FDC-BAF3-7CB73E13C926}"/>
              </a:ext>
            </a:extLst>
          </p:cNvPr>
          <p:cNvSpPr>
            <a:spLocks noGrp="1"/>
          </p:cNvSpPr>
          <p:nvPr/>
        </p:nvSpPr>
        <p:spPr>
          <a:xfrm>
            <a:off x="15968471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231" name="Прямоугольник 230">
            <a:extLst>
              <a:ext uri="{FF2B5EF4-FFF2-40B4-BE49-F238E27FC236}">
                <a16:creationId xmlns:a16="http://schemas.microsoft.com/office/drawing/2014/main" id="{721A4419-8DF8-44B9-973A-831B7EED3A87}"/>
              </a:ext>
            </a:extLst>
          </p:cNvPr>
          <p:cNvSpPr>
            <a:spLocks noGrp="1"/>
          </p:cNvSpPr>
          <p:nvPr/>
        </p:nvSpPr>
        <p:spPr>
          <a:xfrm>
            <a:off x="15968431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85,9 млн ₽</a:t>
            </a:r>
          </a:p>
        </p:txBody>
      </p:sp>
      <p:sp>
        <p:nvSpPr>
          <p:cNvPr id="232" name="Прямоугольник 231">
            <a:extLst>
              <a:ext uri="{FF2B5EF4-FFF2-40B4-BE49-F238E27FC236}">
                <a16:creationId xmlns:a16="http://schemas.microsoft.com/office/drawing/2014/main" id="{6C8D6278-BC2F-4F52-BDC6-260370582478}"/>
              </a:ext>
            </a:extLst>
          </p:cNvPr>
          <p:cNvSpPr>
            <a:spLocks noGrp="1"/>
          </p:cNvSpPr>
          <p:nvPr/>
        </p:nvSpPr>
        <p:spPr>
          <a:xfrm>
            <a:off x="15974610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233" name="Прямоугольник 232">
            <a:extLst>
              <a:ext uri="{FF2B5EF4-FFF2-40B4-BE49-F238E27FC236}">
                <a16:creationId xmlns:a16="http://schemas.microsoft.com/office/drawing/2014/main" id="{055C2CD4-A12D-47B4-B58E-B90B7DEC1059}"/>
              </a:ext>
            </a:extLst>
          </p:cNvPr>
          <p:cNvSpPr>
            <a:spLocks noGrp="1"/>
          </p:cNvSpPr>
          <p:nvPr/>
        </p:nvSpPr>
        <p:spPr>
          <a:xfrm>
            <a:off x="15974609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50%</a:t>
            </a:r>
          </a:p>
        </p:txBody>
      </p:sp>
      <p:sp>
        <p:nvSpPr>
          <p:cNvPr id="234" name="Прямоугольник 233">
            <a:extLst>
              <a:ext uri="{FF2B5EF4-FFF2-40B4-BE49-F238E27FC236}">
                <a16:creationId xmlns:a16="http://schemas.microsoft.com/office/drawing/2014/main" id="{75FC7042-E5E3-438F-A1E3-3227D7F854C0}"/>
              </a:ext>
            </a:extLst>
          </p:cNvPr>
          <p:cNvSpPr>
            <a:spLocks noGrp="1"/>
          </p:cNvSpPr>
          <p:nvPr/>
        </p:nvSpPr>
        <p:spPr>
          <a:xfrm>
            <a:off x="16674031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0%</a:t>
            </a:r>
          </a:p>
        </p:txBody>
      </p:sp>
      <p:sp>
        <p:nvSpPr>
          <p:cNvPr id="235" name="Прямоугольник 234">
            <a:extLst>
              <a:ext uri="{FF2B5EF4-FFF2-40B4-BE49-F238E27FC236}">
                <a16:creationId xmlns:a16="http://schemas.microsoft.com/office/drawing/2014/main" id="{D096019A-4EA4-4444-B701-583587632E3E}"/>
              </a:ext>
            </a:extLst>
          </p:cNvPr>
          <p:cNvSpPr>
            <a:spLocks noGrp="1"/>
          </p:cNvSpPr>
          <p:nvPr/>
        </p:nvSpPr>
        <p:spPr>
          <a:xfrm>
            <a:off x="17308334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50%</a:t>
            </a:r>
          </a:p>
        </p:txBody>
      </p:sp>
      <p:sp>
        <p:nvSpPr>
          <p:cNvPr id="238" name="Прямоугольник: скругленные углы 237">
            <a:extLst>
              <a:ext uri="{FF2B5EF4-FFF2-40B4-BE49-F238E27FC236}">
                <a16:creationId xmlns:a16="http://schemas.microsoft.com/office/drawing/2014/main" id="{EB48D48D-DDFF-4CC8-BE2C-C0299808269B}"/>
              </a:ext>
            </a:extLst>
          </p:cNvPr>
          <p:cNvSpPr>
            <a:spLocks noGrp="1"/>
          </p:cNvSpPr>
          <p:nvPr/>
        </p:nvSpPr>
        <p:spPr>
          <a:xfrm>
            <a:off x="19539631" y="4315053"/>
            <a:ext cx="3617615" cy="2885452"/>
          </a:xfrm>
          <a:prstGeom prst="roundRect">
            <a:avLst>
              <a:gd name="adj" fmla="val 3390"/>
            </a:avLst>
          </a:prstGeom>
          <a:solidFill>
            <a:srgbClr val="10213D"/>
          </a:solidFill>
          <a:ln w="9525">
            <a:solidFill>
              <a:srgbClr val="304768"/>
            </a:solidFill>
            <a:prstDash val="solid"/>
          </a:ln>
        </p:spPr>
      </p:sp>
      <p:sp>
        <p:nvSpPr>
          <p:cNvPr id="239" name="Прямоугольник 238">
            <a:extLst>
              <a:ext uri="{FF2B5EF4-FFF2-40B4-BE49-F238E27FC236}">
                <a16:creationId xmlns:a16="http://schemas.microsoft.com/office/drawing/2014/main" id="{FC4F1CBB-A609-436B-9154-37ABDF215080}"/>
              </a:ext>
            </a:extLst>
          </p:cNvPr>
          <p:cNvSpPr>
            <a:spLocks noGrp="1"/>
          </p:cNvSpPr>
          <p:nvPr/>
        </p:nvSpPr>
        <p:spPr>
          <a:xfrm>
            <a:off x="19706482" y="4360810"/>
            <a:ext cx="3617615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8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ТСЧ</a:t>
            </a:r>
          </a:p>
        </p:txBody>
      </p:sp>
      <p:sp>
        <p:nvSpPr>
          <p:cNvPr id="242" name="Прямоугольник 241">
            <a:extLst>
              <a:ext uri="{FF2B5EF4-FFF2-40B4-BE49-F238E27FC236}">
                <a16:creationId xmlns:a16="http://schemas.microsoft.com/office/drawing/2014/main" id="{2FC825C5-C229-49C1-A3C7-DF91F15026BE}"/>
              </a:ext>
            </a:extLst>
          </p:cNvPr>
          <p:cNvSpPr>
            <a:spLocks noGrp="1"/>
          </p:cNvSpPr>
          <p:nvPr/>
        </p:nvSpPr>
        <p:spPr>
          <a:xfrm>
            <a:off x="19707138" y="4995117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32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4</a:t>
            </a:r>
          </a:p>
        </p:txBody>
      </p:sp>
      <p:sp>
        <p:nvSpPr>
          <p:cNvPr id="243" name="Прямоугольник 242">
            <a:extLst>
              <a:ext uri="{FF2B5EF4-FFF2-40B4-BE49-F238E27FC236}">
                <a16:creationId xmlns:a16="http://schemas.microsoft.com/office/drawing/2014/main" id="{F66E4133-2D9B-47EB-9705-D04E992CB519}"/>
              </a:ext>
            </a:extLst>
          </p:cNvPr>
          <p:cNvSpPr>
            <a:spLocks noGrp="1"/>
          </p:cNvSpPr>
          <p:nvPr/>
        </p:nvSpPr>
        <p:spPr>
          <a:xfrm>
            <a:off x="19725777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244" name="Прямоугольник 243">
            <a:extLst>
              <a:ext uri="{FF2B5EF4-FFF2-40B4-BE49-F238E27FC236}">
                <a16:creationId xmlns:a16="http://schemas.microsoft.com/office/drawing/2014/main" id="{71008BF2-BD23-40C3-9CBD-52E890B7C95F}"/>
              </a:ext>
            </a:extLst>
          </p:cNvPr>
          <p:cNvSpPr>
            <a:spLocks noGrp="1"/>
          </p:cNvSpPr>
          <p:nvPr/>
        </p:nvSpPr>
        <p:spPr>
          <a:xfrm>
            <a:off x="20855522" y="5001809"/>
            <a:ext cx="1751687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58C487"/>
                </a:solidFill>
                <a:latin typeface="Arial"/>
                <a:ea typeface="Arial"/>
                <a:cs typeface="Arial"/>
              </a:defRPr>
            </a:pPr>
            <a:r>
              <a:rPr lang="en-US" sz="3200" dirty="0">
                <a:latin typeface="X5 Sans" panose="020B0403020203020204" pitchFamily="34" charset="0"/>
                <a:ea typeface="X5 Sans" panose="020B0403020203020204" pitchFamily="34" charset="0"/>
              </a:rPr>
              <a:t>1</a:t>
            </a:r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45" name="Прямоугольник 244">
            <a:extLst>
              <a:ext uri="{FF2B5EF4-FFF2-40B4-BE49-F238E27FC236}">
                <a16:creationId xmlns:a16="http://schemas.microsoft.com/office/drawing/2014/main" id="{5A11B012-9946-46B9-B68D-157D1EF2FFF6}"/>
              </a:ext>
            </a:extLst>
          </p:cNvPr>
          <p:cNvSpPr>
            <a:spLocks noGrp="1"/>
          </p:cNvSpPr>
          <p:nvPr/>
        </p:nvSpPr>
        <p:spPr>
          <a:xfrm>
            <a:off x="20869736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sp>
        <p:nvSpPr>
          <p:cNvPr id="246" name="Прямоугольник 245">
            <a:extLst>
              <a:ext uri="{FF2B5EF4-FFF2-40B4-BE49-F238E27FC236}">
                <a16:creationId xmlns:a16="http://schemas.microsoft.com/office/drawing/2014/main" id="{C55ECF23-EEF7-4427-AC6E-D38C3656EE00}"/>
              </a:ext>
            </a:extLst>
          </p:cNvPr>
          <p:cNvSpPr>
            <a:spLocks noGrp="1"/>
          </p:cNvSpPr>
          <p:nvPr/>
        </p:nvSpPr>
        <p:spPr>
          <a:xfrm>
            <a:off x="22003906" y="4992262"/>
            <a:ext cx="895014" cy="5902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F2B544"/>
                </a:solidFill>
                <a:latin typeface="Arial"/>
                <a:ea typeface="Arial"/>
                <a:cs typeface="Arial"/>
              </a:defRPr>
            </a:pPr>
            <a:r>
              <a:rPr lang="en-US" sz="3200" dirty="0">
                <a:latin typeface="X5 Sans" panose="020B0403020203020204" pitchFamily="34" charset="0"/>
                <a:ea typeface="X5 Sans" panose="020B0403020203020204" pitchFamily="34" charset="0"/>
              </a:rPr>
              <a:t>3</a:t>
            </a:r>
            <a:endParaRPr lang="ru-RU" sz="3200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47" name="Прямоугольник 246">
            <a:extLst>
              <a:ext uri="{FF2B5EF4-FFF2-40B4-BE49-F238E27FC236}">
                <a16:creationId xmlns:a16="http://schemas.microsoft.com/office/drawing/2014/main" id="{DA7FC26B-6F5E-425B-AB01-3FFD7C8173A6}"/>
              </a:ext>
            </a:extLst>
          </p:cNvPr>
          <p:cNvSpPr>
            <a:spLocks noGrp="1"/>
          </p:cNvSpPr>
          <p:nvPr/>
        </p:nvSpPr>
        <p:spPr>
          <a:xfrm>
            <a:off x="21957147" y="5431413"/>
            <a:ext cx="111604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В РАБОТЕ</a:t>
            </a:r>
          </a:p>
        </p:txBody>
      </p:sp>
      <p:sp>
        <p:nvSpPr>
          <p:cNvPr id="248" name="Прямоугольник 247">
            <a:extLst>
              <a:ext uri="{FF2B5EF4-FFF2-40B4-BE49-F238E27FC236}">
                <a16:creationId xmlns:a16="http://schemas.microsoft.com/office/drawing/2014/main" id="{D28B8F3C-4440-4676-A8B3-83E78F3109CA}"/>
              </a:ext>
            </a:extLst>
          </p:cNvPr>
          <p:cNvSpPr>
            <a:spLocks noGrp="1"/>
          </p:cNvSpPr>
          <p:nvPr/>
        </p:nvSpPr>
        <p:spPr>
          <a:xfrm>
            <a:off x="20736346" y="5110807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49" name="Прямоугольник 248">
            <a:extLst>
              <a:ext uri="{FF2B5EF4-FFF2-40B4-BE49-F238E27FC236}">
                <a16:creationId xmlns:a16="http://schemas.microsoft.com/office/drawing/2014/main" id="{E18182B5-A7C0-4325-898B-DD46A4114738}"/>
              </a:ext>
            </a:extLst>
          </p:cNvPr>
          <p:cNvSpPr>
            <a:spLocks noGrp="1"/>
          </p:cNvSpPr>
          <p:nvPr/>
        </p:nvSpPr>
        <p:spPr>
          <a:xfrm>
            <a:off x="21857956" y="5094935"/>
            <a:ext cx="19040" cy="576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50" name="Прямоугольник 249">
            <a:extLst>
              <a:ext uri="{FF2B5EF4-FFF2-40B4-BE49-F238E27FC236}">
                <a16:creationId xmlns:a16="http://schemas.microsoft.com/office/drawing/2014/main" id="{B31B66C5-1A4E-4F76-9F6C-349AFE841BA4}"/>
              </a:ext>
            </a:extLst>
          </p:cNvPr>
          <p:cNvSpPr>
            <a:spLocks noGrp="1"/>
          </p:cNvSpPr>
          <p:nvPr/>
        </p:nvSpPr>
        <p:spPr>
          <a:xfrm>
            <a:off x="19682971" y="5784273"/>
            <a:ext cx="3384000" cy="18000"/>
          </a:xfrm>
          <a:prstGeom prst="rect">
            <a:avLst/>
          </a:prstGeom>
          <a:solidFill>
            <a:srgbClr val="304768"/>
          </a:solidFill>
          <a:ln w="0">
            <a:noFill/>
          </a:ln>
        </p:spPr>
      </p:sp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0E804468-8D8D-4E30-A104-ED50BE3BC02E}"/>
              </a:ext>
            </a:extLst>
          </p:cNvPr>
          <p:cNvSpPr>
            <a:spLocks noGrp="1"/>
          </p:cNvSpPr>
          <p:nvPr/>
        </p:nvSpPr>
        <p:spPr>
          <a:xfrm>
            <a:off x="19676831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252" name="Прямоугольник 251">
            <a:extLst>
              <a:ext uri="{FF2B5EF4-FFF2-40B4-BE49-F238E27FC236}">
                <a16:creationId xmlns:a16="http://schemas.microsoft.com/office/drawing/2014/main" id="{BEA3C198-6E1A-4B2A-A5B6-E2F97F5887C3}"/>
              </a:ext>
            </a:extLst>
          </p:cNvPr>
          <p:cNvSpPr>
            <a:spLocks noGrp="1"/>
          </p:cNvSpPr>
          <p:nvPr/>
        </p:nvSpPr>
        <p:spPr>
          <a:xfrm>
            <a:off x="19676791" y="5996210"/>
            <a:ext cx="2284809" cy="5521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F7FAFF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65,6 млн ₽</a:t>
            </a: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31AC224C-0BC4-41D1-83A9-A373D388C0C4}"/>
              </a:ext>
            </a:extLst>
          </p:cNvPr>
          <p:cNvSpPr>
            <a:spLocks noGrp="1"/>
          </p:cNvSpPr>
          <p:nvPr/>
        </p:nvSpPr>
        <p:spPr>
          <a:xfrm>
            <a:off x="19682970" y="6500166"/>
            <a:ext cx="2284809" cy="2856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КРИТИЧНОСТЬ</a:t>
            </a: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1BBA1EC3-CA3A-42B9-9C81-3381A25B1429}"/>
              </a:ext>
            </a:extLst>
          </p:cNvPr>
          <p:cNvSpPr>
            <a:spLocks noGrp="1"/>
          </p:cNvSpPr>
          <p:nvPr/>
        </p:nvSpPr>
        <p:spPr>
          <a:xfrm>
            <a:off x="19682969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25%</a:t>
            </a:r>
          </a:p>
        </p:txBody>
      </p:sp>
      <p:sp>
        <p:nvSpPr>
          <p:cNvPr id="255" name="Прямоугольник 254">
            <a:extLst>
              <a:ext uri="{FF2B5EF4-FFF2-40B4-BE49-F238E27FC236}">
                <a16:creationId xmlns:a16="http://schemas.microsoft.com/office/drawing/2014/main" id="{D61FE4DE-6206-478C-B3CD-45A9430200BC}"/>
              </a:ext>
            </a:extLst>
          </p:cNvPr>
          <p:cNvSpPr>
            <a:spLocks noGrp="1"/>
          </p:cNvSpPr>
          <p:nvPr/>
        </p:nvSpPr>
        <p:spPr>
          <a:xfrm>
            <a:off x="20382391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25%</a:t>
            </a: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E1F1703-4A8D-4F98-A23D-8C9BC0E9347A}"/>
              </a:ext>
            </a:extLst>
          </p:cNvPr>
          <p:cNvSpPr>
            <a:spLocks noGrp="1"/>
          </p:cNvSpPr>
          <p:nvPr/>
        </p:nvSpPr>
        <p:spPr>
          <a:xfrm>
            <a:off x="21016694" y="6696703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defRPr sz="675" b="1">
                <a:solidFill>
                  <a:srgbClr val="8BE2AD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Низкий  50%</a:t>
            </a:r>
          </a:p>
        </p:txBody>
      </p:sp>
      <p:sp>
        <p:nvSpPr>
          <p:cNvPr id="262" name="Прямоугольник: скругленные углы 261">
            <a:extLst>
              <a:ext uri="{FF2B5EF4-FFF2-40B4-BE49-F238E27FC236}">
                <a16:creationId xmlns:a16="http://schemas.microsoft.com/office/drawing/2014/main" id="{347796C1-F9EA-4586-B454-A12C355AF2E4}"/>
              </a:ext>
            </a:extLst>
          </p:cNvPr>
          <p:cNvSpPr>
            <a:spLocks noGrp="1"/>
          </p:cNvSpPr>
          <p:nvPr/>
        </p:nvSpPr>
        <p:spPr>
          <a:xfrm>
            <a:off x="17977672" y="4453090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173D31"/>
          </a:solidFill>
          <a:ln w="0">
            <a:noFill/>
          </a:ln>
        </p:spPr>
      </p:sp>
      <p:sp>
        <p:nvSpPr>
          <p:cNvPr id="263" name="Прямоугольник 262">
            <a:extLst>
              <a:ext uri="{FF2B5EF4-FFF2-40B4-BE49-F238E27FC236}">
                <a16:creationId xmlns:a16="http://schemas.microsoft.com/office/drawing/2014/main" id="{5BA6D39F-F7D9-4DF8-AFA6-0067BDFA35CE}"/>
              </a:ext>
            </a:extLst>
          </p:cNvPr>
          <p:cNvSpPr>
            <a:spLocks noGrp="1"/>
          </p:cNvSpPr>
          <p:nvPr/>
        </p:nvSpPr>
        <p:spPr>
          <a:xfrm>
            <a:off x="17918466" y="4329405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FF9B9B"/>
                </a:solidFill>
                <a:latin typeface="Arial"/>
                <a:ea typeface="Arial"/>
                <a:cs typeface="Arial"/>
              </a:defRPr>
            </a:pPr>
            <a:r>
              <a:rPr lang="en-US" sz="1200" b="1" kern="1200" dirty="0">
                <a:solidFill>
                  <a:srgbClr val="79E6A7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100</a:t>
            </a:r>
            <a:r>
              <a:rPr lang="ru-RU" sz="1200" b="1" kern="1200" dirty="0">
                <a:solidFill>
                  <a:srgbClr val="79E6A7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% закрыто</a:t>
            </a:r>
          </a:p>
        </p:txBody>
      </p:sp>
      <p:sp>
        <p:nvSpPr>
          <p:cNvPr id="265" name="Прямоугольник: скругленные углы 264">
            <a:extLst>
              <a:ext uri="{FF2B5EF4-FFF2-40B4-BE49-F238E27FC236}">
                <a16:creationId xmlns:a16="http://schemas.microsoft.com/office/drawing/2014/main" id="{A7DA284C-62D1-49F6-976A-EA9B07137CF8}"/>
              </a:ext>
            </a:extLst>
          </p:cNvPr>
          <p:cNvSpPr>
            <a:spLocks noGrp="1"/>
          </p:cNvSpPr>
          <p:nvPr/>
        </p:nvSpPr>
        <p:spPr>
          <a:xfrm>
            <a:off x="21685075" y="4453090"/>
            <a:ext cx="1348107" cy="321318"/>
          </a:xfrm>
          <a:prstGeom prst="roundRect">
            <a:avLst>
              <a:gd name="adj" fmla="val 26667"/>
            </a:avLst>
          </a:prstGeom>
          <a:solidFill>
            <a:srgbClr val="493A24">
              <a:alpha val="57000"/>
            </a:srgbClr>
          </a:solidFill>
          <a:ln w="0">
            <a:noFill/>
          </a:ln>
        </p:spPr>
      </p:sp>
      <p:sp>
        <p:nvSpPr>
          <p:cNvPr id="266" name="Прямоугольник 265">
            <a:extLst>
              <a:ext uri="{FF2B5EF4-FFF2-40B4-BE49-F238E27FC236}">
                <a16:creationId xmlns:a16="http://schemas.microsoft.com/office/drawing/2014/main" id="{1272277C-7C28-43B5-9452-F8720EA9F9BD}"/>
              </a:ext>
            </a:extLst>
          </p:cNvPr>
          <p:cNvSpPr>
            <a:spLocks noGrp="1"/>
          </p:cNvSpPr>
          <p:nvPr/>
        </p:nvSpPr>
        <p:spPr>
          <a:xfrm>
            <a:off x="21625869" y="4329405"/>
            <a:ext cx="1466518" cy="5712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D071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25</a:t>
            </a:r>
            <a:r>
              <a:rPr lang="ru-RU" sz="1200" b="1" dirty="0">
                <a:solidFill>
                  <a:srgbClr val="FFD071"/>
                </a:solidFill>
                <a:latin typeface="X5 Sans" panose="020B0403020203020204" pitchFamily="34" charset="0"/>
                <a:ea typeface="X5 Sans" panose="020B0403020203020204" pitchFamily="34" charset="0"/>
                <a:cs typeface="Arial"/>
              </a:rPr>
              <a:t>% закрыто</a:t>
            </a:r>
          </a:p>
        </p:txBody>
      </p:sp>
      <p:sp>
        <p:nvSpPr>
          <p:cNvPr id="267" name="Прямоугольник: скругленные углы 266">
            <a:extLst>
              <a:ext uri="{FF2B5EF4-FFF2-40B4-BE49-F238E27FC236}">
                <a16:creationId xmlns:a16="http://schemas.microsoft.com/office/drawing/2014/main" id="{D83AD13F-FE9F-4273-95E9-0E145D4B4BC8}"/>
              </a:ext>
            </a:extLst>
          </p:cNvPr>
          <p:cNvSpPr>
            <a:spLocks noGrp="1"/>
          </p:cNvSpPr>
          <p:nvPr/>
        </p:nvSpPr>
        <p:spPr>
          <a:xfrm>
            <a:off x="4627242" y="7019152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68" name="Прямоугольник 267">
            <a:extLst>
              <a:ext uri="{FF2B5EF4-FFF2-40B4-BE49-F238E27FC236}">
                <a16:creationId xmlns:a16="http://schemas.microsoft.com/office/drawing/2014/main" id="{2E8167AF-69A0-43A9-BE4F-BE759DE1B303}"/>
              </a:ext>
            </a:extLst>
          </p:cNvPr>
          <p:cNvSpPr>
            <a:spLocks noGrp="1"/>
          </p:cNvSpPr>
          <p:nvPr/>
        </p:nvSpPr>
        <p:spPr>
          <a:xfrm>
            <a:off x="4627241" y="7019152"/>
            <a:ext cx="1404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69" name="Прямоугольник 268">
            <a:extLst>
              <a:ext uri="{FF2B5EF4-FFF2-40B4-BE49-F238E27FC236}">
                <a16:creationId xmlns:a16="http://schemas.microsoft.com/office/drawing/2014/main" id="{105A30B6-B829-4EFA-A575-8F31908D73D1}"/>
              </a:ext>
            </a:extLst>
          </p:cNvPr>
          <p:cNvSpPr>
            <a:spLocks noGrp="1"/>
          </p:cNvSpPr>
          <p:nvPr/>
        </p:nvSpPr>
        <p:spPr>
          <a:xfrm>
            <a:off x="5995413" y="7019152"/>
            <a:ext cx="324000" cy="85725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270" name="Прямоугольник 269">
            <a:extLst>
              <a:ext uri="{FF2B5EF4-FFF2-40B4-BE49-F238E27FC236}">
                <a16:creationId xmlns:a16="http://schemas.microsoft.com/office/drawing/2014/main" id="{3EA53379-5347-470D-BD39-38640A59838E}"/>
              </a:ext>
            </a:extLst>
          </p:cNvPr>
          <p:cNvSpPr>
            <a:spLocks noGrp="1"/>
          </p:cNvSpPr>
          <p:nvPr/>
        </p:nvSpPr>
        <p:spPr>
          <a:xfrm>
            <a:off x="6256016" y="7019152"/>
            <a:ext cx="1764000" cy="85725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271" name="Прямоугольник: скругленные углы 270">
            <a:extLst>
              <a:ext uri="{FF2B5EF4-FFF2-40B4-BE49-F238E27FC236}">
                <a16:creationId xmlns:a16="http://schemas.microsoft.com/office/drawing/2014/main" id="{C4F12407-5999-46AD-8456-DF3131B140DC}"/>
              </a:ext>
            </a:extLst>
          </p:cNvPr>
          <p:cNvSpPr>
            <a:spLocks noGrp="1"/>
          </p:cNvSpPr>
          <p:nvPr/>
        </p:nvSpPr>
        <p:spPr>
          <a:xfrm>
            <a:off x="8279527" y="7030139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72" name="Прямоугольник 271">
            <a:extLst>
              <a:ext uri="{FF2B5EF4-FFF2-40B4-BE49-F238E27FC236}">
                <a16:creationId xmlns:a16="http://schemas.microsoft.com/office/drawing/2014/main" id="{31FA9E05-E30D-4349-B03D-00F816152F62}"/>
              </a:ext>
            </a:extLst>
          </p:cNvPr>
          <p:cNvSpPr>
            <a:spLocks noGrp="1"/>
          </p:cNvSpPr>
          <p:nvPr/>
        </p:nvSpPr>
        <p:spPr>
          <a:xfrm>
            <a:off x="8279527" y="7030139"/>
            <a:ext cx="1548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73" name="Прямоугольник 272">
            <a:extLst>
              <a:ext uri="{FF2B5EF4-FFF2-40B4-BE49-F238E27FC236}">
                <a16:creationId xmlns:a16="http://schemas.microsoft.com/office/drawing/2014/main" id="{9F5C9759-E0B7-48AD-8487-CC4DBE10D550}"/>
              </a:ext>
            </a:extLst>
          </p:cNvPr>
          <p:cNvSpPr>
            <a:spLocks noGrp="1"/>
          </p:cNvSpPr>
          <p:nvPr/>
        </p:nvSpPr>
        <p:spPr>
          <a:xfrm>
            <a:off x="9827527" y="7030139"/>
            <a:ext cx="1361322" cy="85725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274" name="Прямоугольник 273">
            <a:extLst>
              <a:ext uri="{FF2B5EF4-FFF2-40B4-BE49-F238E27FC236}">
                <a16:creationId xmlns:a16="http://schemas.microsoft.com/office/drawing/2014/main" id="{02436E45-C100-41E2-BEC2-1FB14BB6D8C4}"/>
              </a:ext>
            </a:extLst>
          </p:cNvPr>
          <p:cNvSpPr>
            <a:spLocks noGrp="1"/>
          </p:cNvSpPr>
          <p:nvPr/>
        </p:nvSpPr>
        <p:spPr>
          <a:xfrm>
            <a:off x="11191851" y="7030139"/>
            <a:ext cx="504000" cy="85725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275" name="Прямоугольник: скругленные углы 274">
            <a:extLst>
              <a:ext uri="{FF2B5EF4-FFF2-40B4-BE49-F238E27FC236}">
                <a16:creationId xmlns:a16="http://schemas.microsoft.com/office/drawing/2014/main" id="{4C7EF585-B7DA-4C74-BA65-780A2576A2A3}"/>
              </a:ext>
            </a:extLst>
          </p:cNvPr>
          <p:cNvSpPr>
            <a:spLocks noGrp="1"/>
          </p:cNvSpPr>
          <p:nvPr/>
        </p:nvSpPr>
        <p:spPr>
          <a:xfrm>
            <a:off x="12244792" y="7034239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76" name="Прямоугольник 275">
            <a:extLst>
              <a:ext uri="{FF2B5EF4-FFF2-40B4-BE49-F238E27FC236}">
                <a16:creationId xmlns:a16="http://schemas.microsoft.com/office/drawing/2014/main" id="{60976D8C-ED9D-4A4A-8F37-07698F0799F4}"/>
              </a:ext>
            </a:extLst>
          </p:cNvPr>
          <p:cNvSpPr>
            <a:spLocks noGrp="1"/>
          </p:cNvSpPr>
          <p:nvPr/>
        </p:nvSpPr>
        <p:spPr>
          <a:xfrm>
            <a:off x="12244792" y="7034239"/>
            <a:ext cx="756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88AD3AD5-26DD-4E42-BDC6-27CBE4596CA9}"/>
              </a:ext>
            </a:extLst>
          </p:cNvPr>
          <p:cNvSpPr>
            <a:spLocks noGrp="1"/>
          </p:cNvSpPr>
          <p:nvPr/>
        </p:nvSpPr>
        <p:spPr>
          <a:xfrm>
            <a:off x="12998465" y="7034239"/>
            <a:ext cx="2664000" cy="85725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278" name="Прямоугольник: скругленные углы 277">
            <a:extLst>
              <a:ext uri="{FF2B5EF4-FFF2-40B4-BE49-F238E27FC236}">
                <a16:creationId xmlns:a16="http://schemas.microsoft.com/office/drawing/2014/main" id="{9D87CB66-86E8-4A33-9155-982BACAD3D18}"/>
              </a:ext>
            </a:extLst>
          </p:cNvPr>
          <p:cNvSpPr>
            <a:spLocks noGrp="1"/>
          </p:cNvSpPr>
          <p:nvPr/>
        </p:nvSpPr>
        <p:spPr>
          <a:xfrm>
            <a:off x="15981018" y="7026977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79" name="Прямоугольник 278">
            <a:extLst>
              <a:ext uri="{FF2B5EF4-FFF2-40B4-BE49-F238E27FC236}">
                <a16:creationId xmlns:a16="http://schemas.microsoft.com/office/drawing/2014/main" id="{B051AD55-5B51-4EDC-88E6-12CF306B06AF}"/>
              </a:ext>
            </a:extLst>
          </p:cNvPr>
          <p:cNvSpPr>
            <a:spLocks noGrp="1"/>
          </p:cNvSpPr>
          <p:nvPr/>
        </p:nvSpPr>
        <p:spPr>
          <a:xfrm>
            <a:off x="15981017" y="7026977"/>
            <a:ext cx="1692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80" name="Прямоугольник 279">
            <a:extLst>
              <a:ext uri="{FF2B5EF4-FFF2-40B4-BE49-F238E27FC236}">
                <a16:creationId xmlns:a16="http://schemas.microsoft.com/office/drawing/2014/main" id="{E5CAF3D8-DE50-4521-B756-B62174C9FC52}"/>
              </a:ext>
            </a:extLst>
          </p:cNvPr>
          <p:cNvSpPr>
            <a:spLocks noGrp="1"/>
          </p:cNvSpPr>
          <p:nvPr/>
        </p:nvSpPr>
        <p:spPr>
          <a:xfrm>
            <a:off x="17667028" y="7026977"/>
            <a:ext cx="1692000" cy="85725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281" name="Прямоугольник: скругленные углы 280">
            <a:extLst>
              <a:ext uri="{FF2B5EF4-FFF2-40B4-BE49-F238E27FC236}">
                <a16:creationId xmlns:a16="http://schemas.microsoft.com/office/drawing/2014/main" id="{251C3EE0-9786-4F87-864F-F8BD4254DD37}"/>
              </a:ext>
            </a:extLst>
          </p:cNvPr>
          <p:cNvSpPr>
            <a:spLocks noGrp="1"/>
          </p:cNvSpPr>
          <p:nvPr/>
        </p:nvSpPr>
        <p:spPr>
          <a:xfrm>
            <a:off x="19676791" y="7027650"/>
            <a:ext cx="3257550" cy="85725"/>
          </a:xfrm>
          <a:prstGeom prst="roundRect">
            <a:avLst>
              <a:gd name="adj" fmla="val 50000"/>
            </a:avLst>
          </a:prstGeom>
          <a:solidFill>
            <a:srgbClr val="263B5A"/>
          </a:solidFill>
          <a:ln w="0">
            <a:noFill/>
          </a:ln>
        </p:spPr>
      </p:sp>
      <p:sp>
        <p:nvSpPr>
          <p:cNvPr id="282" name="Прямоугольник 281">
            <a:extLst>
              <a:ext uri="{FF2B5EF4-FFF2-40B4-BE49-F238E27FC236}">
                <a16:creationId xmlns:a16="http://schemas.microsoft.com/office/drawing/2014/main" id="{D908C7F3-EE39-49EE-908D-B1C3BB2BBB66}"/>
              </a:ext>
            </a:extLst>
          </p:cNvPr>
          <p:cNvSpPr>
            <a:spLocks noGrp="1"/>
          </p:cNvSpPr>
          <p:nvPr/>
        </p:nvSpPr>
        <p:spPr>
          <a:xfrm>
            <a:off x="19676791" y="7027650"/>
            <a:ext cx="864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283" name="Прямоугольник 282">
            <a:extLst>
              <a:ext uri="{FF2B5EF4-FFF2-40B4-BE49-F238E27FC236}">
                <a16:creationId xmlns:a16="http://schemas.microsoft.com/office/drawing/2014/main" id="{6DE2F0FB-46D5-4AD3-AAC1-6728C3B925C7}"/>
              </a:ext>
            </a:extLst>
          </p:cNvPr>
          <p:cNvSpPr>
            <a:spLocks noGrp="1"/>
          </p:cNvSpPr>
          <p:nvPr/>
        </p:nvSpPr>
        <p:spPr>
          <a:xfrm>
            <a:off x="20539322" y="7027650"/>
            <a:ext cx="864000" cy="85725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284" name="Прямоугольник 283">
            <a:extLst>
              <a:ext uri="{FF2B5EF4-FFF2-40B4-BE49-F238E27FC236}">
                <a16:creationId xmlns:a16="http://schemas.microsoft.com/office/drawing/2014/main" id="{CC3C56C8-2E44-48C0-9716-5979CE04ABAF}"/>
              </a:ext>
            </a:extLst>
          </p:cNvPr>
          <p:cNvSpPr>
            <a:spLocks noGrp="1"/>
          </p:cNvSpPr>
          <p:nvPr/>
        </p:nvSpPr>
        <p:spPr>
          <a:xfrm>
            <a:off x="21397144" y="7027650"/>
            <a:ext cx="1692000" cy="85725"/>
          </a:xfrm>
          <a:prstGeom prst="rect">
            <a:avLst/>
          </a:prstGeom>
          <a:solidFill>
            <a:srgbClr val="58C487"/>
          </a:solidFill>
          <a:ln w="0">
            <a:noFill/>
          </a:ln>
        </p:spPr>
      </p:sp>
      <p:sp>
        <p:nvSpPr>
          <p:cNvPr id="286" name="Text 6">
            <a:extLst>
              <a:ext uri="{FF2B5EF4-FFF2-40B4-BE49-F238E27FC236}">
                <a16:creationId xmlns:a16="http://schemas.microsoft.com/office/drawing/2014/main" id="{E35453B5-6EAE-422E-ACEB-17D6504E393F}"/>
              </a:ext>
            </a:extLst>
          </p:cNvPr>
          <p:cNvSpPr/>
          <p:nvPr/>
        </p:nvSpPr>
        <p:spPr>
          <a:xfrm>
            <a:off x="564242" y="419381"/>
            <a:ext cx="19283795" cy="63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ru-RU" sz="4498" b="1" dirty="0">
                <a:solidFill>
                  <a:srgbClr val="F4F1E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Статистика по инцидентам ВК за 5 мес. 2026</a:t>
            </a:r>
          </a:p>
        </p:txBody>
      </p:sp>
      <p:sp>
        <p:nvSpPr>
          <p:cNvPr id="287" name="Shape 8">
            <a:extLst>
              <a:ext uri="{FF2B5EF4-FFF2-40B4-BE49-F238E27FC236}">
                <a16:creationId xmlns:a16="http://schemas.microsoft.com/office/drawing/2014/main" id="{92DB6C90-7CAB-4CCF-85A2-869334A76E0A}"/>
              </a:ext>
            </a:extLst>
          </p:cNvPr>
          <p:cNvSpPr/>
          <p:nvPr/>
        </p:nvSpPr>
        <p:spPr>
          <a:xfrm>
            <a:off x="795821" y="2331183"/>
            <a:ext cx="3276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88" name="Text 9">
            <a:extLst>
              <a:ext uri="{FF2B5EF4-FFF2-40B4-BE49-F238E27FC236}">
                <a16:creationId xmlns:a16="http://schemas.microsoft.com/office/drawing/2014/main" id="{AB585AD1-D372-4DDE-97FA-7B39F4A9BDE2}"/>
              </a:ext>
            </a:extLst>
          </p:cNvPr>
          <p:cNvSpPr/>
          <p:nvPr/>
        </p:nvSpPr>
        <p:spPr>
          <a:xfrm>
            <a:off x="975898" y="2591682"/>
            <a:ext cx="698627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Autofit/>
          </a:bodyPr>
          <a:lstStyle/>
          <a:p>
            <a:r>
              <a:rPr lang="ru-RU" sz="3600" b="1" dirty="0">
                <a:solidFill>
                  <a:srgbClr val="154B3C"/>
                </a:solidFill>
                <a:latin typeface="Georgia" pitchFamily="34" charset="0"/>
              </a:rPr>
              <a:t>51</a:t>
            </a:r>
            <a:endParaRPr lang="en-US" sz="3600" dirty="0"/>
          </a:p>
        </p:txBody>
      </p:sp>
      <p:sp>
        <p:nvSpPr>
          <p:cNvPr id="289" name="Text 10">
            <a:extLst>
              <a:ext uri="{FF2B5EF4-FFF2-40B4-BE49-F238E27FC236}">
                <a16:creationId xmlns:a16="http://schemas.microsoft.com/office/drawing/2014/main" id="{0A048E46-C244-4F65-A4B8-1FE379438BA3}"/>
              </a:ext>
            </a:extLst>
          </p:cNvPr>
          <p:cNvSpPr/>
          <p:nvPr/>
        </p:nvSpPr>
        <p:spPr>
          <a:xfrm>
            <a:off x="1642401" y="2490815"/>
            <a:ext cx="2244909" cy="683918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всего</a:t>
            </a:r>
            <a:r>
              <a:rPr lang="en-US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 </a:t>
            </a:r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инцидентов</a:t>
            </a:r>
            <a:r>
              <a:rPr lang="en-US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 </a:t>
            </a:r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за 5 </a:t>
            </a:r>
            <a:r>
              <a:rPr lang="ru-RU" b="1" dirty="0" err="1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мес</a:t>
            </a:r>
            <a:r>
              <a:rPr lang="en-US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 2026</a:t>
            </a:r>
            <a:endParaRPr lang="en-US" b="1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90" name="Shape 11">
            <a:extLst>
              <a:ext uri="{FF2B5EF4-FFF2-40B4-BE49-F238E27FC236}">
                <a16:creationId xmlns:a16="http://schemas.microsoft.com/office/drawing/2014/main" id="{AC57D621-77EE-4C35-B2D0-9D4CEBDE5C07}"/>
              </a:ext>
            </a:extLst>
          </p:cNvPr>
          <p:cNvSpPr/>
          <p:nvPr/>
        </p:nvSpPr>
        <p:spPr>
          <a:xfrm>
            <a:off x="4357389" y="2344608"/>
            <a:ext cx="3276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sp>
      <p:sp>
        <p:nvSpPr>
          <p:cNvPr id="291" name="Text 12">
            <a:extLst>
              <a:ext uri="{FF2B5EF4-FFF2-40B4-BE49-F238E27FC236}">
                <a16:creationId xmlns:a16="http://schemas.microsoft.com/office/drawing/2014/main" id="{330A5645-73C5-4382-80FD-15D01B66CCAB}"/>
              </a:ext>
            </a:extLst>
          </p:cNvPr>
          <p:cNvSpPr/>
          <p:nvPr/>
        </p:nvSpPr>
        <p:spPr>
          <a:xfrm>
            <a:off x="4563613" y="2550117"/>
            <a:ext cx="698627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Autofit/>
          </a:bodyPr>
          <a:lstStyle/>
          <a:p>
            <a:r>
              <a:rPr lang="en-US" sz="3600" b="1" dirty="0">
                <a:solidFill>
                  <a:srgbClr val="154B3C"/>
                </a:solidFill>
                <a:latin typeface="Georgia" pitchFamily="34" charset="0"/>
              </a:rPr>
              <a:t>3</a:t>
            </a:r>
            <a:r>
              <a:rPr lang="ru-RU" sz="3600" b="1" dirty="0">
                <a:solidFill>
                  <a:srgbClr val="154B3C"/>
                </a:solidFill>
                <a:latin typeface="Georgia" pitchFamily="34" charset="0"/>
              </a:rPr>
              <a:t>3</a:t>
            </a:r>
            <a:endParaRPr lang="en-US" sz="3600" dirty="0"/>
          </a:p>
        </p:txBody>
      </p:sp>
      <p:sp>
        <p:nvSpPr>
          <p:cNvPr id="292" name="Text 13">
            <a:extLst>
              <a:ext uri="{FF2B5EF4-FFF2-40B4-BE49-F238E27FC236}">
                <a16:creationId xmlns:a16="http://schemas.microsoft.com/office/drawing/2014/main" id="{1574E583-8E39-4E4C-BC61-B7E3CF5BC8BD}"/>
              </a:ext>
            </a:extLst>
          </p:cNvPr>
          <p:cNvSpPr/>
          <p:nvPr/>
        </p:nvSpPr>
        <p:spPr>
          <a:xfrm>
            <a:off x="5377449" y="2587549"/>
            <a:ext cx="2201018" cy="535280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 lnSpcReduction="10000"/>
          </a:bodyPr>
          <a:lstStyle/>
          <a:p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остаются в работе</a:t>
            </a:r>
          </a:p>
        </p:txBody>
      </p:sp>
      <p:sp>
        <p:nvSpPr>
          <p:cNvPr id="293" name="Shape 14">
            <a:extLst>
              <a:ext uri="{FF2B5EF4-FFF2-40B4-BE49-F238E27FC236}">
                <a16:creationId xmlns:a16="http://schemas.microsoft.com/office/drawing/2014/main" id="{AE86A782-1259-4AB3-A4DB-03158E69104D}"/>
              </a:ext>
            </a:extLst>
          </p:cNvPr>
          <p:cNvSpPr/>
          <p:nvPr/>
        </p:nvSpPr>
        <p:spPr>
          <a:xfrm>
            <a:off x="7898944" y="2341121"/>
            <a:ext cx="3276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sp>
      <p:sp>
        <p:nvSpPr>
          <p:cNvPr id="294" name="Text 15">
            <a:extLst>
              <a:ext uri="{FF2B5EF4-FFF2-40B4-BE49-F238E27FC236}">
                <a16:creationId xmlns:a16="http://schemas.microsoft.com/office/drawing/2014/main" id="{6CB70078-DE29-4160-835F-6018F21CE815}"/>
              </a:ext>
            </a:extLst>
          </p:cNvPr>
          <p:cNvSpPr/>
          <p:nvPr/>
        </p:nvSpPr>
        <p:spPr>
          <a:xfrm>
            <a:off x="8144751" y="2650768"/>
            <a:ext cx="536458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 fontScale="92500" lnSpcReduction="20000"/>
          </a:bodyPr>
          <a:lstStyle/>
          <a:p>
            <a:r>
              <a:rPr lang="ru-RU" sz="3200" b="1" dirty="0">
                <a:solidFill>
                  <a:srgbClr val="154B3C"/>
                </a:solidFill>
                <a:latin typeface="Georgia" pitchFamily="34" charset="0"/>
              </a:rPr>
              <a:t>18</a:t>
            </a:r>
            <a:endParaRPr lang="en-US" sz="3200" dirty="0"/>
          </a:p>
        </p:txBody>
      </p:sp>
      <p:sp>
        <p:nvSpPr>
          <p:cNvPr id="295" name="Text 16">
            <a:extLst>
              <a:ext uri="{FF2B5EF4-FFF2-40B4-BE49-F238E27FC236}">
                <a16:creationId xmlns:a16="http://schemas.microsoft.com/office/drawing/2014/main" id="{7047F7EA-6B8B-46AC-A64D-AD55FC7444A4}"/>
              </a:ext>
            </a:extLst>
          </p:cNvPr>
          <p:cNvSpPr/>
          <p:nvPr/>
        </p:nvSpPr>
        <p:spPr>
          <a:xfrm>
            <a:off x="8785971" y="2575332"/>
            <a:ext cx="2124523" cy="544010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закрыты</a:t>
            </a:r>
            <a:endParaRPr lang="ru-RU" b="1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96" name="Shape 17">
            <a:extLst>
              <a:ext uri="{FF2B5EF4-FFF2-40B4-BE49-F238E27FC236}">
                <a16:creationId xmlns:a16="http://schemas.microsoft.com/office/drawing/2014/main" id="{18EAD04F-01FE-44D8-9C10-8C1039F94B89}"/>
              </a:ext>
            </a:extLst>
          </p:cNvPr>
          <p:cNvSpPr/>
          <p:nvPr/>
        </p:nvSpPr>
        <p:spPr>
          <a:xfrm>
            <a:off x="11460512" y="2351300"/>
            <a:ext cx="3276000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sp>
      <p:sp>
        <p:nvSpPr>
          <p:cNvPr id="297" name="Text 18">
            <a:extLst>
              <a:ext uri="{FF2B5EF4-FFF2-40B4-BE49-F238E27FC236}">
                <a16:creationId xmlns:a16="http://schemas.microsoft.com/office/drawing/2014/main" id="{C9AF6520-AD6C-4BF7-A2F1-3EF40D18C101}"/>
              </a:ext>
            </a:extLst>
          </p:cNvPr>
          <p:cNvSpPr/>
          <p:nvPr/>
        </p:nvSpPr>
        <p:spPr>
          <a:xfrm>
            <a:off x="11585419" y="2573809"/>
            <a:ext cx="698627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Autofit/>
          </a:bodyPr>
          <a:lstStyle/>
          <a:p>
            <a:r>
              <a:rPr lang="ru-RU" sz="3600" b="1" dirty="0">
                <a:solidFill>
                  <a:srgbClr val="154B3C"/>
                </a:solidFill>
                <a:latin typeface="Georgia" pitchFamily="34" charset="0"/>
              </a:rPr>
              <a:t>25</a:t>
            </a:r>
            <a:endParaRPr lang="en-US" sz="3600" dirty="0"/>
          </a:p>
        </p:txBody>
      </p:sp>
      <p:sp>
        <p:nvSpPr>
          <p:cNvPr id="298" name="Text 19">
            <a:extLst>
              <a:ext uri="{FF2B5EF4-FFF2-40B4-BE49-F238E27FC236}">
                <a16:creationId xmlns:a16="http://schemas.microsoft.com/office/drawing/2014/main" id="{FF940EFC-7EA2-498A-ABCC-20F473417219}"/>
              </a:ext>
            </a:extLst>
          </p:cNvPr>
          <p:cNvSpPr/>
          <p:nvPr/>
        </p:nvSpPr>
        <p:spPr>
          <a:xfrm>
            <a:off x="12351098" y="2509821"/>
            <a:ext cx="2080385" cy="632545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 fontScale="92500"/>
          </a:bodyPr>
          <a:lstStyle/>
          <a:p>
            <a:r>
              <a:rPr lang="ru-RU" sz="1819" b="1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высокий уровень критичности</a:t>
            </a:r>
            <a:endParaRPr lang="ru-RU" sz="1819" b="1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299" name="Shape 20">
            <a:extLst>
              <a:ext uri="{FF2B5EF4-FFF2-40B4-BE49-F238E27FC236}">
                <a16:creationId xmlns:a16="http://schemas.microsoft.com/office/drawing/2014/main" id="{D0FCCF38-A22D-4CBC-B30C-275C99DF587A}"/>
              </a:ext>
            </a:extLst>
          </p:cNvPr>
          <p:cNvSpPr/>
          <p:nvPr/>
        </p:nvSpPr>
        <p:spPr>
          <a:xfrm>
            <a:off x="14955031" y="2351367"/>
            <a:ext cx="3413392" cy="93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FDC"/>
            </a:solidFill>
            <a:prstDash val="solid"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sp>
      <p:sp>
        <p:nvSpPr>
          <p:cNvPr id="300" name="Text 21">
            <a:extLst>
              <a:ext uri="{FF2B5EF4-FFF2-40B4-BE49-F238E27FC236}">
                <a16:creationId xmlns:a16="http://schemas.microsoft.com/office/drawing/2014/main" id="{6E76AE9C-5D23-4CD2-9820-D201C0A281CF}"/>
              </a:ext>
            </a:extLst>
          </p:cNvPr>
          <p:cNvSpPr/>
          <p:nvPr/>
        </p:nvSpPr>
        <p:spPr>
          <a:xfrm>
            <a:off x="15366023" y="2618304"/>
            <a:ext cx="698627" cy="402126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 fontScale="92500" lnSpcReduction="20000"/>
          </a:bodyPr>
          <a:lstStyle/>
          <a:p>
            <a:endParaRPr lang="en-US" sz="3200" dirty="0"/>
          </a:p>
        </p:txBody>
      </p:sp>
      <p:sp>
        <p:nvSpPr>
          <p:cNvPr id="301" name="Text 22">
            <a:extLst>
              <a:ext uri="{FF2B5EF4-FFF2-40B4-BE49-F238E27FC236}">
                <a16:creationId xmlns:a16="http://schemas.microsoft.com/office/drawing/2014/main" id="{3042FC89-F7A8-4F7B-869C-08D82B497B81}"/>
              </a:ext>
            </a:extLst>
          </p:cNvPr>
          <p:cNvSpPr/>
          <p:nvPr/>
        </p:nvSpPr>
        <p:spPr>
          <a:xfrm>
            <a:off x="15111142" y="2447845"/>
            <a:ext cx="3057494" cy="789850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sz="1819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Самый активный ЦЭ – </a:t>
            </a:r>
          </a:p>
          <a:p>
            <a:r>
              <a:rPr lang="ru-RU" sz="1819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в </a:t>
            </a:r>
            <a:r>
              <a:rPr lang="ru-RU" sz="2400" b="1" dirty="0">
                <a:solidFill>
                  <a:srgbClr val="154B3C"/>
                </a:solidFill>
                <a:latin typeface="Georgia" pitchFamily="34" charset="0"/>
              </a:rPr>
              <a:t>БЕ Импорт</a:t>
            </a:r>
          </a:p>
        </p:txBody>
      </p:sp>
      <p:sp>
        <p:nvSpPr>
          <p:cNvPr id="302" name="Shape 20">
            <a:extLst>
              <a:ext uri="{FF2B5EF4-FFF2-40B4-BE49-F238E27FC236}">
                <a16:creationId xmlns:a16="http://schemas.microsoft.com/office/drawing/2014/main" id="{101512ED-A800-4E87-8C85-96A30304F25B}"/>
              </a:ext>
            </a:extLst>
          </p:cNvPr>
          <p:cNvSpPr/>
          <p:nvPr/>
        </p:nvSpPr>
        <p:spPr>
          <a:xfrm>
            <a:off x="18743052" y="2279824"/>
            <a:ext cx="4349335" cy="1055865"/>
          </a:xfrm>
          <a:prstGeom prst="rect">
            <a:avLst/>
          </a:prstGeom>
          <a:ln w="6350">
            <a:solidFill>
              <a:srgbClr val="FF0000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303" name="Text 21">
            <a:extLst>
              <a:ext uri="{FF2B5EF4-FFF2-40B4-BE49-F238E27FC236}">
                <a16:creationId xmlns:a16="http://schemas.microsoft.com/office/drawing/2014/main" id="{665BA3BE-71F7-42FB-9792-78BF41C08831}"/>
              </a:ext>
            </a:extLst>
          </p:cNvPr>
          <p:cNvSpPr/>
          <p:nvPr/>
        </p:nvSpPr>
        <p:spPr>
          <a:xfrm>
            <a:off x="18926038" y="2312085"/>
            <a:ext cx="3233315" cy="745960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sz="3200" b="1" dirty="0">
                <a:solidFill>
                  <a:srgbClr val="154B3C"/>
                </a:solidFill>
                <a:latin typeface="Georgia" pitchFamily="34" charset="0"/>
              </a:rPr>
              <a:t>3 575 млн. руб.</a:t>
            </a:r>
            <a:endParaRPr lang="en-US" sz="3200" dirty="0"/>
          </a:p>
        </p:txBody>
      </p:sp>
      <p:sp>
        <p:nvSpPr>
          <p:cNvPr id="304" name="Text 22">
            <a:extLst>
              <a:ext uri="{FF2B5EF4-FFF2-40B4-BE49-F238E27FC236}">
                <a16:creationId xmlns:a16="http://schemas.microsoft.com/office/drawing/2014/main" id="{D829F89F-C922-4967-B63E-87018FBA4A40}"/>
              </a:ext>
            </a:extLst>
          </p:cNvPr>
          <p:cNvSpPr/>
          <p:nvPr/>
        </p:nvSpPr>
        <p:spPr>
          <a:xfrm>
            <a:off x="18926038" y="2612954"/>
            <a:ext cx="3853436" cy="975978"/>
          </a:xfrm>
          <a:prstGeom prst="rect">
            <a:avLst/>
          </a:prstGeom>
          <a:noFill/>
          <a:ln/>
        </p:spPr>
        <p:txBody>
          <a:bodyPr wrap="square" lIns="1015" tIns="1015" rIns="1015" bIns="1015" rtlCol="0" anchor="ctr">
            <a:normAutofit/>
          </a:bodyPr>
          <a:lstStyle/>
          <a:p>
            <a:r>
              <a:rPr lang="ru-RU" sz="1819" b="1" dirty="0">
                <a:solidFill>
                  <a:srgbClr val="667579"/>
                </a:solidFill>
                <a:latin typeface="X5 Sans" panose="020B0403020203020204" pitchFamily="34" charset="0"/>
                <a:ea typeface="X5 Sans" panose="020B0403020203020204" pitchFamily="34" charset="0"/>
                <a:cs typeface="Aptos" pitchFamily="34" charset="-120"/>
              </a:rPr>
              <a:t>Оценка влияния инцидентов</a:t>
            </a:r>
            <a:endParaRPr lang="ru-RU" sz="1819" b="1" dirty="0">
              <a:latin typeface="X5 Sans" panose="020B0403020203020204" pitchFamily="34" charset="0"/>
              <a:ea typeface="X5 Sans" panose="020B0403020203020204" pitchFamily="34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D7FDBB8A-795C-45EF-9CB0-86F0597B12A1}"/>
              </a:ext>
            </a:extLst>
          </p:cNvPr>
          <p:cNvSpPr txBox="1"/>
          <p:nvPr/>
        </p:nvSpPr>
        <p:spPr>
          <a:xfrm>
            <a:off x="795821" y="3606541"/>
            <a:ext cx="4488632" cy="504715"/>
          </a:xfrm>
          <a:prstGeom prst="rect">
            <a:avLst/>
          </a:prstGeom>
          <a:noFill/>
        </p:spPr>
        <p:txBody>
          <a:bodyPr wrap="none" lIns="91392" tIns="36557" rIns="91392" bIns="36557">
            <a:spAutoFit/>
          </a:bodyPr>
          <a:lstStyle/>
          <a:p>
            <a:pPr algn="l">
              <a:defRPr sz="1050" b="1">
                <a:solidFill>
                  <a:srgbClr val="13294B"/>
                </a:solidFill>
                <a:latin typeface="Arial"/>
              </a:defRPr>
            </a:pPr>
            <a:r>
              <a:rPr lang="ru-RU" sz="2800" dirty="0">
                <a:solidFill>
                  <a:srgbClr val="F4F1E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Статистика по активам</a:t>
            </a:r>
          </a:p>
        </p:txBody>
      </p:sp>
      <p:sp>
        <p:nvSpPr>
          <p:cNvPr id="306" name="Rectangle 5">
            <a:extLst>
              <a:ext uri="{FF2B5EF4-FFF2-40B4-BE49-F238E27FC236}">
                <a16:creationId xmlns:a16="http://schemas.microsoft.com/office/drawing/2014/main" id="{98C369DE-3610-4701-9239-C89066A3DB0D}"/>
              </a:ext>
            </a:extLst>
          </p:cNvPr>
          <p:cNvSpPr/>
          <p:nvPr/>
        </p:nvSpPr>
        <p:spPr>
          <a:xfrm>
            <a:off x="879751" y="4119001"/>
            <a:ext cx="22248000" cy="18000"/>
          </a:xfrm>
          <a:prstGeom prst="rect">
            <a:avLst/>
          </a:prstGeom>
          <a:solidFill>
            <a:srgbClr val="FC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598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860E9A4A-21FC-4C4F-AC1F-279EBAEE715B}"/>
              </a:ext>
            </a:extLst>
          </p:cNvPr>
          <p:cNvSpPr txBox="1"/>
          <p:nvPr/>
        </p:nvSpPr>
        <p:spPr>
          <a:xfrm>
            <a:off x="795821" y="1496875"/>
            <a:ext cx="6502004" cy="504715"/>
          </a:xfrm>
          <a:prstGeom prst="rect">
            <a:avLst/>
          </a:prstGeom>
          <a:noFill/>
        </p:spPr>
        <p:txBody>
          <a:bodyPr wrap="none" lIns="91392" tIns="36557" rIns="91392" bIns="36557">
            <a:spAutoFit/>
          </a:bodyPr>
          <a:lstStyle/>
          <a:p>
            <a:pPr algn="l">
              <a:defRPr sz="1050" b="1">
                <a:solidFill>
                  <a:srgbClr val="13294B"/>
                </a:solidFill>
                <a:latin typeface="Arial"/>
              </a:defRPr>
            </a:pPr>
            <a:r>
              <a:rPr lang="ru-RU" sz="2800" dirty="0">
                <a:solidFill>
                  <a:srgbClr val="F4F1E8"/>
                </a:solidFill>
                <a:latin typeface="X5 Sans" panose="020B0403020203020204" pitchFamily="34" charset="0"/>
                <a:ea typeface="X5 Sans" panose="020B0403020203020204" pitchFamily="34" charset="0"/>
              </a:rPr>
              <a:t>Общая статистика по инцидентам</a:t>
            </a:r>
          </a:p>
        </p:txBody>
      </p:sp>
      <p:sp>
        <p:nvSpPr>
          <p:cNvPr id="308" name="Rectangle 5">
            <a:extLst>
              <a:ext uri="{FF2B5EF4-FFF2-40B4-BE49-F238E27FC236}">
                <a16:creationId xmlns:a16="http://schemas.microsoft.com/office/drawing/2014/main" id="{C9BDFC1D-C258-4687-88C2-C324F04D7D4D}"/>
              </a:ext>
            </a:extLst>
          </p:cNvPr>
          <p:cNvSpPr/>
          <p:nvPr/>
        </p:nvSpPr>
        <p:spPr>
          <a:xfrm>
            <a:off x="879751" y="2009335"/>
            <a:ext cx="22248000" cy="18000"/>
          </a:xfrm>
          <a:prstGeom prst="rect">
            <a:avLst/>
          </a:prstGeom>
          <a:solidFill>
            <a:srgbClr val="FC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598"/>
          </a:p>
        </p:txBody>
      </p:sp>
      <p:sp>
        <p:nvSpPr>
          <p:cNvPr id="309" name="Прямоугольник 308">
            <a:extLst>
              <a:ext uri="{FF2B5EF4-FFF2-40B4-BE49-F238E27FC236}">
                <a16:creationId xmlns:a16="http://schemas.microsoft.com/office/drawing/2014/main" id="{312D9826-1B63-497C-8B04-FBBD93EC5DD7}"/>
              </a:ext>
            </a:extLst>
          </p:cNvPr>
          <p:cNvSpPr>
            <a:spLocks noGrp="1"/>
          </p:cNvSpPr>
          <p:nvPr/>
        </p:nvSpPr>
        <p:spPr>
          <a:xfrm>
            <a:off x="958218" y="5848413"/>
            <a:ext cx="2856012" cy="30464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ОЦЕНКА В РУБЛЯХ</a:t>
            </a:r>
          </a:p>
        </p:txBody>
      </p:sp>
      <p:sp>
        <p:nvSpPr>
          <p:cNvPr id="311" name="Прямоугольник 310">
            <a:extLst>
              <a:ext uri="{FF2B5EF4-FFF2-40B4-BE49-F238E27FC236}">
                <a16:creationId xmlns:a16="http://schemas.microsoft.com/office/drawing/2014/main" id="{CAB1BDA2-8CD6-4A95-8E88-0AF633D61AC6}"/>
              </a:ext>
            </a:extLst>
          </p:cNvPr>
          <p:cNvSpPr>
            <a:spLocks noGrp="1"/>
          </p:cNvSpPr>
          <p:nvPr/>
        </p:nvSpPr>
        <p:spPr>
          <a:xfrm>
            <a:off x="953058" y="7016845"/>
            <a:ext cx="2124000" cy="85725"/>
          </a:xfrm>
          <a:prstGeom prst="rect">
            <a:avLst/>
          </a:prstGeom>
          <a:solidFill>
            <a:srgbClr val="EE5A5A"/>
          </a:solidFill>
          <a:ln w="0">
            <a:noFill/>
          </a:ln>
        </p:spPr>
      </p:sp>
      <p:sp>
        <p:nvSpPr>
          <p:cNvPr id="312" name="Прямоугольник 311">
            <a:extLst>
              <a:ext uri="{FF2B5EF4-FFF2-40B4-BE49-F238E27FC236}">
                <a16:creationId xmlns:a16="http://schemas.microsoft.com/office/drawing/2014/main" id="{EF21B527-DD95-41AA-934F-DE87F5DC512F}"/>
              </a:ext>
            </a:extLst>
          </p:cNvPr>
          <p:cNvSpPr>
            <a:spLocks noGrp="1"/>
          </p:cNvSpPr>
          <p:nvPr/>
        </p:nvSpPr>
        <p:spPr>
          <a:xfrm>
            <a:off x="953058" y="6707066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FF9494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Высокий  71%</a:t>
            </a:r>
          </a:p>
        </p:txBody>
      </p:sp>
      <p:sp>
        <p:nvSpPr>
          <p:cNvPr id="313" name="Прямоугольник 312">
            <a:extLst>
              <a:ext uri="{FF2B5EF4-FFF2-40B4-BE49-F238E27FC236}">
                <a16:creationId xmlns:a16="http://schemas.microsoft.com/office/drawing/2014/main" id="{9B5BFEFE-D126-4CAE-87D9-9EA3A8C2D499}"/>
              </a:ext>
            </a:extLst>
          </p:cNvPr>
          <p:cNvSpPr>
            <a:spLocks noGrp="1"/>
          </p:cNvSpPr>
          <p:nvPr/>
        </p:nvSpPr>
        <p:spPr>
          <a:xfrm>
            <a:off x="1652480" y="6686340"/>
            <a:ext cx="2069022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FFD071"/>
                </a:solidFill>
                <a:latin typeface="Arial"/>
                <a:ea typeface="Arial"/>
                <a:cs typeface="Arial"/>
              </a:defRPr>
            </a:pPr>
            <a:r>
              <a:rPr lang="ru-RU" sz="1050" dirty="0">
                <a:latin typeface="X5 Sans" panose="020B0403020203020204" pitchFamily="34" charset="0"/>
                <a:ea typeface="X5 Sans" panose="020B0403020203020204" pitchFamily="34" charset="0"/>
              </a:rPr>
              <a:t>Средний  0%</a:t>
            </a:r>
          </a:p>
        </p:txBody>
      </p:sp>
      <p:sp>
        <p:nvSpPr>
          <p:cNvPr id="317" name="Прямоугольник 316">
            <a:extLst>
              <a:ext uri="{FF2B5EF4-FFF2-40B4-BE49-F238E27FC236}">
                <a16:creationId xmlns:a16="http://schemas.microsoft.com/office/drawing/2014/main" id="{2A8A0CC7-71C5-4701-9456-3890FB8F4C6A}"/>
              </a:ext>
            </a:extLst>
          </p:cNvPr>
          <p:cNvSpPr>
            <a:spLocks noGrp="1"/>
          </p:cNvSpPr>
          <p:nvPr/>
        </p:nvSpPr>
        <p:spPr>
          <a:xfrm>
            <a:off x="957696" y="5431414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 ПЕРИОД</a:t>
            </a:r>
          </a:p>
        </p:txBody>
      </p:sp>
      <p:sp>
        <p:nvSpPr>
          <p:cNvPr id="318" name="Прямоугольник 317">
            <a:extLst>
              <a:ext uri="{FF2B5EF4-FFF2-40B4-BE49-F238E27FC236}">
                <a16:creationId xmlns:a16="http://schemas.microsoft.com/office/drawing/2014/main" id="{5EFD1BC0-B2EB-4B61-A481-5A9CC423D418}"/>
              </a:ext>
            </a:extLst>
          </p:cNvPr>
          <p:cNvSpPr>
            <a:spLocks noGrp="1"/>
          </p:cNvSpPr>
          <p:nvPr/>
        </p:nvSpPr>
        <p:spPr>
          <a:xfrm>
            <a:off x="2101655" y="5432692"/>
            <a:ext cx="1751687" cy="3427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91A5C2"/>
                </a:solidFill>
                <a:latin typeface="Arial"/>
                <a:ea typeface="Arial"/>
                <a:cs typeface="Arial"/>
              </a:defRPr>
            </a:pPr>
            <a:r>
              <a:rPr lang="ru-RU" sz="1100" dirty="0">
                <a:latin typeface="X5 Sans" panose="020B0403020203020204" pitchFamily="34" charset="0"/>
                <a:ea typeface="X5 Sans" panose="020B0403020203020204" pitchFamily="34" charset="0"/>
              </a:rPr>
              <a:t>ЗАКРЫТО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1C73BB-4A72-42DC-BB17-DEEFE50F8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86" y="8094935"/>
            <a:ext cx="22340159" cy="530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466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E5A05"/>
      </a:dk1>
      <a:lt1>
        <a:srgbClr val="E7F1FF"/>
      </a:lt1>
      <a:dk2>
        <a:srgbClr val="A7A7A7"/>
      </a:dk2>
      <a:lt2>
        <a:srgbClr val="535353"/>
      </a:lt2>
      <a:accent1>
        <a:srgbClr val="262626"/>
      </a:accent1>
      <a:accent2>
        <a:srgbClr val="3750AC"/>
      </a:accent2>
      <a:accent3>
        <a:srgbClr val="FEF0BD"/>
      </a:accent3>
      <a:accent4>
        <a:srgbClr val="E6F0FF"/>
      </a:accent4>
      <a:accent5>
        <a:srgbClr val="F5DCFF"/>
      </a:accent5>
      <a:accent6>
        <a:srgbClr val="EBFED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E5A05"/>
      </a:dk1>
      <a:lt1>
        <a:srgbClr val="59555A"/>
      </a:lt1>
      <a:dk2>
        <a:srgbClr val="A7A7A7"/>
      </a:dk2>
      <a:lt2>
        <a:srgbClr val="535353"/>
      </a:lt2>
      <a:accent1>
        <a:srgbClr val="262626"/>
      </a:accent1>
      <a:accent2>
        <a:srgbClr val="3750AC"/>
      </a:accent2>
      <a:accent3>
        <a:srgbClr val="FEF0BD"/>
      </a:accent3>
      <a:accent4>
        <a:srgbClr val="E6F0FF"/>
      </a:accent4>
      <a:accent5>
        <a:srgbClr val="F5DCFF"/>
      </a:accent5>
      <a:accent6>
        <a:srgbClr val="EBFED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8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E5A05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466</Words>
  <Application>Microsoft Office PowerPoint</Application>
  <PresentationFormat>Произвольный</PresentationFormat>
  <Paragraphs>210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Georgia</vt:lpstr>
      <vt:lpstr>X5 Sans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2026-06-15T15:51:22Z</dcterms:modified>
</cp:coreProperties>
</file>