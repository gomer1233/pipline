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147473612" r:id="rId2"/>
    <p:sldId id="2147473625" r:id="rId3"/>
    <p:sldId id="2147473628" r:id="rId4"/>
    <p:sldId id="2147473626" r:id="rId5"/>
    <p:sldId id="2147473627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omarov, Andrey" initials="KA" lastIdx="9" clrIdx="0">
    <p:extLst>
      <p:ext uri="{19B8F6BF-5375-455C-9EA6-DF929625EA0E}">
        <p15:presenceInfo xmlns:p15="http://schemas.microsoft.com/office/powerpoint/2012/main" userId="S-1-5-21-259409611-3423039362-4275811807-1443406" providerId="AD"/>
      </p:ext>
    </p:extLst>
  </p:cmAuthor>
  <p:cmAuthor id="2" name="Yuchkina, Svetlana" initials="YS" lastIdx="1" clrIdx="1">
    <p:extLst>
      <p:ext uri="{19B8F6BF-5375-455C-9EA6-DF929625EA0E}">
        <p15:presenceInfo xmlns:p15="http://schemas.microsoft.com/office/powerpoint/2012/main" userId="S-1-5-21-259409611-3423039362-4275811807-52118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E5D6"/>
    <a:srgbClr val="4472C4"/>
    <a:srgbClr val="009242"/>
    <a:srgbClr val="FCC2AE"/>
    <a:srgbClr val="2993FF"/>
    <a:srgbClr val="CFD5EA"/>
    <a:srgbClr val="7F739A"/>
    <a:srgbClr val="3BC7E2"/>
    <a:srgbClr val="2AC2AC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648" y="43"/>
      </p:cViewPr>
      <p:guideLst>
        <p:guide orient="horz" pos="23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AD1271-901D-40C9-837A-02EA7C42A229}" type="datetimeFigureOut">
              <a:rPr lang="ru-RU" smtClean="0"/>
              <a:t>17.07.2026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158EAE-75CE-4737-AF10-E8EA39EAE0E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6672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9D7855-F4B4-4B90-B11D-9A306E8991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A909D81-2419-4279-A546-AE820B8E52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364F5A-3DE7-4B6D-9AF4-C279E0B93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A934B-6B7E-4C8B-8224-0E640D836326}" type="datetimeFigureOut">
              <a:rPr lang="ru-RU" smtClean="0"/>
              <a:t>17.07.2026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079D08-0466-4AB7-B037-07007DAC5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2AB8EF-3DC6-49A6-A374-6D3FEE40B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0AB6-3145-4175-A631-432B51B6FF1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9055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4CB17A-9741-458D-B1E6-58E6FD392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B854AB-577E-4969-99BD-942708FE8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5C1561-1455-43C2-819A-8FF25331A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A934B-6B7E-4C8B-8224-0E640D836326}" type="datetimeFigureOut">
              <a:rPr lang="ru-RU" smtClean="0"/>
              <a:t>17.07.2026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5CC94C-F937-4F27-B200-06C240205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B314F2-F2B6-4F24-85B6-A1743D315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0AB6-3145-4175-A631-432B51B6FF1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0603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766AF5-9957-4439-A27F-C299A5678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3BAD1BC-A661-412B-B4C1-EF929F04F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D6B7B0-D0F9-4354-A8A7-A65CA0908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A934B-6B7E-4C8B-8224-0E640D836326}" type="datetimeFigureOut">
              <a:rPr lang="ru-RU" smtClean="0"/>
              <a:t>17.07.2026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AC97EC8-6718-493E-986E-6263DFD51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CDF96F-CE10-4A6E-A5A8-FD3B1539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0AB6-3145-4175-A631-432B51B6FF1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6605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3A7AFC-2CC4-42B3-A3D8-29F27A959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562165-C3EC-4954-99BE-3A893DB629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3823C0C-FCDB-485E-8800-BC55209CDF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964F3D-6D77-4DA4-9D49-1EA0D7014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A934B-6B7E-4C8B-8224-0E640D836326}" type="datetimeFigureOut">
              <a:rPr lang="ru-RU" smtClean="0"/>
              <a:t>17.07.2026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5B7C6F9-D0E4-484D-9CE8-760230C5E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16D2F6C-432C-494B-BDC7-BDCB5B11C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0AB6-3145-4175-A631-432B51B6FF1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290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DCB55C-FE4E-4D54-ADF1-6BA503765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D7A3B42-0F7A-4A51-9A83-4099B2C99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5C66D78-58FE-47E9-AD9C-8AF3DCF43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44F3AB7-3A5C-466E-9FDC-866EB597DF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2C64AE1-5186-4796-AA57-7DB7AC69AC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DE1CA01-DC1B-49BE-8E97-DF0DC0E43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A934B-6B7E-4C8B-8224-0E640D836326}" type="datetimeFigureOut">
              <a:rPr lang="ru-RU" smtClean="0"/>
              <a:t>17.07.2026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271ADA2-4507-4978-8020-60BDBAE97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0ECF0FC-F313-4864-BBE3-76D26FB34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0AB6-3145-4175-A631-432B51B6FF1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7798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8EC1A-B6F9-43E9-9819-B60A583C8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918D3BA-7C77-4DAA-B474-2E1CC9111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A934B-6B7E-4C8B-8224-0E640D836326}" type="datetimeFigureOut">
              <a:rPr lang="ru-RU" smtClean="0"/>
              <a:t>17.07.2026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CE40CB3-E7AE-45E2-8764-958D2114B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CE016ED-D6C7-4F40-91C3-FE213A64E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0AB6-3145-4175-A631-432B51B6FF1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2241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DA06185-C4A1-4690-9A3D-EE005DB9C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A934B-6B7E-4C8B-8224-0E640D836326}" type="datetimeFigureOut">
              <a:rPr lang="ru-RU" smtClean="0"/>
              <a:t>17.07.2026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122E8B4-3B86-48A5-8206-0B70CC434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18BBFE-06FE-47ED-B8FB-8B7727E71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0AB6-3145-4175-A631-432B51B6FF1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6708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617671-3498-4F5A-8FAC-8D188F90C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0EDF7A-1A56-4478-A4DB-96F82C487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0D03088-BDE0-4CB0-936E-9548A3D17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EEF5F7-6EE1-4446-BB42-C41FDD094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A934B-6B7E-4C8B-8224-0E640D836326}" type="datetimeFigureOut">
              <a:rPr lang="ru-RU" smtClean="0"/>
              <a:t>17.07.2026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F31725B-3ACB-4064-8270-EB48A9A4F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AC1F7C7-76F1-48E8-AFA1-931CB0807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0AB6-3145-4175-A631-432B51B6FF1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9997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BCF86B-B5CD-4974-B751-9DD77ED75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6D1C98F-F2BD-4A68-BC9F-AA6E48E103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791FE3D-5A92-464B-8DB6-A13AE82305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0AEA2DC-0B58-4100-8179-053110714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A934B-6B7E-4C8B-8224-0E640D836326}" type="datetimeFigureOut">
              <a:rPr lang="ru-RU" smtClean="0"/>
              <a:t>17.07.2026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472AB2-3F65-461E-A792-060C0C191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4DC9625-58EF-45F0-B24F-50B2C15C6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0AB6-3145-4175-A631-432B51B6FF1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334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4F014E-A92E-493B-BC41-B89CCDD9C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F47E274-E893-46F5-86D8-229ACA073D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81D5F6-7CE1-485B-9FFC-314450899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A934B-6B7E-4C8B-8224-0E640D836326}" type="datetimeFigureOut">
              <a:rPr lang="ru-RU" smtClean="0"/>
              <a:t>17.07.2026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A303FFD-9108-4545-A12A-1C6D18AA8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AA61B2-C2F4-4C7D-94BD-C7EA0077E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0AB6-3145-4175-A631-432B51B6FF1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5311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3A614FF-770F-456D-8D36-C9610EA7CA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BFA8760-BD63-4B1A-AAEE-B995B71D7C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B1CB6C-7A58-4C8C-BCA3-190A5EF2C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A934B-6B7E-4C8B-8224-0E640D836326}" type="datetimeFigureOut">
              <a:rPr lang="ru-RU" smtClean="0"/>
              <a:t>17.07.2026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404AE4-8FC0-4FA1-BE21-1F0052BAF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75DC33-9106-45C1-87D4-325258B20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0AB6-3145-4175-A631-432B51B6FF1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3994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F8FD3D-E77E-41D1-B740-B21693BB4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C36B2F-E2A5-4176-9DE3-8C64CD617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D9A356-A360-4061-8D35-1E068A5B6B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5A934B-6B7E-4C8B-8224-0E640D836326}" type="datetimeFigureOut">
              <a:rPr lang="ru-RU" smtClean="0"/>
              <a:t>17.07.2026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CF8AB9-8AD1-4A02-910D-03D9CA413C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98D801-8BFD-4C5C-A3C7-FA6D24D5FE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550AB6-3145-4175-A631-432B51B6FF1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6516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C4D2ED8E-72FC-4231-A2C5-27E1268B7B06}"/>
              </a:ext>
            </a:extLst>
          </p:cNvPr>
          <p:cNvGrpSpPr/>
          <p:nvPr/>
        </p:nvGrpSpPr>
        <p:grpSpPr>
          <a:xfrm>
            <a:off x="63714" y="62653"/>
            <a:ext cx="802728" cy="244915"/>
            <a:chOff x="428625" y="238125"/>
            <a:chExt cx="802728" cy="244915"/>
          </a:xfrm>
        </p:grpSpPr>
        <p:sp>
          <p:nvSpPr>
            <p:cNvPr id="20" name="Полилиния: фигура 10">
              <a:extLst>
                <a:ext uri="{FF2B5EF4-FFF2-40B4-BE49-F238E27FC236}">
                  <a16:creationId xmlns:a16="http://schemas.microsoft.com/office/drawing/2014/main" id="{E9C3ACDA-9615-4FF7-AC91-25E54209AF0D}"/>
                </a:ext>
              </a:extLst>
            </p:cNvPr>
            <p:cNvSpPr/>
            <p:nvPr/>
          </p:nvSpPr>
          <p:spPr>
            <a:xfrm>
              <a:off x="548259" y="331338"/>
              <a:ext cx="98412" cy="109280"/>
            </a:xfrm>
            <a:custGeom>
              <a:avLst/>
              <a:gdLst>
                <a:gd name="connsiteX0" fmla="*/ 72042 w 98412"/>
                <a:gd name="connsiteY0" fmla="*/ 109281 h 109280"/>
                <a:gd name="connsiteX1" fmla="*/ 49530 w 98412"/>
                <a:gd name="connsiteY1" fmla="*/ 71354 h 109280"/>
                <a:gd name="connsiteX2" fmla="*/ 27018 w 98412"/>
                <a:gd name="connsiteY2" fmla="*/ 109281 h 109280"/>
                <a:gd name="connsiteX3" fmla="*/ 643 w 98412"/>
                <a:gd name="connsiteY3" fmla="*/ 109281 h 109280"/>
                <a:gd name="connsiteX4" fmla="*/ 34733 w 98412"/>
                <a:gd name="connsiteY4" fmla="*/ 52712 h 109280"/>
                <a:gd name="connsiteX5" fmla="*/ 0 w 98412"/>
                <a:gd name="connsiteY5" fmla="*/ 0 h 109280"/>
                <a:gd name="connsiteX6" fmla="*/ 27661 w 98412"/>
                <a:gd name="connsiteY6" fmla="*/ 0 h 109280"/>
                <a:gd name="connsiteX7" fmla="*/ 50173 w 98412"/>
                <a:gd name="connsiteY7" fmla="*/ 35355 h 109280"/>
                <a:gd name="connsiteX8" fmla="*/ 71395 w 98412"/>
                <a:gd name="connsiteY8" fmla="*/ 0 h 109280"/>
                <a:gd name="connsiteX9" fmla="*/ 97769 w 98412"/>
                <a:gd name="connsiteY9" fmla="*/ 0 h 109280"/>
                <a:gd name="connsiteX10" fmla="*/ 63679 w 98412"/>
                <a:gd name="connsiteY10" fmla="*/ 53998 h 109280"/>
                <a:gd name="connsiteX11" fmla="*/ 98412 w 98412"/>
                <a:gd name="connsiteY11" fmla="*/ 109281 h 109280"/>
                <a:gd name="connsiteX12" fmla="*/ 72042 w 98412"/>
                <a:gd name="connsiteY12" fmla="*/ 109281 h 109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412" h="109280">
                  <a:moveTo>
                    <a:pt x="72042" y="109281"/>
                  </a:moveTo>
                  <a:lnTo>
                    <a:pt x="49530" y="71354"/>
                  </a:lnTo>
                  <a:lnTo>
                    <a:pt x="27018" y="109281"/>
                  </a:lnTo>
                  <a:lnTo>
                    <a:pt x="643" y="109281"/>
                  </a:lnTo>
                  <a:lnTo>
                    <a:pt x="34733" y="52712"/>
                  </a:lnTo>
                  <a:lnTo>
                    <a:pt x="0" y="0"/>
                  </a:lnTo>
                  <a:lnTo>
                    <a:pt x="27661" y="0"/>
                  </a:lnTo>
                  <a:lnTo>
                    <a:pt x="50173" y="35355"/>
                  </a:lnTo>
                  <a:lnTo>
                    <a:pt x="71395" y="0"/>
                  </a:lnTo>
                  <a:lnTo>
                    <a:pt x="97769" y="0"/>
                  </a:lnTo>
                  <a:lnTo>
                    <a:pt x="63679" y="53998"/>
                  </a:lnTo>
                  <a:lnTo>
                    <a:pt x="98412" y="109281"/>
                  </a:lnTo>
                  <a:lnTo>
                    <a:pt x="72042" y="109281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21" name="Полилиния: фигура 11">
              <a:extLst>
                <a:ext uri="{FF2B5EF4-FFF2-40B4-BE49-F238E27FC236}">
                  <a16:creationId xmlns:a16="http://schemas.microsoft.com/office/drawing/2014/main" id="{6B13766F-8371-4C97-BB36-1CB37E35A8D3}"/>
                </a:ext>
              </a:extLst>
            </p:cNvPr>
            <p:cNvSpPr/>
            <p:nvPr/>
          </p:nvSpPr>
          <p:spPr>
            <a:xfrm>
              <a:off x="651176" y="331979"/>
              <a:ext cx="81691" cy="110566"/>
            </a:xfrm>
            <a:custGeom>
              <a:avLst/>
              <a:gdLst>
                <a:gd name="connsiteX0" fmla="*/ 81691 w 81691"/>
                <a:gd name="connsiteY0" fmla="*/ 71354 h 110566"/>
                <a:gd name="connsiteX1" fmla="*/ 39881 w 81691"/>
                <a:gd name="connsiteY1" fmla="*/ 110567 h 110566"/>
                <a:gd name="connsiteX2" fmla="*/ 0 w 81691"/>
                <a:gd name="connsiteY2" fmla="*/ 73925 h 110566"/>
                <a:gd name="connsiteX3" fmla="*/ 22512 w 81691"/>
                <a:gd name="connsiteY3" fmla="*/ 73925 h 110566"/>
                <a:gd name="connsiteX4" fmla="*/ 42453 w 81691"/>
                <a:gd name="connsiteY4" fmla="*/ 89354 h 110566"/>
                <a:gd name="connsiteX5" fmla="*/ 59179 w 81691"/>
                <a:gd name="connsiteY5" fmla="*/ 71354 h 110566"/>
                <a:gd name="connsiteX6" fmla="*/ 39881 w 81691"/>
                <a:gd name="connsiteY6" fmla="*/ 53998 h 110566"/>
                <a:gd name="connsiteX7" fmla="*/ 21869 w 81691"/>
                <a:gd name="connsiteY7" fmla="*/ 62997 h 110566"/>
                <a:gd name="connsiteX8" fmla="*/ 0 w 81691"/>
                <a:gd name="connsiteY8" fmla="*/ 62997 h 110566"/>
                <a:gd name="connsiteX9" fmla="*/ 7720 w 81691"/>
                <a:gd name="connsiteY9" fmla="*/ 0 h 110566"/>
                <a:gd name="connsiteX10" fmla="*/ 78472 w 81691"/>
                <a:gd name="connsiteY10" fmla="*/ 0 h 110566"/>
                <a:gd name="connsiteX11" fmla="*/ 75900 w 81691"/>
                <a:gd name="connsiteY11" fmla="*/ 21214 h 110566"/>
                <a:gd name="connsiteX12" fmla="*/ 25089 w 81691"/>
                <a:gd name="connsiteY12" fmla="*/ 21214 h 110566"/>
                <a:gd name="connsiteX13" fmla="*/ 23160 w 81691"/>
                <a:gd name="connsiteY13" fmla="*/ 42427 h 110566"/>
                <a:gd name="connsiteX14" fmla="*/ 44382 w 81691"/>
                <a:gd name="connsiteY14" fmla="*/ 35999 h 110566"/>
                <a:gd name="connsiteX15" fmla="*/ 81691 w 81691"/>
                <a:gd name="connsiteY15" fmla="*/ 71354 h 110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1691" h="110566">
                  <a:moveTo>
                    <a:pt x="81691" y="71354"/>
                  </a:moveTo>
                  <a:cubicBezTo>
                    <a:pt x="81691" y="95139"/>
                    <a:pt x="63679" y="110567"/>
                    <a:pt x="39881" y="110567"/>
                  </a:cubicBezTo>
                  <a:cubicBezTo>
                    <a:pt x="19298" y="110567"/>
                    <a:pt x="1291" y="98996"/>
                    <a:pt x="0" y="73925"/>
                  </a:cubicBezTo>
                  <a:lnTo>
                    <a:pt x="22512" y="73925"/>
                  </a:lnTo>
                  <a:cubicBezTo>
                    <a:pt x="23803" y="84853"/>
                    <a:pt x="32804" y="89354"/>
                    <a:pt x="42453" y="89354"/>
                  </a:cubicBezTo>
                  <a:cubicBezTo>
                    <a:pt x="54031" y="89354"/>
                    <a:pt x="59179" y="81639"/>
                    <a:pt x="59179" y="71354"/>
                  </a:cubicBezTo>
                  <a:cubicBezTo>
                    <a:pt x="59179" y="60426"/>
                    <a:pt x="51459" y="53998"/>
                    <a:pt x="39881" y="53998"/>
                  </a:cubicBezTo>
                  <a:cubicBezTo>
                    <a:pt x="30875" y="53998"/>
                    <a:pt x="24446" y="58498"/>
                    <a:pt x="21869" y="62997"/>
                  </a:cubicBezTo>
                  <a:lnTo>
                    <a:pt x="0" y="62997"/>
                  </a:lnTo>
                  <a:lnTo>
                    <a:pt x="7720" y="0"/>
                  </a:lnTo>
                  <a:lnTo>
                    <a:pt x="78472" y="0"/>
                  </a:lnTo>
                  <a:lnTo>
                    <a:pt x="75900" y="21214"/>
                  </a:lnTo>
                  <a:lnTo>
                    <a:pt x="25089" y="21214"/>
                  </a:lnTo>
                  <a:lnTo>
                    <a:pt x="23160" y="42427"/>
                  </a:lnTo>
                  <a:cubicBezTo>
                    <a:pt x="23160" y="42427"/>
                    <a:pt x="28304" y="35999"/>
                    <a:pt x="44382" y="35999"/>
                  </a:cubicBezTo>
                  <a:cubicBezTo>
                    <a:pt x="64965" y="35356"/>
                    <a:pt x="81691" y="48212"/>
                    <a:pt x="81691" y="71354"/>
                  </a:cubicBez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22" name="Полилиния: фигура 12">
              <a:extLst>
                <a:ext uri="{FF2B5EF4-FFF2-40B4-BE49-F238E27FC236}">
                  <a16:creationId xmlns:a16="http://schemas.microsoft.com/office/drawing/2014/main" id="{5EEB6770-9C53-4C36-8E20-3DCE5873EFB8}"/>
                </a:ext>
              </a:extLst>
            </p:cNvPr>
            <p:cNvSpPr/>
            <p:nvPr/>
          </p:nvSpPr>
          <p:spPr>
            <a:xfrm>
              <a:off x="428625" y="238125"/>
              <a:ext cx="225123" cy="201848"/>
            </a:xfrm>
            <a:custGeom>
              <a:avLst/>
              <a:gdLst>
                <a:gd name="connsiteX0" fmla="*/ 225123 w 225123"/>
                <a:gd name="connsiteY0" fmla="*/ 79711 h 201848"/>
                <a:gd name="connsiteX1" fmla="*/ 95841 w 225123"/>
                <a:gd name="connsiteY1" fmla="*/ 0 h 201848"/>
                <a:gd name="connsiteX2" fmla="*/ 0 w 225123"/>
                <a:gd name="connsiteY2" fmla="*/ 0 h 201848"/>
                <a:gd name="connsiteX3" fmla="*/ 12864 w 225123"/>
                <a:gd name="connsiteY3" fmla="*/ 87425 h 201848"/>
                <a:gd name="connsiteX4" fmla="*/ 106775 w 225123"/>
                <a:gd name="connsiteY4" fmla="*/ 201849 h 201848"/>
                <a:gd name="connsiteX5" fmla="*/ 108704 w 225123"/>
                <a:gd name="connsiteY5" fmla="*/ 199920 h 201848"/>
                <a:gd name="connsiteX6" fmla="*/ 107418 w 225123"/>
                <a:gd name="connsiteY6" fmla="*/ 198634 h 201848"/>
                <a:gd name="connsiteX7" fmla="*/ 59174 w 225123"/>
                <a:gd name="connsiteY7" fmla="*/ 82925 h 201848"/>
                <a:gd name="connsiteX8" fmla="*/ 53388 w 225123"/>
                <a:gd name="connsiteY8" fmla="*/ 43070 h 201848"/>
                <a:gd name="connsiteX9" fmla="*/ 108061 w 225123"/>
                <a:gd name="connsiteY9" fmla="*/ 43070 h 201848"/>
                <a:gd name="connsiteX10" fmla="*/ 221909 w 225123"/>
                <a:gd name="connsiteY10" fmla="*/ 80996 h 201848"/>
                <a:gd name="connsiteX11" fmla="*/ 223195 w 225123"/>
                <a:gd name="connsiteY11" fmla="*/ 81639 h 201848"/>
                <a:gd name="connsiteX12" fmla="*/ 225123 w 225123"/>
                <a:gd name="connsiteY12" fmla="*/ 79711 h 201848"/>
                <a:gd name="connsiteX13" fmla="*/ 225123 w 225123"/>
                <a:gd name="connsiteY13" fmla="*/ 79711 h 201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5123" h="201848">
                  <a:moveTo>
                    <a:pt x="225123" y="79711"/>
                  </a:moveTo>
                  <a:cubicBezTo>
                    <a:pt x="212903" y="32784"/>
                    <a:pt x="174955" y="0"/>
                    <a:pt x="95841" y="0"/>
                  </a:cubicBezTo>
                  <a:lnTo>
                    <a:pt x="0" y="0"/>
                  </a:lnTo>
                  <a:lnTo>
                    <a:pt x="12864" y="87425"/>
                  </a:lnTo>
                  <a:cubicBezTo>
                    <a:pt x="22512" y="167136"/>
                    <a:pt x="52745" y="192206"/>
                    <a:pt x="106775" y="201849"/>
                  </a:cubicBezTo>
                  <a:cubicBezTo>
                    <a:pt x="106775" y="201849"/>
                    <a:pt x="108704" y="201849"/>
                    <a:pt x="108704" y="199920"/>
                  </a:cubicBezTo>
                  <a:cubicBezTo>
                    <a:pt x="108704" y="199277"/>
                    <a:pt x="108061" y="198634"/>
                    <a:pt x="107418" y="198634"/>
                  </a:cubicBezTo>
                  <a:cubicBezTo>
                    <a:pt x="71395" y="183206"/>
                    <a:pt x="66894" y="133709"/>
                    <a:pt x="59174" y="82925"/>
                  </a:cubicBezTo>
                  <a:lnTo>
                    <a:pt x="53388" y="43070"/>
                  </a:lnTo>
                  <a:lnTo>
                    <a:pt x="108061" y="43070"/>
                  </a:lnTo>
                  <a:cubicBezTo>
                    <a:pt x="158229" y="43070"/>
                    <a:pt x="197468" y="42427"/>
                    <a:pt x="221909" y="80996"/>
                  </a:cubicBezTo>
                  <a:cubicBezTo>
                    <a:pt x="222552" y="81639"/>
                    <a:pt x="222552" y="81639"/>
                    <a:pt x="223195" y="81639"/>
                  </a:cubicBezTo>
                  <a:cubicBezTo>
                    <a:pt x="224480" y="82282"/>
                    <a:pt x="225123" y="80996"/>
                    <a:pt x="225123" y="79711"/>
                  </a:cubicBezTo>
                  <a:cubicBezTo>
                    <a:pt x="225123" y="80354"/>
                    <a:pt x="225123" y="79711"/>
                    <a:pt x="225123" y="79711"/>
                  </a:cubicBezTo>
                  <a:close/>
                </a:path>
              </a:pathLst>
            </a:custGeom>
            <a:solidFill>
              <a:srgbClr val="5FAF2D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23" name="Полилиния: фигура 13">
              <a:extLst>
                <a:ext uri="{FF2B5EF4-FFF2-40B4-BE49-F238E27FC236}">
                  <a16:creationId xmlns:a16="http://schemas.microsoft.com/office/drawing/2014/main" id="{704B2A9F-5975-4492-9E47-277C2F97FAE5}"/>
                </a:ext>
              </a:extLst>
            </p:cNvPr>
            <p:cNvSpPr/>
            <p:nvPr/>
          </p:nvSpPr>
          <p:spPr>
            <a:xfrm>
              <a:off x="750231" y="326836"/>
              <a:ext cx="112708" cy="116994"/>
            </a:xfrm>
            <a:custGeom>
              <a:avLst/>
              <a:gdLst>
                <a:gd name="connsiteX0" fmla="*/ 112562 w 112708"/>
                <a:gd name="connsiteY0" fmla="*/ 56569 h 116994"/>
                <a:gd name="connsiteX1" fmla="*/ 57245 w 112708"/>
                <a:gd name="connsiteY1" fmla="*/ 116995 h 116994"/>
                <a:gd name="connsiteX2" fmla="*/ 0 w 112708"/>
                <a:gd name="connsiteY2" fmla="*/ 58497 h 116994"/>
                <a:gd name="connsiteX3" fmla="*/ 57888 w 112708"/>
                <a:gd name="connsiteY3" fmla="*/ 0 h 116994"/>
                <a:gd name="connsiteX4" fmla="*/ 111276 w 112708"/>
                <a:gd name="connsiteY4" fmla="*/ 37284 h 116994"/>
                <a:gd name="connsiteX5" fmla="*/ 97126 w 112708"/>
                <a:gd name="connsiteY5" fmla="*/ 37284 h 116994"/>
                <a:gd name="connsiteX6" fmla="*/ 57888 w 112708"/>
                <a:gd name="connsiteY6" fmla="*/ 12856 h 116994"/>
                <a:gd name="connsiteX7" fmla="*/ 13506 w 112708"/>
                <a:gd name="connsiteY7" fmla="*/ 58497 h 116994"/>
                <a:gd name="connsiteX8" fmla="*/ 57888 w 112708"/>
                <a:gd name="connsiteY8" fmla="*/ 104138 h 116994"/>
                <a:gd name="connsiteX9" fmla="*/ 99055 w 112708"/>
                <a:gd name="connsiteY9" fmla="*/ 67497 h 116994"/>
                <a:gd name="connsiteX10" fmla="*/ 55316 w 112708"/>
                <a:gd name="connsiteY10" fmla="*/ 67497 h 116994"/>
                <a:gd name="connsiteX11" fmla="*/ 55316 w 112708"/>
                <a:gd name="connsiteY11" fmla="*/ 55926 h 116994"/>
                <a:gd name="connsiteX12" fmla="*/ 112562 w 112708"/>
                <a:gd name="connsiteY12" fmla="*/ 56569 h 116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2708" h="116994">
                  <a:moveTo>
                    <a:pt x="112562" y="56569"/>
                  </a:moveTo>
                  <a:cubicBezTo>
                    <a:pt x="112562" y="56569"/>
                    <a:pt x="118353" y="116995"/>
                    <a:pt x="57245" y="116995"/>
                  </a:cubicBezTo>
                  <a:cubicBezTo>
                    <a:pt x="25089" y="116995"/>
                    <a:pt x="0" y="92567"/>
                    <a:pt x="0" y="58497"/>
                  </a:cubicBezTo>
                  <a:cubicBezTo>
                    <a:pt x="0" y="25070"/>
                    <a:pt x="25089" y="0"/>
                    <a:pt x="57888" y="0"/>
                  </a:cubicBezTo>
                  <a:cubicBezTo>
                    <a:pt x="83620" y="0"/>
                    <a:pt x="103561" y="14785"/>
                    <a:pt x="111276" y="37284"/>
                  </a:cubicBezTo>
                  <a:lnTo>
                    <a:pt x="97126" y="37284"/>
                  </a:lnTo>
                  <a:cubicBezTo>
                    <a:pt x="90049" y="22499"/>
                    <a:pt x="75900" y="12856"/>
                    <a:pt x="57888" y="12856"/>
                  </a:cubicBezTo>
                  <a:cubicBezTo>
                    <a:pt x="32161" y="12856"/>
                    <a:pt x="13506" y="32141"/>
                    <a:pt x="13506" y="58497"/>
                  </a:cubicBezTo>
                  <a:cubicBezTo>
                    <a:pt x="13506" y="84211"/>
                    <a:pt x="31518" y="104138"/>
                    <a:pt x="57888" y="104138"/>
                  </a:cubicBezTo>
                  <a:cubicBezTo>
                    <a:pt x="80400" y="104138"/>
                    <a:pt x="97126" y="89996"/>
                    <a:pt x="99055" y="67497"/>
                  </a:cubicBezTo>
                  <a:lnTo>
                    <a:pt x="55316" y="67497"/>
                  </a:lnTo>
                  <a:lnTo>
                    <a:pt x="55316" y="55926"/>
                  </a:lnTo>
                  <a:lnTo>
                    <a:pt x="112562" y="56569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24" name="Полилиния: фигура 14">
              <a:extLst>
                <a:ext uri="{FF2B5EF4-FFF2-40B4-BE49-F238E27FC236}">
                  <a16:creationId xmlns:a16="http://schemas.microsoft.com/office/drawing/2014/main" id="{BF66DB3F-16E2-4916-9569-2606F626CD0E}"/>
                </a:ext>
              </a:extLst>
            </p:cNvPr>
            <p:cNvSpPr/>
            <p:nvPr/>
          </p:nvSpPr>
          <p:spPr>
            <a:xfrm>
              <a:off x="880800" y="351903"/>
              <a:ext cx="50815" cy="89353"/>
            </a:xfrm>
            <a:custGeom>
              <a:avLst/>
              <a:gdLst>
                <a:gd name="connsiteX0" fmla="*/ 50816 w 50815"/>
                <a:gd name="connsiteY0" fmla="*/ 0 h 89353"/>
                <a:gd name="connsiteX1" fmla="*/ 50816 w 50815"/>
                <a:gd name="connsiteY1" fmla="*/ 13499 h 89353"/>
                <a:gd name="connsiteX2" fmla="*/ 45025 w 50815"/>
                <a:gd name="connsiteY2" fmla="*/ 12857 h 89353"/>
                <a:gd name="connsiteX3" fmla="*/ 13511 w 50815"/>
                <a:gd name="connsiteY3" fmla="*/ 47569 h 89353"/>
                <a:gd name="connsiteX4" fmla="*/ 13511 w 50815"/>
                <a:gd name="connsiteY4" fmla="*/ 89354 h 89353"/>
                <a:gd name="connsiteX5" fmla="*/ 0 w 50815"/>
                <a:gd name="connsiteY5" fmla="*/ 89354 h 89353"/>
                <a:gd name="connsiteX6" fmla="*/ 0 w 50815"/>
                <a:gd name="connsiteY6" fmla="*/ 1929 h 89353"/>
                <a:gd name="connsiteX7" fmla="*/ 13511 w 50815"/>
                <a:gd name="connsiteY7" fmla="*/ 1929 h 89353"/>
                <a:gd name="connsiteX8" fmla="*/ 13511 w 50815"/>
                <a:gd name="connsiteY8" fmla="*/ 21857 h 89353"/>
                <a:gd name="connsiteX9" fmla="*/ 45025 w 50815"/>
                <a:gd name="connsiteY9" fmla="*/ 0 h 89353"/>
                <a:gd name="connsiteX10" fmla="*/ 50816 w 50815"/>
                <a:gd name="connsiteY10" fmla="*/ 0 h 89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0815" h="89353">
                  <a:moveTo>
                    <a:pt x="50816" y="0"/>
                  </a:moveTo>
                  <a:lnTo>
                    <a:pt x="50816" y="13499"/>
                  </a:lnTo>
                  <a:cubicBezTo>
                    <a:pt x="49530" y="13499"/>
                    <a:pt x="47601" y="12857"/>
                    <a:pt x="45025" y="12857"/>
                  </a:cubicBezTo>
                  <a:cubicBezTo>
                    <a:pt x="26375" y="12857"/>
                    <a:pt x="13511" y="25070"/>
                    <a:pt x="13511" y="47569"/>
                  </a:cubicBezTo>
                  <a:lnTo>
                    <a:pt x="13511" y="89354"/>
                  </a:lnTo>
                  <a:lnTo>
                    <a:pt x="0" y="89354"/>
                  </a:lnTo>
                  <a:lnTo>
                    <a:pt x="0" y="1929"/>
                  </a:lnTo>
                  <a:lnTo>
                    <a:pt x="13511" y="1929"/>
                  </a:lnTo>
                  <a:lnTo>
                    <a:pt x="13511" y="21857"/>
                  </a:lnTo>
                  <a:cubicBezTo>
                    <a:pt x="18655" y="8357"/>
                    <a:pt x="29589" y="0"/>
                    <a:pt x="45025" y="0"/>
                  </a:cubicBezTo>
                  <a:cubicBezTo>
                    <a:pt x="47601" y="0"/>
                    <a:pt x="49530" y="0"/>
                    <a:pt x="50816" y="0"/>
                  </a:cubicBez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25" name="Полилиния: фигура 15">
              <a:extLst>
                <a:ext uri="{FF2B5EF4-FFF2-40B4-BE49-F238E27FC236}">
                  <a16:creationId xmlns:a16="http://schemas.microsoft.com/office/drawing/2014/main" id="{CB960B10-815B-4FFA-B3E7-8C05F60CB33E}"/>
                </a:ext>
              </a:extLst>
            </p:cNvPr>
            <p:cNvSpPr/>
            <p:nvPr/>
          </p:nvSpPr>
          <p:spPr>
            <a:xfrm>
              <a:off x="938693" y="351903"/>
              <a:ext cx="91335" cy="92567"/>
            </a:xfrm>
            <a:custGeom>
              <a:avLst/>
              <a:gdLst>
                <a:gd name="connsiteX0" fmla="*/ 91335 w 91335"/>
                <a:gd name="connsiteY0" fmla="*/ 46284 h 92567"/>
                <a:gd name="connsiteX1" fmla="*/ 45668 w 91335"/>
                <a:gd name="connsiteY1" fmla="*/ 92568 h 92567"/>
                <a:gd name="connsiteX2" fmla="*/ 0 w 91335"/>
                <a:gd name="connsiteY2" fmla="*/ 46284 h 92567"/>
                <a:gd name="connsiteX3" fmla="*/ 45668 w 91335"/>
                <a:gd name="connsiteY3" fmla="*/ 0 h 92567"/>
                <a:gd name="connsiteX4" fmla="*/ 91335 w 91335"/>
                <a:gd name="connsiteY4" fmla="*/ 46284 h 92567"/>
                <a:gd name="connsiteX5" fmla="*/ 12864 w 91335"/>
                <a:gd name="connsiteY5" fmla="*/ 46284 h 92567"/>
                <a:gd name="connsiteX6" fmla="*/ 45025 w 91335"/>
                <a:gd name="connsiteY6" fmla="*/ 79711 h 92567"/>
                <a:gd name="connsiteX7" fmla="*/ 77181 w 91335"/>
                <a:gd name="connsiteY7" fmla="*/ 46284 h 92567"/>
                <a:gd name="connsiteX8" fmla="*/ 45025 w 91335"/>
                <a:gd name="connsiteY8" fmla="*/ 12857 h 92567"/>
                <a:gd name="connsiteX9" fmla="*/ 12864 w 91335"/>
                <a:gd name="connsiteY9" fmla="*/ 46284 h 92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335" h="92567">
                  <a:moveTo>
                    <a:pt x="91335" y="46284"/>
                  </a:moveTo>
                  <a:cubicBezTo>
                    <a:pt x="91335" y="72640"/>
                    <a:pt x="71395" y="92568"/>
                    <a:pt x="45668" y="92568"/>
                  </a:cubicBezTo>
                  <a:cubicBezTo>
                    <a:pt x="19936" y="92568"/>
                    <a:pt x="0" y="72640"/>
                    <a:pt x="0" y="46284"/>
                  </a:cubicBezTo>
                  <a:cubicBezTo>
                    <a:pt x="0" y="19928"/>
                    <a:pt x="20579" y="0"/>
                    <a:pt x="45668" y="0"/>
                  </a:cubicBezTo>
                  <a:cubicBezTo>
                    <a:pt x="70752" y="0"/>
                    <a:pt x="91335" y="19285"/>
                    <a:pt x="91335" y="46284"/>
                  </a:cubicBezTo>
                  <a:close/>
                  <a:moveTo>
                    <a:pt x="12864" y="46284"/>
                  </a:moveTo>
                  <a:cubicBezTo>
                    <a:pt x="12864" y="65569"/>
                    <a:pt x="27013" y="79711"/>
                    <a:pt x="45025" y="79711"/>
                  </a:cubicBezTo>
                  <a:cubicBezTo>
                    <a:pt x="63032" y="79711"/>
                    <a:pt x="77181" y="65569"/>
                    <a:pt x="77181" y="46284"/>
                  </a:cubicBezTo>
                  <a:cubicBezTo>
                    <a:pt x="77181" y="26999"/>
                    <a:pt x="63032" y="12857"/>
                    <a:pt x="45025" y="12857"/>
                  </a:cubicBezTo>
                  <a:cubicBezTo>
                    <a:pt x="27656" y="12857"/>
                    <a:pt x="12864" y="26356"/>
                    <a:pt x="12864" y="46284"/>
                  </a:cubicBez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26" name="Полилиния: фигура 16">
              <a:extLst>
                <a:ext uri="{FF2B5EF4-FFF2-40B4-BE49-F238E27FC236}">
                  <a16:creationId xmlns:a16="http://schemas.microsoft.com/office/drawing/2014/main" id="{CBA0FD59-7588-4A82-AA06-97354E2FBB45}"/>
                </a:ext>
              </a:extLst>
            </p:cNvPr>
            <p:cNvSpPr/>
            <p:nvPr/>
          </p:nvSpPr>
          <p:spPr>
            <a:xfrm>
              <a:off x="1046106" y="353838"/>
              <a:ext cx="76542" cy="90638"/>
            </a:xfrm>
            <a:custGeom>
              <a:avLst/>
              <a:gdLst>
                <a:gd name="connsiteX0" fmla="*/ 76543 w 76542"/>
                <a:gd name="connsiteY0" fmla="*/ 0 h 90638"/>
                <a:gd name="connsiteX1" fmla="*/ 76543 w 76542"/>
                <a:gd name="connsiteY1" fmla="*/ 88710 h 90638"/>
                <a:gd name="connsiteX2" fmla="*/ 63036 w 76542"/>
                <a:gd name="connsiteY2" fmla="*/ 88710 h 90638"/>
                <a:gd name="connsiteX3" fmla="*/ 63036 w 76542"/>
                <a:gd name="connsiteY3" fmla="*/ 71354 h 90638"/>
                <a:gd name="connsiteX4" fmla="*/ 31518 w 76542"/>
                <a:gd name="connsiteY4" fmla="*/ 90639 h 90638"/>
                <a:gd name="connsiteX5" fmla="*/ 0 w 76542"/>
                <a:gd name="connsiteY5" fmla="*/ 56569 h 90638"/>
                <a:gd name="connsiteX6" fmla="*/ 0 w 76542"/>
                <a:gd name="connsiteY6" fmla="*/ 0 h 90638"/>
                <a:gd name="connsiteX7" fmla="*/ 13506 w 76542"/>
                <a:gd name="connsiteY7" fmla="*/ 0 h 90638"/>
                <a:gd name="connsiteX8" fmla="*/ 13506 w 76542"/>
                <a:gd name="connsiteY8" fmla="*/ 53998 h 90638"/>
                <a:gd name="connsiteX9" fmla="*/ 35376 w 76542"/>
                <a:gd name="connsiteY9" fmla="*/ 77782 h 90638"/>
                <a:gd name="connsiteX10" fmla="*/ 63036 w 76542"/>
                <a:gd name="connsiteY10" fmla="*/ 45641 h 90638"/>
                <a:gd name="connsiteX11" fmla="*/ 63036 w 76542"/>
                <a:gd name="connsiteY11" fmla="*/ 0 h 90638"/>
                <a:gd name="connsiteX12" fmla="*/ 76543 w 76542"/>
                <a:gd name="connsiteY12" fmla="*/ 0 h 90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6542" h="90638">
                  <a:moveTo>
                    <a:pt x="76543" y="0"/>
                  </a:moveTo>
                  <a:lnTo>
                    <a:pt x="76543" y="88710"/>
                  </a:lnTo>
                  <a:lnTo>
                    <a:pt x="63036" y="88710"/>
                  </a:lnTo>
                  <a:lnTo>
                    <a:pt x="63036" y="71354"/>
                  </a:lnTo>
                  <a:cubicBezTo>
                    <a:pt x="57245" y="82925"/>
                    <a:pt x="46954" y="90639"/>
                    <a:pt x="31518" y="90639"/>
                  </a:cubicBezTo>
                  <a:cubicBezTo>
                    <a:pt x="11578" y="90639"/>
                    <a:pt x="0" y="77782"/>
                    <a:pt x="0" y="56569"/>
                  </a:cubicBezTo>
                  <a:lnTo>
                    <a:pt x="0" y="0"/>
                  </a:lnTo>
                  <a:lnTo>
                    <a:pt x="13506" y="0"/>
                  </a:lnTo>
                  <a:lnTo>
                    <a:pt x="13506" y="53998"/>
                  </a:lnTo>
                  <a:cubicBezTo>
                    <a:pt x="13506" y="70068"/>
                    <a:pt x="21226" y="77782"/>
                    <a:pt x="35376" y="77782"/>
                  </a:cubicBezTo>
                  <a:cubicBezTo>
                    <a:pt x="52745" y="77782"/>
                    <a:pt x="63036" y="64926"/>
                    <a:pt x="63036" y="45641"/>
                  </a:cubicBezTo>
                  <a:lnTo>
                    <a:pt x="63036" y="0"/>
                  </a:lnTo>
                  <a:lnTo>
                    <a:pt x="76543" y="0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27" name="Полилиния: фигура 17">
              <a:extLst>
                <a:ext uri="{FF2B5EF4-FFF2-40B4-BE49-F238E27FC236}">
                  <a16:creationId xmlns:a16="http://schemas.microsoft.com/office/drawing/2014/main" id="{71589F7C-8455-4C16-B4EA-B2876329F398}"/>
                </a:ext>
              </a:extLst>
            </p:cNvPr>
            <p:cNvSpPr/>
            <p:nvPr/>
          </p:nvSpPr>
          <p:spPr>
            <a:xfrm>
              <a:off x="1142590" y="351903"/>
              <a:ext cx="88763" cy="131137"/>
            </a:xfrm>
            <a:custGeom>
              <a:avLst/>
              <a:gdLst>
                <a:gd name="connsiteX0" fmla="*/ 88763 w 88763"/>
                <a:gd name="connsiteY0" fmla="*/ 46284 h 131137"/>
                <a:gd name="connsiteX1" fmla="*/ 46953 w 88763"/>
                <a:gd name="connsiteY1" fmla="*/ 92568 h 131137"/>
                <a:gd name="connsiteX2" fmla="*/ 12864 w 88763"/>
                <a:gd name="connsiteY2" fmla="*/ 72640 h 131137"/>
                <a:gd name="connsiteX3" fmla="*/ 12864 w 88763"/>
                <a:gd name="connsiteY3" fmla="*/ 131137 h 131137"/>
                <a:gd name="connsiteX4" fmla="*/ 0 w 88763"/>
                <a:gd name="connsiteY4" fmla="*/ 131137 h 131137"/>
                <a:gd name="connsiteX5" fmla="*/ 0 w 88763"/>
                <a:gd name="connsiteY5" fmla="*/ 1929 h 131137"/>
                <a:gd name="connsiteX6" fmla="*/ 13506 w 88763"/>
                <a:gd name="connsiteY6" fmla="*/ 1929 h 131137"/>
                <a:gd name="connsiteX7" fmla="*/ 13506 w 88763"/>
                <a:gd name="connsiteY7" fmla="*/ 19928 h 131137"/>
                <a:gd name="connsiteX8" fmla="*/ 47596 w 88763"/>
                <a:gd name="connsiteY8" fmla="*/ 0 h 131137"/>
                <a:gd name="connsiteX9" fmla="*/ 88763 w 88763"/>
                <a:gd name="connsiteY9" fmla="*/ 46284 h 131137"/>
                <a:gd name="connsiteX10" fmla="*/ 75257 w 88763"/>
                <a:gd name="connsiteY10" fmla="*/ 46284 h 131137"/>
                <a:gd name="connsiteX11" fmla="*/ 44382 w 88763"/>
                <a:gd name="connsiteY11" fmla="*/ 12857 h 131137"/>
                <a:gd name="connsiteX12" fmla="*/ 12221 w 88763"/>
                <a:gd name="connsiteY12" fmla="*/ 46284 h 131137"/>
                <a:gd name="connsiteX13" fmla="*/ 44382 w 88763"/>
                <a:gd name="connsiteY13" fmla="*/ 79711 h 131137"/>
                <a:gd name="connsiteX14" fmla="*/ 75257 w 88763"/>
                <a:gd name="connsiteY14" fmla="*/ 46284 h 131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8763" h="131137">
                  <a:moveTo>
                    <a:pt x="88763" y="46284"/>
                  </a:moveTo>
                  <a:cubicBezTo>
                    <a:pt x="88763" y="73282"/>
                    <a:pt x="71395" y="92568"/>
                    <a:pt x="46953" y="92568"/>
                  </a:cubicBezTo>
                  <a:cubicBezTo>
                    <a:pt x="31518" y="92568"/>
                    <a:pt x="19941" y="84853"/>
                    <a:pt x="12864" y="72640"/>
                  </a:cubicBezTo>
                  <a:lnTo>
                    <a:pt x="12864" y="131137"/>
                  </a:lnTo>
                  <a:lnTo>
                    <a:pt x="0" y="131137"/>
                  </a:lnTo>
                  <a:lnTo>
                    <a:pt x="0" y="1929"/>
                  </a:lnTo>
                  <a:lnTo>
                    <a:pt x="13506" y="1929"/>
                  </a:lnTo>
                  <a:lnTo>
                    <a:pt x="13506" y="19928"/>
                  </a:lnTo>
                  <a:cubicBezTo>
                    <a:pt x="20583" y="7714"/>
                    <a:pt x="32161" y="0"/>
                    <a:pt x="47596" y="0"/>
                  </a:cubicBezTo>
                  <a:cubicBezTo>
                    <a:pt x="71395" y="0"/>
                    <a:pt x="88763" y="19285"/>
                    <a:pt x="88763" y="46284"/>
                  </a:cubicBezTo>
                  <a:close/>
                  <a:moveTo>
                    <a:pt x="75257" y="46284"/>
                  </a:moveTo>
                  <a:cubicBezTo>
                    <a:pt x="75257" y="26999"/>
                    <a:pt x="62394" y="12857"/>
                    <a:pt x="44382" y="12857"/>
                  </a:cubicBezTo>
                  <a:cubicBezTo>
                    <a:pt x="26370" y="12857"/>
                    <a:pt x="12221" y="26999"/>
                    <a:pt x="12221" y="46284"/>
                  </a:cubicBezTo>
                  <a:cubicBezTo>
                    <a:pt x="12221" y="65569"/>
                    <a:pt x="25727" y="79711"/>
                    <a:pt x="44382" y="79711"/>
                  </a:cubicBezTo>
                  <a:cubicBezTo>
                    <a:pt x="63036" y="79711"/>
                    <a:pt x="75257" y="65569"/>
                    <a:pt x="75257" y="46284"/>
                  </a:cubicBez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9740D079-FD06-4042-8C12-6CB7FE9CEB4D}"/>
              </a:ext>
            </a:extLst>
          </p:cNvPr>
          <p:cNvSpPr txBox="1"/>
          <p:nvPr/>
        </p:nvSpPr>
        <p:spPr>
          <a:xfrm>
            <a:off x="160379" y="348403"/>
            <a:ext cx="115355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ru-RU" sz="2000" b="1" spc="-20" dirty="0" err="1">
                <a:latin typeface="X5 Sans Medium" panose="020B0503020203020204" pitchFamily="34" charset="0"/>
                <a:ea typeface="X5 Sans Medium" panose="020B0503020203020204" pitchFamily="34" charset="0"/>
                <a:cs typeface="Open Sans Bold" panose="020B0604020202020204" charset="0"/>
              </a:rPr>
              <a:t>Верхнеуровневое</a:t>
            </a:r>
            <a:r>
              <a:rPr lang="ru-RU" sz="2000" b="1" spc="-20" dirty="0">
                <a:latin typeface="X5 Sans Medium" panose="020B0503020203020204" pitchFamily="34" charset="0"/>
                <a:ea typeface="X5 Sans Medium" panose="020B0503020203020204" pitchFamily="34" charset="0"/>
                <a:cs typeface="Open Sans Bold" panose="020B0604020202020204" charset="0"/>
              </a:rPr>
              <a:t> видение концепции процесса Управления рисками </a:t>
            </a:r>
            <a:r>
              <a:rPr lang="en-US" sz="2000" b="1" spc="-20" dirty="0">
                <a:latin typeface="X5 Sans Medium" panose="020B0503020203020204" pitchFamily="34" charset="0"/>
                <a:ea typeface="X5 Sans Medium" panose="020B0503020203020204" pitchFamily="34" charset="0"/>
                <a:cs typeface="Open Sans Bold" panose="020B0604020202020204" charset="0"/>
              </a:rPr>
              <a:t>SoD</a:t>
            </a:r>
            <a:endParaRPr lang="ru-RU" sz="2000" b="1" spc="-20" dirty="0">
              <a:latin typeface="X5 Sans Medium" panose="020B0503020203020204" pitchFamily="34" charset="0"/>
              <a:ea typeface="X5 Sans Medium" panose="020B0503020203020204" pitchFamily="34" charset="0"/>
              <a:cs typeface="Open Sans Bold" panose="020B0604020202020204" charset="0"/>
            </a:endParaRPr>
          </a:p>
        </p:txBody>
      </p:sp>
      <p:sp>
        <p:nvSpPr>
          <p:cNvPr id="51" name="Номер слайда 6">
            <a:extLst>
              <a:ext uri="{FF2B5EF4-FFF2-40B4-BE49-F238E27FC236}">
                <a16:creationId xmlns:a16="http://schemas.microsoft.com/office/drawing/2014/main" id="{E86BEAF8-EAAF-4D2C-A912-0E6931DAA2C0}"/>
              </a:ext>
            </a:extLst>
          </p:cNvPr>
          <p:cNvSpPr txBox="1">
            <a:spLocks/>
          </p:cNvSpPr>
          <p:nvPr/>
        </p:nvSpPr>
        <p:spPr>
          <a:xfrm>
            <a:off x="11665862" y="527988"/>
            <a:ext cx="318135" cy="11864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ru-RU"/>
            </a:defPPr>
            <a:lvl1pPr marL="0" algn="ctr" defTabSz="914400" rtl="0" eaLnBrk="1" latinLnBrk="0" hangingPunct="1">
              <a:defRPr sz="800" b="0" kern="12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  <a:cs typeface="Open Sans SemiBold" panose="020B07060308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C96FE9D3-F4ED-4A78-AE68-5D32F6CAB728}" type="slidenum">
              <a:rPr lang="ru-RU" smtClean="0">
                <a:solidFill>
                  <a:srgbClr val="FFFFFF"/>
                </a:solidFill>
              </a:rPr>
              <a:pPr>
                <a:defRPr/>
              </a:pPr>
              <a:t>1</a:t>
            </a:fld>
            <a:endParaRPr lang="ru-RU" dirty="0">
              <a:solidFill>
                <a:srgbClr val="FFFFFF"/>
              </a:solidFill>
            </a:endParaRPr>
          </a:p>
        </p:txBody>
      </p:sp>
      <p:sp>
        <p:nvSpPr>
          <p:cNvPr id="52" name="Овал 51">
            <a:extLst>
              <a:ext uri="{FF2B5EF4-FFF2-40B4-BE49-F238E27FC236}">
                <a16:creationId xmlns:a16="http://schemas.microsoft.com/office/drawing/2014/main" id="{B131399C-3E82-4528-A708-BC80F405FF40}"/>
              </a:ext>
            </a:extLst>
          </p:cNvPr>
          <p:cNvSpPr/>
          <p:nvPr/>
        </p:nvSpPr>
        <p:spPr>
          <a:xfrm>
            <a:off x="11865777" y="62653"/>
            <a:ext cx="285750" cy="285750"/>
          </a:xfrm>
          <a:prstGeom prst="ellipse">
            <a:avLst/>
          </a:prstGeom>
          <a:solidFill>
            <a:srgbClr val="5FAF2D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191923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3" name="Номер слайда 6">
            <a:extLst>
              <a:ext uri="{FF2B5EF4-FFF2-40B4-BE49-F238E27FC236}">
                <a16:creationId xmlns:a16="http://schemas.microsoft.com/office/drawing/2014/main" id="{1B12D6C9-405B-4DB5-B70D-57127FD18902}"/>
              </a:ext>
            </a:extLst>
          </p:cNvPr>
          <p:cNvSpPr txBox="1">
            <a:spLocks/>
          </p:cNvSpPr>
          <p:nvPr/>
        </p:nvSpPr>
        <p:spPr>
          <a:xfrm>
            <a:off x="11849584" y="146205"/>
            <a:ext cx="318135" cy="11864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ru-RU"/>
            </a:defPPr>
            <a:lvl1pPr marL="0" algn="ctr" defTabSz="914400" rtl="0" eaLnBrk="1" latinLnBrk="0" hangingPunct="1">
              <a:defRPr sz="800" b="0" kern="12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  <a:cs typeface="Open Sans SemiBold" panose="020B07060308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C96FE9D3-F4ED-4A78-AE68-5D32F6CAB728}" type="slidenum">
              <a:rPr lang="ru-RU" smtClean="0">
                <a:solidFill>
                  <a:srgbClr val="FFFFFF"/>
                </a:solidFill>
              </a:rPr>
              <a:pPr>
                <a:defRPr/>
              </a:pPr>
              <a:t>1</a:t>
            </a:fld>
            <a:endParaRPr lang="ru-RU" dirty="0">
              <a:solidFill>
                <a:srgbClr val="FFFFFF"/>
              </a:solidFill>
            </a:endParaRP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A41F137E-B172-4C10-9EE2-FDC3DB58EA46}"/>
              </a:ext>
            </a:extLst>
          </p:cNvPr>
          <p:cNvSpPr/>
          <p:nvPr/>
        </p:nvSpPr>
        <p:spPr>
          <a:xfrm>
            <a:off x="232554" y="997611"/>
            <a:ext cx="4002119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ru-RU" sz="1400" b="1" dirty="0"/>
              <a:t>Идентификация рисков</a:t>
            </a:r>
          </a:p>
          <a:p>
            <a:pPr marL="342900" indent="-342900">
              <a:buAutoNum type="arabicPeriod"/>
            </a:pPr>
            <a:endParaRPr lang="ru-RU" sz="1400" b="1" dirty="0"/>
          </a:p>
          <a:p>
            <a:pPr marL="342900" indent="-342900">
              <a:buAutoNum type="arabicPeriod"/>
            </a:pPr>
            <a:endParaRPr lang="ru-RU" sz="1400" b="1" dirty="0"/>
          </a:p>
          <a:p>
            <a:pPr marL="342900" indent="-342900">
              <a:buAutoNum type="arabicPeriod"/>
            </a:pPr>
            <a:endParaRPr lang="ru-RU" sz="1400" b="1" dirty="0"/>
          </a:p>
          <a:p>
            <a:pPr marL="342900" indent="-342900">
              <a:buAutoNum type="arabicPeriod"/>
            </a:pPr>
            <a:endParaRPr lang="ru-RU" sz="1400" b="1" dirty="0"/>
          </a:p>
          <a:p>
            <a:pPr marL="342900" indent="-342900">
              <a:buAutoNum type="arabicPeriod"/>
            </a:pPr>
            <a:endParaRPr lang="ru-RU" sz="1400" b="1" dirty="0"/>
          </a:p>
          <a:p>
            <a:pPr marL="342900" indent="-342900">
              <a:buAutoNum type="arabicPeriod"/>
            </a:pPr>
            <a:r>
              <a:rPr lang="ru-RU" sz="1400" b="1" dirty="0" err="1"/>
              <a:t>Митигация</a:t>
            </a:r>
            <a:r>
              <a:rPr lang="ru-RU" sz="1400" b="1" dirty="0"/>
              <a:t> рисков</a:t>
            </a:r>
          </a:p>
          <a:p>
            <a:pPr marL="342900" indent="-342900">
              <a:buAutoNum type="arabicPeriod"/>
            </a:pPr>
            <a:endParaRPr lang="ru-RU" sz="1400" b="1" dirty="0"/>
          </a:p>
          <a:p>
            <a:pPr marL="342900" indent="-342900">
              <a:buAutoNum type="arabicPeriod"/>
            </a:pPr>
            <a:endParaRPr lang="ru-RU" sz="1400" b="1" dirty="0"/>
          </a:p>
          <a:p>
            <a:pPr marL="342900" indent="-342900">
              <a:buAutoNum type="arabicPeriod"/>
            </a:pPr>
            <a:endParaRPr lang="ru-RU" sz="1400" b="1" dirty="0"/>
          </a:p>
          <a:p>
            <a:pPr marL="342900" indent="-342900">
              <a:buAutoNum type="arabicPeriod"/>
            </a:pPr>
            <a:endParaRPr lang="ru-RU" sz="1400" b="1" dirty="0"/>
          </a:p>
          <a:p>
            <a:pPr marL="342900" indent="-342900">
              <a:buAutoNum type="arabicPeriod"/>
            </a:pPr>
            <a:endParaRPr lang="ru-RU" sz="1400" b="1" dirty="0"/>
          </a:p>
          <a:p>
            <a:pPr marL="342900" indent="-342900">
              <a:buAutoNum type="arabicPeriod"/>
            </a:pPr>
            <a:r>
              <a:rPr lang="ru-RU" sz="1400" b="1" dirty="0"/>
              <a:t>Мониторинг</a:t>
            </a:r>
          </a:p>
          <a:p>
            <a:pPr marL="342900" indent="-342900">
              <a:buAutoNum type="arabicPeriod"/>
            </a:pPr>
            <a:endParaRPr lang="ru-RU" sz="1400" b="1" dirty="0"/>
          </a:p>
          <a:p>
            <a:pPr marL="342900" indent="-342900">
              <a:buAutoNum type="arabicPeriod"/>
            </a:pPr>
            <a:endParaRPr lang="ru-RU" sz="1400" b="1" dirty="0"/>
          </a:p>
          <a:p>
            <a:pPr marL="342900" indent="-342900">
              <a:buAutoNum type="arabicPeriod"/>
            </a:pPr>
            <a:endParaRPr lang="ru-RU" sz="1400" b="1" dirty="0"/>
          </a:p>
          <a:p>
            <a:pPr marL="342900" indent="-342900">
              <a:buAutoNum type="arabicPeriod"/>
            </a:pPr>
            <a:endParaRPr lang="ru-RU" sz="1400" b="1" dirty="0"/>
          </a:p>
          <a:p>
            <a:pPr marL="342900" indent="-342900">
              <a:buAutoNum type="arabicPeriod"/>
            </a:pPr>
            <a:endParaRPr lang="ru-RU" sz="1400" b="1" dirty="0"/>
          </a:p>
          <a:p>
            <a:pPr marL="342900" indent="-342900">
              <a:buAutoNum type="arabicPeriod"/>
            </a:pPr>
            <a:r>
              <a:rPr lang="ru-RU" sz="1400" b="1" dirty="0"/>
              <a:t>Актуализация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C30D96A4-265F-47D7-91D4-C3E405221DB9}"/>
              </a:ext>
            </a:extLst>
          </p:cNvPr>
          <p:cNvSpPr/>
          <p:nvPr/>
        </p:nvSpPr>
        <p:spPr>
          <a:xfrm>
            <a:off x="288837" y="1376875"/>
            <a:ext cx="1629518" cy="60802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Информационная система (ИС)</a:t>
            </a: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5D8DA266-369B-4EBD-9E81-463750DB52DB}"/>
              </a:ext>
            </a:extLst>
          </p:cNvPr>
          <p:cNvSpPr/>
          <p:nvPr/>
        </p:nvSpPr>
        <p:spPr>
          <a:xfrm>
            <a:off x="2261755" y="1376873"/>
            <a:ext cx="1629518" cy="60802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Подразделение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46C4A808-6667-4EB9-8AD9-A5CAF8299A0B}"/>
              </a:ext>
            </a:extLst>
          </p:cNvPr>
          <p:cNvSpPr/>
          <p:nvPr/>
        </p:nvSpPr>
        <p:spPr>
          <a:xfrm>
            <a:off x="4234673" y="1376873"/>
            <a:ext cx="1629518" cy="60802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Роли</a:t>
            </a: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D9E0B7B1-914A-43BE-87E9-16744303CF66}"/>
              </a:ext>
            </a:extLst>
          </p:cNvPr>
          <p:cNvSpPr/>
          <p:nvPr/>
        </p:nvSpPr>
        <p:spPr>
          <a:xfrm>
            <a:off x="6207591" y="1376873"/>
            <a:ext cx="1629518" cy="60802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Транзакции</a:t>
            </a: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D48C8D1C-43F0-41AF-9D8C-351540142F18}"/>
              </a:ext>
            </a:extLst>
          </p:cNvPr>
          <p:cNvSpPr/>
          <p:nvPr/>
        </p:nvSpPr>
        <p:spPr>
          <a:xfrm>
            <a:off x="8180509" y="1376873"/>
            <a:ext cx="1629518" cy="60802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Описание ролей</a:t>
            </a:r>
            <a:r>
              <a:rPr lang="en-US" sz="1400" dirty="0">
                <a:solidFill>
                  <a:schemeClr val="tx1"/>
                </a:solidFill>
              </a:rPr>
              <a:t> (</a:t>
            </a:r>
            <a:r>
              <a:rPr lang="ru-RU" sz="1400" dirty="0">
                <a:solidFill>
                  <a:schemeClr val="tx1"/>
                </a:solidFill>
              </a:rPr>
              <a:t>привязка к функционалу)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56DEF312-B900-4BBB-9F42-4D0D0F77BBB2}"/>
              </a:ext>
            </a:extLst>
          </p:cNvPr>
          <p:cNvSpPr/>
          <p:nvPr/>
        </p:nvSpPr>
        <p:spPr>
          <a:xfrm>
            <a:off x="10153427" y="1376873"/>
            <a:ext cx="1629518" cy="60802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Матрица </a:t>
            </a:r>
            <a:r>
              <a:rPr lang="en-US" sz="1400" dirty="0">
                <a:solidFill>
                  <a:schemeClr val="tx1"/>
                </a:solidFill>
              </a:rPr>
              <a:t>SoD </a:t>
            </a:r>
            <a:r>
              <a:rPr lang="ru-RU" sz="1400" b="1" dirty="0">
                <a:solidFill>
                  <a:srgbClr val="FF0000"/>
                </a:solidFill>
              </a:rPr>
              <a:t>по ролям</a:t>
            </a:r>
          </a:p>
        </p:txBody>
      </p:sp>
      <p:sp>
        <p:nvSpPr>
          <p:cNvPr id="5" name="Стрелка: вправо 4">
            <a:extLst>
              <a:ext uri="{FF2B5EF4-FFF2-40B4-BE49-F238E27FC236}">
                <a16:creationId xmlns:a16="http://schemas.microsoft.com/office/drawing/2014/main" id="{32B1F1FC-8310-46F5-84C4-3388469BF943}"/>
              </a:ext>
            </a:extLst>
          </p:cNvPr>
          <p:cNvSpPr/>
          <p:nvPr/>
        </p:nvSpPr>
        <p:spPr>
          <a:xfrm>
            <a:off x="1967852" y="1522995"/>
            <a:ext cx="249811" cy="372359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400">
              <a:solidFill>
                <a:schemeClr val="tx1"/>
              </a:solidFill>
            </a:endParaRPr>
          </a:p>
        </p:txBody>
      </p:sp>
      <p:sp>
        <p:nvSpPr>
          <p:cNvPr id="35" name="Стрелка: вправо 34">
            <a:extLst>
              <a:ext uri="{FF2B5EF4-FFF2-40B4-BE49-F238E27FC236}">
                <a16:creationId xmlns:a16="http://schemas.microsoft.com/office/drawing/2014/main" id="{4E02CFDF-C71D-4FBF-92E8-063A3961B237}"/>
              </a:ext>
            </a:extLst>
          </p:cNvPr>
          <p:cNvSpPr/>
          <p:nvPr/>
        </p:nvSpPr>
        <p:spPr>
          <a:xfrm>
            <a:off x="3935365" y="1522995"/>
            <a:ext cx="249811" cy="372359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400">
              <a:solidFill>
                <a:schemeClr val="tx1"/>
              </a:solidFill>
            </a:endParaRPr>
          </a:p>
        </p:txBody>
      </p:sp>
      <p:sp>
        <p:nvSpPr>
          <p:cNvPr id="36" name="Стрелка: вправо 35">
            <a:extLst>
              <a:ext uri="{FF2B5EF4-FFF2-40B4-BE49-F238E27FC236}">
                <a16:creationId xmlns:a16="http://schemas.microsoft.com/office/drawing/2014/main" id="{2836BE43-EC2C-408B-87BD-F7F9B0AEF4BF}"/>
              </a:ext>
            </a:extLst>
          </p:cNvPr>
          <p:cNvSpPr/>
          <p:nvPr/>
        </p:nvSpPr>
        <p:spPr>
          <a:xfrm>
            <a:off x="5910985" y="1522994"/>
            <a:ext cx="249811" cy="372359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400">
              <a:solidFill>
                <a:schemeClr val="tx1"/>
              </a:solidFill>
            </a:endParaRPr>
          </a:p>
        </p:txBody>
      </p:sp>
      <p:sp>
        <p:nvSpPr>
          <p:cNvPr id="37" name="Стрелка: вправо 36">
            <a:extLst>
              <a:ext uri="{FF2B5EF4-FFF2-40B4-BE49-F238E27FC236}">
                <a16:creationId xmlns:a16="http://schemas.microsoft.com/office/drawing/2014/main" id="{8A4A3FA8-45A1-4FF8-92EA-3DB5DDDA6806}"/>
              </a:ext>
            </a:extLst>
          </p:cNvPr>
          <p:cNvSpPr/>
          <p:nvPr/>
        </p:nvSpPr>
        <p:spPr>
          <a:xfrm>
            <a:off x="7883903" y="1522994"/>
            <a:ext cx="249811" cy="372359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400">
              <a:solidFill>
                <a:schemeClr val="tx1"/>
              </a:solidFill>
            </a:endParaRPr>
          </a:p>
        </p:txBody>
      </p:sp>
      <p:sp>
        <p:nvSpPr>
          <p:cNvPr id="38" name="Стрелка: вправо 37">
            <a:extLst>
              <a:ext uri="{FF2B5EF4-FFF2-40B4-BE49-F238E27FC236}">
                <a16:creationId xmlns:a16="http://schemas.microsoft.com/office/drawing/2014/main" id="{B115F8B6-6EF3-48DF-B3B0-AAB987E91445}"/>
              </a:ext>
            </a:extLst>
          </p:cNvPr>
          <p:cNvSpPr/>
          <p:nvPr/>
        </p:nvSpPr>
        <p:spPr>
          <a:xfrm>
            <a:off x="9856821" y="1513567"/>
            <a:ext cx="249811" cy="372359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400">
              <a:solidFill>
                <a:schemeClr val="tx1"/>
              </a:solidFill>
            </a:endParaRPr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5BF4E66B-1A69-4825-9070-EAC29B0AE22E}"/>
              </a:ext>
            </a:extLst>
          </p:cNvPr>
          <p:cNvSpPr/>
          <p:nvPr/>
        </p:nvSpPr>
        <p:spPr>
          <a:xfrm>
            <a:off x="281760" y="2678566"/>
            <a:ext cx="2833434" cy="60802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Корректировка ролевой модели</a:t>
            </a:r>
          </a:p>
          <a:p>
            <a:pPr algn="ctr"/>
            <a:r>
              <a:rPr lang="ru-RU" sz="1400" dirty="0">
                <a:solidFill>
                  <a:schemeClr val="tx1"/>
                </a:solidFill>
              </a:rPr>
              <a:t>Подразделения с учетом матрицы </a:t>
            </a:r>
            <a:r>
              <a:rPr lang="en-US" sz="1400" dirty="0">
                <a:solidFill>
                  <a:schemeClr val="tx1"/>
                </a:solidFill>
              </a:rPr>
              <a:t>SoD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C7D4AF62-2DBF-4F0E-94DF-73AAFA424275}"/>
              </a:ext>
            </a:extLst>
          </p:cNvPr>
          <p:cNvSpPr/>
          <p:nvPr/>
        </p:nvSpPr>
        <p:spPr>
          <a:xfrm>
            <a:off x="288837" y="3933527"/>
            <a:ext cx="1629518" cy="60802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Ведение матрицы </a:t>
            </a:r>
            <a:r>
              <a:rPr lang="en-US" sz="1400" dirty="0">
                <a:solidFill>
                  <a:schemeClr val="tx1"/>
                </a:solidFill>
              </a:rPr>
              <a:t>SoD </a:t>
            </a:r>
            <a:r>
              <a:rPr lang="ru-RU" sz="1400" dirty="0">
                <a:solidFill>
                  <a:schemeClr val="tx1"/>
                </a:solidFill>
              </a:rPr>
              <a:t>в АСУД</a:t>
            </a:r>
          </a:p>
        </p:txBody>
      </p: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1FE8FA02-EF8B-4371-B6BF-9065F694DBE8}"/>
              </a:ext>
            </a:extLst>
          </p:cNvPr>
          <p:cNvSpPr/>
          <p:nvPr/>
        </p:nvSpPr>
        <p:spPr>
          <a:xfrm>
            <a:off x="2254678" y="3933527"/>
            <a:ext cx="2020378" cy="60802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Контроль присвоение конфликтующих ролей</a:t>
            </a:r>
          </a:p>
        </p:txBody>
      </p:sp>
      <p:sp>
        <p:nvSpPr>
          <p:cNvPr id="47" name="Стрелка: вправо 46">
            <a:extLst>
              <a:ext uri="{FF2B5EF4-FFF2-40B4-BE49-F238E27FC236}">
                <a16:creationId xmlns:a16="http://schemas.microsoft.com/office/drawing/2014/main" id="{7900FC46-3E90-48E9-BB62-93F9A2863147}"/>
              </a:ext>
            </a:extLst>
          </p:cNvPr>
          <p:cNvSpPr/>
          <p:nvPr/>
        </p:nvSpPr>
        <p:spPr>
          <a:xfrm>
            <a:off x="1965985" y="4051361"/>
            <a:ext cx="249811" cy="372359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400">
              <a:solidFill>
                <a:schemeClr val="tx1"/>
              </a:solidFill>
            </a:endParaRPr>
          </a:p>
        </p:txBody>
      </p:sp>
      <p:sp>
        <p:nvSpPr>
          <p:cNvPr id="48" name="Стрелка: вправо 47">
            <a:extLst>
              <a:ext uri="{FF2B5EF4-FFF2-40B4-BE49-F238E27FC236}">
                <a16:creationId xmlns:a16="http://schemas.microsoft.com/office/drawing/2014/main" id="{A7B907CD-1603-4691-B7AD-ED246FECC45E}"/>
              </a:ext>
            </a:extLst>
          </p:cNvPr>
          <p:cNvSpPr/>
          <p:nvPr/>
        </p:nvSpPr>
        <p:spPr>
          <a:xfrm>
            <a:off x="11849584" y="1494707"/>
            <a:ext cx="249811" cy="372359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400">
              <a:solidFill>
                <a:schemeClr val="tx1"/>
              </a:solidFill>
            </a:endParaRPr>
          </a:p>
        </p:txBody>
      </p:sp>
      <p:sp>
        <p:nvSpPr>
          <p:cNvPr id="49" name="Стрелка: вправо 48">
            <a:extLst>
              <a:ext uri="{FF2B5EF4-FFF2-40B4-BE49-F238E27FC236}">
                <a16:creationId xmlns:a16="http://schemas.microsoft.com/office/drawing/2014/main" id="{789DEC12-AECC-4BBE-9923-9D4FB15700D8}"/>
              </a:ext>
            </a:extLst>
          </p:cNvPr>
          <p:cNvSpPr/>
          <p:nvPr/>
        </p:nvSpPr>
        <p:spPr>
          <a:xfrm>
            <a:off x="50735" y="2796400"/>
            <a:ext cx="225123" cy="372359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400">
              <a:solidFill>
                <a:schemeClr val="tx1"/>
              </a:solidFill>
            </a:endParaRPr>
          </a:p>
        </p:txBody>
      </p:sp>
      <p:sp>
        <p:nvSpPr>
          <p:cNvPr id="50" name="Стрелка: вправо 49">
            <a:extLst>
              <a:ext uri="{FF2B5EF4-FFF2-40B4-BE49-F238E27FC236}">
                <a16:creationId xmlns:a16="http://schemas.microsoft.com/office/drawing/2014/main" id="{935274BF-970A-4445-B88A-DD638AD7380F}"/>
              </a:ext>
            </a:extLst>
          </p:cNvPr>
          <p:cNvSpPr/>
          <p:nvPr/>
        </p:nvSpPr>
        <p:spPr>
          <a:xfrm>
            <a:off x="47817" y="4071843"/>
            <a:ext cx="225123" cy="372359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400">
              <a:solidFill>
                <a:schemeClr val="tx1"/>
              </a:solidFill>
            </a:endParaRPr>
          </a:p>
        </p:txBody>
      </p:sp>
      <p:sp>
        <p:nvSpPr>
          <p:cNvPr id="54" name="Прямоугольник: скругленные углы 53">
            <a:extLst>
              <a:ext uri="{FF2B5EF4-FFF2-40B4-BE49-F238E27FC236}">
                <a16:creationId xmlns:a16="http://schemas.microsoft.com/office/drawing/2014/main" id="{62B35F8E-CCA8-4E09-B98F-B2F9084837BF}"/>
              </a:ext>
            </a:extLst>
          </p:cNvPr>
          <p:cNvSpPr/>
          <p:nvPr/>
        </p:nvSpPr>
        <p:spPr>
          <a:xfrm>
            <a:off x="288837" y="5269005"/>
            <a:ext cx="1629518" cy="60802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Ежегодный сбор изменений в ИС</a:t>
            </a:r>
          </a:p>
        </p:txBody>
      </p:sp>
      <p:sp>
        <p:nvSpPr>
          <p:cNvPr id="55" name="Прямоугольник: скругленные углы 54">
            <a:extLst>
              <a:ext uri="{FF2B5EF4-FFF2-40B4-BE49-F238E27FC236}">
                <a16:creationId xmlns:a16="http://schemas.microsoft.com/office/drawing/2014/main" id="{0AD4B7F1-C33A-410C-B78B-382CB0161DC4}"/>
              </a:ext>
            </a:extLst>
          </p:cNvPr>
          <p:cNvSpPr/>
          <p:nvPr/>
        </p:nvSpPr>
        <p:spPr>
          <a:xfrm>
            <a:off x="2254678" y="5269005"/>
            <a:ext cx="2020378" cy="60802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Анализ изменений аналогично «идентификации»</a:t>
            </a:r>
          </a:p>
        </p:txBody>
      </p:sp>
      <p:sp>
        <p:nvSpPr>
          <p:cNvPr id="56" name="Стрелка: вправо 55">
            <a:extLst>
              <a:ext uri="{FF2B5EF4-FFF2-40B4-BE49-F238E27FC236}">
                <a16:creationId xmlns:a16="http://schemas.microsoft.com/office/drawing/2014/main" id="{22B19DE4-9F71-4DEC-B2A7-867B8252B6DE}"/>
              </a:ext>
            </a:extLst>
          </p:cNvPr>
          <p:cNvSpPr/>
          <p:nvPr/>
        </p:nvSpPr>
        <p:spPr>
          <a:xfrm>
            <a:off x="1968984" y="5377018"/>
            <a:ext cx="249811" cy="372359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400">
              <a:solidFill>
                <a:schemeClr val="tx1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47B7BB14-189D-444E-A5C3-ADC2E14C9920}"/>
              </a:ext>
            </a:extLst>
          </p:cNvPr>
          <p:cNvSpPr/>
          <p:nvPr/>
        </p:nvSpPr>
        <p:spPr>
          <a:xfrm>
            <a:off x="6035890" y="2817023"/>
            <a:ext cx="5464977" cy="1511456"/>
          </a:xfrm>
          <a:prstGeom prst="roundRect">
            <a:avLst>
              <a:gd name="adj" fmla="val 7998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1400" b="1" dirty="0">
                <a:solidFill>
                  <a:schemeClr val="tx1"/>
                </a:solidFill>
              </a:rPr>
              <a:t>Артефакты процесса: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400" dirty="0">
                <a:solidFill>
                  <a:schemeClr val="tx1"/>
                </a:solidFill>
              </a:rPr>
              <a:t>Описание функционала каждой роли подразделения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400" dirty="0">
                <a:solidFill>
                  <a:schemeClr val="tx1"/>
                </a:solidFill>
              </a:rPr>
              <a:t>Матрица </a:t>
            </a:r>
            <a:r>
              <a:rPr lang="en-US" sz="1400" dirty="0">
                <a:solidFill>
                  <a:schemeClr val="tx1"/>
                </a:solidFill>
              </a:rPr>
              <a:t>SoD </a:t>
            </a:r>
            <a:r>
              <a:rPr lang="ru-RU" sz="1400" dirty="0">
                <a:solidFill>
                  <a:schemeClr val="tx1"/>
                </a:solidFill>
              </a:rPr>
              <a:t>по ролям с учетом описанного функционала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400" dirty="0">
                <a:solidFill>
                  <a:schemeClr val="tx1"/>
                </a:solidFill>
              </a:rPr>
              <a:t>Роли подразделения не содержат риск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400" dirty="0">
                <a:solidFill>
                  <a:schemeClr val="tx1"/>
                </a:solidFill>
              </a:rPr>
              <a:t>В АСУД введены технические правила согласно матрицы </a:t>
            </a:r>
            <a:r>
              <a:rPr lang="en-US" sz="1400" dirty="0">
                <a:solidFill>
                  <a:schemeClr val="tx1"/>
                </a:solidFill>
              </a:rPr>
              <a:t>SoD </a:t>
            </a:r>
            <a:r>
              <a:rPr lang="ru-RU" sz="1400" dirty="0">
                <a:solidFill>
                  <a:schemeClr val="tx1"/>
                </a:solidFill>
              </a:rPr>
              <a:t>и осуществляется проверка наличия конфликтов при присвоении</a:t>
            </a:r>
          </a:p>
          <a:p>
            <a:pPr marL="342900" indent="-342900">
              <a:buFont typeface="+mj-lt"/>
              <a:buAutoNum type="arabicPeriod"/>
            </a:pP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57" name="Прямоугольник: скругленные углы 56">
            <a:extLst>
              <a:ext uri="{FF2B5EF4-FFF2-40B4-BE49-F238E27FC236}">
                <a16:creationId xmlns:a16="http://schemas.microsoft.com/office/drawing/2014/main" id="{3C903FA8-5AF2-40F5-9190-0F0B6C0B9258}"/>
              </a:ext>
            </a:extLst>
          </p:cNvPr>
          <p:cNvSpPr/>
          <p:nvPr/>
        </p:nvSpPr>
        <p:spPr>
          <a:xfrm>
            <a:off x="4611379" y="5269004"/>
            <a:ext cx="2020378" cy="60802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Корректировка ролей аналогично «изменению»</a:t>
            </a:r>
          </a:p>
        </p:txBody>
      </p:sp>
      <p:sp>
        <p:nvSpPr>
          <p:cNvPr id="58" name="Стрелка: вправо 57">
            <a:extLst>
              <a:ext uri="{FF2B5EF4-FFF2-40B4-BE49-F238E27FC236}">
                <a16:creationId xmlns:a16="http://schemas.microsoft.com/office/drawing/2014/main" id="{57B50F00-6DBF-455C-B75D-78B073059E86}"/>
              </a:ext>
            </a:extLst>
          </p:cNvPr>
          <p:cNvSpPr/>
          <p:nvPr/>
        </p:nvSpPr>
        <p:spPr>
          <a:xfrm>
            <a:off x="4318312" y="5377018"/>
            <a:ext cx="249811" cy="372359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400">
              <a:solidFill>
                <a:schemeClr val="tx1"/>
              </a:solidFill>
            </a:endParaRP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9F7721E9-0AEB-42B7-915D-7C87563333E6}"/>
              </a:ext>
            </a:extLst>
          </p:cNvPr>
          <p:cNvCxnSpPr>
            <a:cxnSpLocks/>
          </p:cNvCxnSpPr>
          <p:nvPr/>
        </p:nvCxnSpPr>
        <p:spPr>
          <a:xfrm>
            <a:off x="3201043" y="2982579"/>
            <a:ext cx="2709942" cy="648899"/>
          </a:xfrm>
          <a:prstGeom prst="straightConnector1">
            <a:avLst/>
          </a:prstGeom>
          <a:ln w="22225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 стрелкой 59">
            <a:extLst>
              <a:ext uri="{FF2B5EF4-FFF2-40B4-BE49-F238E27FC236}">
                <a16:creationId xmlns:a16="http://schemas.microsoft.com/office/drawing/2014/main" id="{FD7F7542-9D87-483A-B846-048BFC47C120}"/>
              </a:ext>
            </a:extLst>
          </p:cNvPr>
          <p:cNvCxnSpPr>
            <a:cxnSpLocks/>
          </p:cNvCxnSpPr>
          <p:nvPr/>
        </p:nvCxnSpPr>
        <p:spPr>
          <a:xfrm flipV="1">
            <a:off x="4406372" y="3891772"/>
            <a:ext cx="1543669" cy="323879"/>
          </a:xfrm>
          <a:prstGeom prst="straightConnector1">
            <a:avLst/>
          </a:prstGeom>
          <a:ln w="22225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 стрелкой 60">
            <a:extLst>
              <a:ext uri="{FF2B5EF4-FFF2-40B4-BE49-F238E27FC236}">
                <a16:creationId xmlns:a16="http://schemas.microsoft.com/office/drawing/2014/main" id="{8137BFC8-D9D2-495B-9C2A-4CE8AF058D6E}"/>
              </a:ext>
            </a:extLst>
          </p:cNvPr>
          <p:cNvCxnSpPr>
            <a:cxnSpLocks/>
          </p:cNvCxnSpPr>
          <p:nvPr/>
        </p:nvCxnSpPr>
        <p:spPr>
          <a:xfrm flipH="1">
            <a:off x="8768378" y="2077446"/>
            <a:ext cx="189727" cy="650028"/>
          </a:xfrm>
          <a:prstGeom prst="straightConnector1">
            <a:avLst/>
          </a:prstGeom>
          <a:ln w="22225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 стрелкой 61">
            <a:extLst>
              <a:ext uri="{FF2B5EF4-FFF2-40B4-BE49-F238E27FC236}">
                <a16:creationId xmlns:a16="http://schemas.microsoft.com/office/drawing/2014/main" id="{13C7F91A-1F56-4D1E-937A-1AE64C4DDFE4}"/>
              </a:ext>
            </a:extLst>
          </p:cNvPr>
          <p:cNvCxnSpPr>
            <a:cxnSpLocks/>
          </p:cNvCxnSpPr>
          <p:nvPr/>
        </p:nvCxnSpPr>
        <p:spPr>
          <a:xfrm flipH="1">
            <a:off x="9856821" y="2074451"/>
            <a:ext cx="1035592" cy="640691"/>
          </a:xfrm>
          <a:prstGeom prst="straightConnector1">
            <a:avLst/>
          </a:prstGeom>
          <a:ln w="22225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4D044F0-1CD0-4AF0-95B1-6E1C6E72C043}"/>
              </a:ext>
            </a:extLst>
          </p:cNvPr>
          <p:cNvSpPr txBox="1"/>
          <p:nvPr/>
        </p:nvSpPr>
        <p:spPr>
          <a:xfrm>
            <a:off x="4833595" y="41221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>
                <a:solidFill>
                  <a:schemeClr val="bg1">
                    <a:lumMod val="50000"/>
                  </a:schemeClr>
                </a:solidFill>
              </a:rPr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257227C-1167-4A63-A09B-512D58251D53}"/>
              </a:ext>
            </a:extLst>
          </p:cNvPr>
          <p:cNvSpPr txBox="1"/>
          <p:nvPr/>
        </p:nvSpPr>
        <p:spPr>
          <a:xfrm>
            <a:off x="8561555" y="21668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>
                <a:solidFill>
                  <a:schemeClr val="bg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C247E1A-EB6F-4449-95C2-B06D260CB373}"/>
              </a:ext>
            </a:extLst>
          </p:cNvPr>
          <p:cNvSpPr txBox="1"/>
          <p:nvPr/>
        </p:nvSpPr>
        <p:spPr>
          <a:xfrm>
            <a:off x="10653421" y="21668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>
                <a:solidFill>
                  <a:schemeClr val="bg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9537663-4F61-40B7-98BA-6663637039E1}"/>
              </a:ext>
            </a:extLst>
          </p:cNvPr>
          <p:cNvSpPr txBox="1"/>
          <p:nvPr/>
        </p:nvSpPr>
        <p:spPr>
          <a:xfrm>
            <a:off x="4833595" y="29957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>
                <a:solidFill>
                  <a:schemeClr val="bg1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67" name="Прямоугольник: скругленные углы 66">
            <a:extLst>
              <a:ext uri="{FF2B5EF4-FFF2-40B4-BE49-F238E27FC236}">
                <a16:creationId xmlns:a16="http://schemas.microsoft.com/office/drawing/2014/main" id="{99EE313C-20C3-4CCA-AC79-19E8C6101B73}"/>
              </a:ext>
            </a:extLst>
          </p:cNvPr>
          <p:cNvSpPr/>
          <p:nvPr/>
        </p:nvSpPr>
        <p:spPr>
          <a:xfrm>
            <a:off x="6968080" y="5269004"/>
            <a:ext cx="2020378" cy="60802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Актуализация данных по конфликтам в АСУД</a:t>
            </a:r>
          </a:p>
        </p:txBody>
      </p:sp>
      <p:sp>
        <p:nvSpPr>
          <p:cNvPr id="68" name="Стрелка: вправо 67">
            <a:extLst>
              <a:ext uri="{FF2B5EF4-FFF2-40B4-BE49-F238E27FC236}">
                <a16:creationId xmlns:a16="http://schemas.microsoft.com/office/drawing/2014/main" id="{1EA8A45D-E0C4-4BE7-A72A-D4EB8DA9D6A8}"/>
              </a:ext>
            </a:extLst>
          </p:cNvPr>
          <p:cNvSpPr/>
          <p:nvPr/>
        </p:nvSpPr>
        <p:spPr>
          <a:xfrm>
            <a:off x="6675013" y="5386838"/>
            <a:ext cx="249811" cy="372359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50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C4D2ED8E-72FC-4231-A2C5-27E1268B7B06}"/>
              </a:ext>
            </a:extLst>
          </p:cNvPr>
          <p:cNvGrpSpPr/>
          <p:nvPr/>
        </p:nvGrpSpPr>
        <p:grpSpPr>
          <a:xfrm>
            <a:off x="63714" y="62653"/>
            <a:ext cx="802728" cy="244915"/>
            <a:chOff x="428625" y="238125"/>
            <a:chExt cx="802728" cy="244915"/>
          </a:xfrm>
        </p:grpSpPr>
        <p:sp>
          <p:nvSpPr>
            <p:cNvPr id="20" name="Полилиния: фигура 10">
              <a:extLst>
                <a:ext uri="{FF2B5EF4-FFF2-40B4-BE49-F238E27FC236}">
                  <a16:creationId xmlns:a16="http://schemas.microsoft.com/office/drawing/2014/main" id="{E9C3ACDA-9615-4FF7-AC91-25E54209AF0D}"/>
                </a:ext>
              </a:extLst>
            </p:cNvPr>
            <p:cNvSpPr/>
            <p:nvPr/>
          </p:nvSpPr>
          <p:spPr>
            <a:xfrm>
              <a:off x="548259" y="331338"/>
              <a:ext cx="98412" cy="109280"/>
            </a:xfrm>
            <a:custGeom>
              <a:avLst/>
              <a:gdLst>
                <a:gd name="connsiteX0" fmla="*/ 72042 w 98412"/>
                <a:gd name="connsiteY0" fmla="*/ 109281 h 109280"/>
                <a:gd name="connsiteX1" fmla="*/ 49530 w 98412"/>
                <a:gd name="connsiteY1" fmla="*/ 71354 h 109280"/>
                <a:gd name="connsiteX2" fmla="*/ 27018 w 98412"/>
                <a:gd name="connsiteY2" fmla="*/ 109281 h 109280"/>
                <a:gd name="connsiteX3" fmla="*/ 643 w 98412"/>
                <a:gd name="connsiteY3" fmla="*/ 109281 h 109280"/>
                <a:gd name="connsiteX4" fmla="*/ 34733 w 98412"/>
                <a:gd name="connsiteY4" fmla="*/ 52712 h 109280"/>
                <a:gd name="connsiteX5" fmla="*/ 0 w 98412"/>
                <a:gd name="connsiteY5" fmla="*/ 0 h 109280"/>
                <a:gd name="connsiteX6" fmla="*/ 27661 w 98412"/>
                <a:gd name="connsiteY6" fmla="*/ 0 h 109280"/>
                <a:gd name="connsiteX7" fmla="*/ 50173 w 98412"/>
                <a:gd name="connsiteY7" fmla="*/ 35355 h 109280"/>
                <a:gd name="connsiteX8" fmla="*/ 71395 w 98412"/>
                <a:gd name="connsiteY8" fmla="*/ 0 h 109280"/>
                <a:gd name="connsiteX9" fmla="*/ 97769 w 98412"/>
                <a:gd name="connsiteY9" fmla="*/ 0 h 109280"/>
                <a:gd name="connsiteX10" fmla="*/ 63679 w 98412"/>
                <a:gd name="connsiteY10" fmla="*/ 53998 h 109280"/>
                <a:gd name="connsiteX11" fmla="*/ 98412 w 98412"/>
                <a:gd name="connsiteY11" fmla="*/ 109281 h 109280"/>
                <a:gd name="connsiteX12" fmla="*/ 72042 w 98412"/>
                <a:gd name="connsiteY12" fmla="*/ 109281 h 109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412" h="109280">
                  <a:moveTo>
                    <a:pt x="72042" y="109281"/>
                  </a:moveTo>
                  <a:lnTo>
                    <a:pt x="49530" y="71354"/>
                  </a:lnTo>
                  <a:lnTo>
                    <a:pt x="27018" y="109281"/>
                  </a:lnTo>
                  <a:lnTo>
                    <a:pt x="643" y="109281"/>
                  </a:lnTo>
                  <a:lnTo>
                    <a:pt x="34733" y="52712"/>
                  </a:lnTo>
                  <a:lnTo>
                    <a:pt x="0" y="0"/>
                  </a:lnTo>
                  <a:lnTo>
                    <a:pt x="27661" y="0"/>
                  </a:lnTo>
                  <a:lnTo>
                    <a:pt x="50173" y="35355"/>
                  </a:lnTo>
                  <a:lnTo>
                    <a:pt x="71395" y="0"/>
                  </a:lnTo>
                  <a:lnTo>
                    <a:pt x="97769" y="0"/>
                  </a:lnTo>
                  <a:lnTo>
                    <a:pt x="63679" y="53998"/>
                  </a:lnTo>
                  <a:lnTo>
                    <a:pt x="98412" y="109281"/>
                  </a:lnTo>
                  <a:lnTo>
                    <a:pt x="72042" y="109281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21" name="Полилиния: фигура 11">
              <a:extLst>
                <a:ext uri="{FF2B5EF4-FFF2-40B4-BE49-F238E27FC236}">
                  <a16:creationId xmlns:a16="http://schemas.microsoft.com/office/drawing/2014/main" id="{6B13766F-8371-4C97-BB36-1CB37E35A8D3}"/>
                </a:ext>
              </a:extLst>
            </p:cNvPr>
            <p:cNvSpPr/>
            <p:nvPr/>
          </p:nvSpPr>
          <p:spPr>
            <a:xfrm>
              <a:off x="651176" y="331979"/>
              <a:ext cx="81691" cy="110566"/>
            </a:xfrm>
            <a:custGeom>
              <a:avLst/>
              <a:gdLst>
                <a:gd name="connsiteX0" fmla="*/ 81691 w 81691"/>
                <a:gd name="connsiteY0" fmla="*/ 71354 h 110566"/>
                <a:gd name="connsiteX1" fmla="*/ 39881 w 81691"/>
                <a:gd name="connsiteY1" fmla="*/ 110567 h 110566"/>
                <a:gd name="connsiteX2" fmla="*/ 0 w 81691"/>
                <a:gd name="connsiteY2" fmla="*/ 73925 h 110566"/>
                <a:gd name="connsiteX3" fmla="*/ 22512 w 81691"/>
                <a:gd name="connsiteY3" fmla="*/ 73925 h 110566"/>
                <a:gd name="connsiteX4" fmla="*/ 42453 w 81691"/>
                <a:gd name="connsiteY4" fmla="*/ 89354 h 110566"/>
                <a:gd name="connsiteX5" fmla="*/ 59179 w 81691"/>
                <a:gd name="connsiteY5" fmla="*/ 71354 h 110566"/>
                <a:gd name="connsiteX6" fmla="*/ 39881 w 81691"/>
                <a:gd name="connsiteY6" fmla="*/ 53998 h 110566"/>
                <a:gd name="connsiteX7" fmla="*/ 21869 w 81691"/>
                <a:gd name="connsiteY7" fmla="*/ 62997 h 110566"/>
                <a:gd name="connsiteX8" fmla="*/ 0 w 81691"/>
                <a:gd name="connsiteY8" fmla="*/ 62997 h 110566"/>
                <a:gd name="connsiteX9" fmla="*/ 7720 w 81691"/>
                <a:gd name="connsiteY9" fmla="*/ 0 h 110566"/>
                <a:gd name="connsiteX10" fmla="*/ 78472 w 81691"/>
                <a:gd name="connsiteY10" fmla="*/ 0 h 110566"/>
                <a:gd name="connsiteX11" fmla="*/ 75900 w 81691"/>
                <a:gd name="connsiteY11" fmla="*/ 21214 h 110566"/>
                <a:gd name="connsiteX12" fmla="*/ 25089 w 81691"/>
                <a:gd name="connsiteY12" fmla="*/ 21214 h 110566"/>
                <a:gd name="connsiteX13" fmla="*/ 23160 w 81691"/>
                <a:gd name="connsiteY13" fmla="*/ 42427 h 110566"/>
                <a:gd name="connsiteX14" fmla="*/ 44382 w 81691"/>
                <a:gd name="connsiteY14" fmla="*/ 35999 h 110566"/>
                <a:gd name="connsiteX15" fmla="*/ 81691 w 81691"/>
                <a:gd name="connsiteY15" fmla="*/ 71354 h 110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1691" h="110566">
                  <a:moveTo>
                    <a:pt x="81691" y="71354"/>
                  </a:moveTo>
                  <a:cubicBezTo>
                    <a:pt x="81691" y="95139"/>
                    <a:pt x="63679" y="110567"/>
                    <a:pt x="39881" y="110567"/>
                  </a:cubicBezTo>
                  <a:cubicBezTo>
                    <a:pt x="19298" y="110567"/>
                    <a:pt x="1291" y="98996"/>
                    <a:pt x="0" y="73925"/>
                  </a:cubicBezTo>
                  <a:lnTo>
                    <a:pt x="22512" y="73925"/>
                  </a:lnTo>
                  <a:cubicBezTo>
                    <a:pt x="23803" y="84853"/>
                    <a:pt x="32804" y="89354"/>
                    <a:pt x="42453" y="89354"/>
                  </a:cubicBezTo>
                  <a:cubicBezTo>
                    <a:pt x="54031" y="89354"/>
                    <a:pt x="59179" y="81639"/>
                    <a:pt x="59179" y="71354"/>
                  </a:cubicBezTo>
                  <a:cubicBezTo>
                    <a:pt x="59179" y="60426"/>
                    <a:pt x="51459" y="53998"/>
                    <a:pt x="39881" y="53998"/>
                  </a:cubicBezTo>
                  <a:cubicBezTo>
                    <a:pt x="30875" y="53998"/>
                    <a:pt x="24446" y="58498"/>
                    <a:pt x="21869" y="62997"/>
                  </a:cubicBezTo>
                  <a:lnTo>
                    <a:pt x="0" y="62997"/>
                  </a:lnTo>
                  <a:lnTo>
                    <a:pt x="7720" y="0"/>
                  </a:lnTo>
                  <a:lnTo>
                    <a:pt x="78472" y="0"/>
                  </a:lnTo>
                  <a:lnTo>
                    <a:pt x="75900" y="21214"/>
                  </a:lnTo>
                  <a:lnTo>
                    <a:pt x="25089" y="21214"/>
                  </a:lnTo>
                  <a:lnTo>
                    <a:pt x="23160" y="42427"/>
                  </a:lnTo>
                  <a:cubicBezTo>
                    <a:pt x="23160" y="42427"/>
                    <a:pt x="28304" y="35999"/>
                    <a:pt x="44382" y="35999"/>
                  </a:cubicBezTo>
                  <a:cubicBezTo>
                    <a:pt x="64965" y="35356"/>
                    <a:pt x="81691" y="48212"/>
                    <a:pt x="81691" y="71354"/>
                  </a:cubicBez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22" name="Полилиния: фигура 12">
              <a:extLst>
                <a:ext uri="{FF2B5EF4-FFF2-40B4-BE49-F238E27FC236}">
                  <a16:creationId xmlns:a16="http://schemas.microsoft.com/office/drawing/2014/main" id="{5EEB6770-9C53-4C36-8E20-3DCE5873EFB8}"/>
                </a:ext>
              </a:extLst>
            </p:cNvPr>
            <p:cNvSpPr/>
            <p:nvPr/>
          </p:nvSpPr>
          <p:spPr>
            <a:xfrm>
              <a:off x="428625" y="238125"/>
              <a:ext cx="225123" cy="201848"/>
            </a:xfrm>
            <a:custGeom>
              <a:avLst/>
              <a:gdLst>
                <a:gd name="connsiteX0" fmla="*/ 225123 w 225123"/>
                <a:gd name="connsiteY0" fmla="*/ 79711 h 201848"/>
                <a:gd name="connsiteX1" fmla="*/ 95841 w 225123"/>
                <a:gd name="connsiteY1" fmla="*/ 0 h 201848"/>
                <a:gd name="connsiteX2" fmla="*/ 0 w 225123"/>
                <a:gd name="connsiteY2" fmla="*/ 0 h 201848"/>
                <a:gd name="connsiteX3" fmla="*/ 12864 w 225123"/>
                <a:gd name="connsiteY3" fmla="*/ 87425 h 201848"/>
                <a:gd name="connsiteX4" fmla="*/ 106775 w 225123"/>
                <a:gd name="connsiteY4" fmla="*/ 201849 h 201848"/>
                <a:gd name="connsiteX5" fmla="*/ 108704 w 225123"/>
                <a:gd name="connsiteY5" fmla="*/ 199920 h 201848"/>
                <a:gd name="connsiteX6" fmla="*/ 107418 w 225123"/>
                <a:gd name="connsiteY6" fmla="*/ 198634 h 201848"/>
                <a:gd name="connsiteX7" fmla="*/ 59174 w 225123"/>
                <a:gd name="connsiteY7" fmla="*/ 82925 h 201848"/>
                <a:gd name="connsiteX8" fmla="*/ 53388 w 225123"/>
                <a:gd name="connsiteY8" fmla="*/ 43070 h 201848"/>
                <a:gd name="connsiteX9" fmla="*/ 108061 w 225123"/>
                <a:gd name="connsiteY9" fmla="*/ 43070 h 201848"/>
                <a:gd name="connsiteX10" fmla="*/ 221909 w 225123"/>
                <a:gd name="connsiteY10" fmla="*/ 80996 h 201848"/>
                <a:gd name="connsiteX11" fmla="*/ 223195 w 225123"/>
                <a:gd name="connsiteY11" fmla="*/ 81639 h 201848"/>
                <a:gd name="connsiteX12" fmla="*/ 225123 w 225123"/>
                <a:gd name="connsiteY12" fmla="*/ 79711 h 201848"/>
                <a:gd name="connsiteX13" fmla="*/ 225123 w 225123"/>
                <a:gd name="connsiteY13" fmla="*/ 79711 h 201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5123" h="201848">
                  <a:moveTo>
                    <a:pt x="225123" y="79711"/>
                  </a:moveTo>
                  <a:cubicBezTo>
                    <a:pt x="212903" y="32784"/>
                    <a:pt x="174955" y="0"/>
                    <a:pt x="95841" y="0"/>
                  </a:cubicBezTo>
                  <a:lnTo>
                    <a:pt x="0" y="0"/>
                  </a:lnTo>
                  <a:lnTo>
                    <a:pt x="12864" y="87425"/>
                  </a:lnTo>
                  <a:cubicBezTo>
                    <a:pt x="22512" y="167136"/>
                    <a:pt x="52745" y="192206"/>
                    <a:pt x="106775" y="201849"/>
                  </a:cubicBezTo>
                  <a:cubicBezTo>
                    <a:pt x="106775" y="201849"/>
                    <a:pt x="108704" y="201849"/>
                    <a:pt x="108704" y="199920"/>
                  </a:cubicBezTo>
                  <a:cubicBezTo>
                    <a:pt x="108704" y="199277"/>
                    <a:pt x="108061" y="198634"/>
                    <a:pt x="107418" y="198634"/>
                  </a:cubicBezTo>
                  <a:cubicBezTo>
                    <a:pt x="71395" y="183206"/>
                    <a:pt x="66894" y="133709"/>
                    <a:pt x="59174" y="82925"/>
                  </a:cubicBezTo>
                  <a:lnTo>
                    <a:pt x="53388" y="43070"/>
                  </a:lnTo>
                  <a:lnTo>
                    <a:pt x="108061" y="43070"/>
                  </a:lnTo>
                  <a:cubicBezTo>
                    <a:pt x="158229" y="43070"/>
                    <a:pt x="197468" y="42427"/>
                    <a:pt x="221909" y="80996"/>
                  </a:cubicBezTo>
                  <a:cubicBezTo>
                    <a:pt x="222552" y="81639"/>
                    <a:pt x="222552" y="81639"/>
                    <a:pt x="223195" y="81639"/>
                  </a:cubicBezTo>
                  <a:cubicBezTo>
                    <a:pt x="224480" y="82282"/>
                    <a:pt x="225123" y="80996"/>
                    <a:pt x="225123" y="79711"/>
                  </a:cubicBezTo>
                  <a:cubicBezTo>
                    <a:pt x="225123" y="80354"/>
                    <a:pt x="225123" y="79711"/>
                    <a:pt x="225123" y="79711"/>
                  </a:cubicBezTo>
                  <a:close/>
                </a:path>
              </a:pathLst>
            </a:custGeom>
            <a:solidFill>
              <a:srgbClr val="5FAF2D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23" name="Полилиния: фигура 13">
              <a:extLst>
                <a:ext uri="{FF2B5EF4-FFF2-40B4-BE49-F238E27FC236}">
                  <a16:creationId xmlns:a16="http://schemas.microsoft.com/office/drawing/2014/main" id="{704B2A9F-5975-4492-9E47-277C2F97FAE5}"/>
                </a:ext>
              </a:extLst>
            </p:cNvPr>
            <p:cNvSpPr/>
            <p:nvPr/>
          </p:nvSpPr>
          <p:spPr>
            <a:xfrm>
              <a:off x="750231" y="326836"/>
              <a:ext cx="112708" cy="116994"/>
            </a:xfrm>
            <a:custGeom>
              <a:avLst/>
              <a:gdLst>
                <a:gd name="connsiteX0" fmla="*/ 112562 w 112708"/>
                <a:gd name="connsiteY0" fmla="*/ 56569 h 116994"/>
                <a:gd name="connsiteX1" fmla="*/ 57245 w 112708"/>
                <a:gd name="connsiteY1" fmla="*/ 116995 h 116994"/>
                <a:gd name="connsiteX2" fmla="*/ 0 w 112708"/>
                <a:gd name="connsiteY2" fmla="*/ 58497 h 116994"/>
                <a:gd name="connsiteX3" fmla="*/ 57888 w 112708"/>
                <a:gd name="connsiteY3" fmla="*/ 0 h 116994"/>
                <a:gd name="connsiteX4" fmla="*/ 111276 w 112708"/>
                <a:gd name="connsiteY4" fmla="*/ 37284 h 116994"/>
                <a:gd name="connsiteX5" fmla="*/ 97126 w 112708"/>
                <a:gd name="connsiteY5" fmla="*/ 37284 h 116994"/>
                <a:gd name="connsiteX6" fmla="*/ 57888 w 112708"/>
                <a:gd name="connsiteY6" fmla="*/ 12856 h 116994"/>
                <a:gd name="connsiteX7" fmla="*/ 13506 w 112708"/>
                <a:gd name="connsiteY7" fmla="*/ 58497 h 116994"/>
                <a:gd name="connsiteX8" fmla="*/ 57888 w 112708"/>
                <a:gd name="connsiteY8" fmla="*/ 104138 h 116994"/>
                <a:gd name="connsiteX9" fmla="*/ 99055 w 112708"/>
                <a:gd name="connsiteY9" fmla="*/ 67497 h 116994"/>
                <a:gd name="connsiteX10" fmla="*/ 55316 w 112708"/>
                <a:gd name="connsiteY10" fmla="*/ 67497 h 116994"/>
                <a:gd name="connsiteX11" fmla="*/ 55316 w 112708"/>
                <a:gd name="connsiteY11" fmla="*/ 55926 h 116994"/>
                <a:gd name="connsiteX12" fmla="*/ 112562 w 112708"/>
                <a:gd name="connsiteY12" fmla="*/ 56569 h 116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2708" h="116994">
                  <a:moveTo>
                    <a:pt x="112562" y="56569"/>
                  </a:moveTo>
                  <a:cubicBezTo>
                    <a:pt x="112562" y="56569"/>
                    <a:pt x="118353" y="116995"/>
                    <a:pt x="57245" y="116995"/>
                  </a:cubicBezTo>
                  <a:cubicBezTo>
                    <a:pt x="25089" y="116995"/>
                    <a:pt x="0" y="92567"/>
                    <a:pt x="0" y="58497"/>
                  </a:cubicBezTo>
                  <a:cubicBezTo>
                    <a:pt x="0" y="25070"/>
                    <a:pt x="25089" y="0"/>
                    <a:pt x="57888" y="0"/>
                  </a:cubicBezTo>
                  <a:cubicBezTo>
                    <a:pt x="83620" y="0"/>
                    <a:pt x="103561" y="14785"/>
                    <a:pt x="111276" y="37284"/>
                  </a:cubicBezTo>
                  <a:lnTo>
                    <a:pt x="97126" y="37284"/>
                  </a:lnTo>
                  <a:cubicBezTo>
                    <a:pt x="90049" y="22499"/>
                    <a:pt x="75900" y="12856"/>
                    <a:pt x="57888" y="12856"/>
                  </a:cubicBezTo>
                  <a:cubicBezTo>
                    <a:pt x="32161" y="12856"/>
                    <a:pt x="13506" y="32141"/>
                    <a:pt x="13506" y="58497"/>
                  </a:cubicBezTo>
                  <a:cubicBezTo>
                    <a:pt x="13506" y="84211"/>
                    <a:pt x="31518" y="104138"/>
                    <a:pt x="57888" y="104138"/>
                  </a:cubicBezTo>
                  <a:cubicBezTo>
                    <a:pt x="80400" y="104138"/>
                    <a:pt x="97126" y="89996"/>
                    <a:pt x="99055" y="67497"/>
                  </a:cubicBezTo>
                  <a:lnTo>
                    <a:pt x="55316" y="67497"/>
                  </a:lnTo>
                  <a:lnTo>
                    <a:pt x="55316" y="55926"/>
                  </a:lnTo>
                  <a:lnTo>
                    <a:pt x="112562" y="56569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24" name="Полилиния: фигура 14">
              <a:extLst>
                <a:ext uri="{FF2B5EF4-FFF2-40B4-BE49-F238E27FC236}">
                  <a16:creationId xmlns:a16="http://schemas.microsoft.com/office/drawing/2014/main" id="{BF66DB3F-16E2-4916-9569-2606F626CD0E}"/>
                </a:ext>
              </a:extLst>
            </p:cNvPr>
            <p:cNvSpPr/>
            <p:nvPr/>
          </p:nvSpPr>
          <p:spPr>
            <a:xfrm>
              <a:off x="880800" y="351903"/>
              <a:ext cx="50815" cy="89353"/>
            </a:xfrm>
            <a:custGeom>
              <a:avLst/>
              <a:gdLst>
                <a:gd name="connsiteX0" fmla="*/ 50816 w 50815"/>
                <a:gd name="connsiteY0" fmla="*/ 0 h 89353"/>
                <a:gd name="connsiteX1" fmla="*/ 50816 w 50815"/>
                <a:gd name="connsiteY1" fmla="*/ 13499 h 89353"/>
                <a:gd name="connsiteX2" fmla="*/ 45025 w 50815"/>
                <a:gd name="connsiteY2" fmla="*/ 12857 h 89353"/>
                <a:gd name="connsiteX3" fmla="*/ 13511 w 50815"/>
                <a:gd name="connsiteY3" fmla="*/ 47569 h 89353"/>
                <a:gd name="connsiteX4" fmla="*/ 13511 w 50815"/>
                <a:gd name="connsiteY4" fmla="*/ 89354 h 89353"/>
                <a:gd name="connsiteX5" fmla="*/ 0 w 50815"/>
                <a:gd name="connsiteY5" fmla="*/ 89354 h 89353"/>
                <a:gd name="connsiteX6" fmla="*/ 0 w 50815"/>
                <a:gd name="connsiteY6" fmla="*/ 1929 h 89353"/>
                <a:gd name="connsiteX7" fmla="*/ 13511 w 50815"/>
                <a:gd name="connsiteY7" fmla="*/ 1929 h 89353"/>
                <a:gd name="connsiteX8" fmla="*/ 13511 w 50815"/>
                <a:gd name="connsiteY8" fmla="*/ 21857 h 89353"/>
                <a:gd name="connsiteX9" fmla="*/ 45025 w 50815"/>
                <a:gd name="connsiteY9" fmla="*/ 0 h 89353"/>
                <a:gd name="connsiteX10" fmla="*/ 50816 w 50815"/>
                <a:gd name="connsiteY10" fmla="*/ 0 h 89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0815" h="89353">
                  <a:moveTo>
                    <a:pt x="50816" y="0"/>
                  </a:moveTo>
                  <a:lnTo>
                    <a:pt x="50816" y="13499"/>
                  </a:lnTo>
                  <a:cubicBezTo>
                    <a:pt x="49530" y="13499"/>
                    <a:pt x="47601" y="12857"/>
                    <a:pt x="45025" y="12857"/>
                  </a:cubicBezTo>
                  <a:cubicBezTo>
                    <a:pt x="26375" y="12857"/>
                    <a:pt x="13511" y="25070"/>
                    <a:pt x="13511" y="47569"/>
                  </a:cubicBezTo>
                  <a:lnTo>
                    <a:pt x="13511" y="89354"/>
                  </a:lnTo>
                  <a:lnTo>
                    <a:pt x="0" y="89354"/>
                  </a:lnTo>
                  <a:lnTo>
                    <a:pt x="0" y="1929"/>
                  </a:lnTo>
                  <a:lnTo>
                    <a:pt x="13511" y="1929"/>
                  </a:lnTo>
                  <a:lnTo>
                    <a:pt x="13511" y="21857"/>
                  </a:lnTo>
                  <a:cubicBezTo>
                    <a:pt x="18655" y="8357"/>
                    <a:pt x="29589" y="0"/>
                    <a:pt x="45025" y="0"/>
                  </a:cubicBezTo>
                  <a:cubicBezTo>
                    <a:pt x="47601" y="0"/>
                    <a:pt x="49530" y="0"/>
                    <a:pt x="50816" y="0"/>
                  </a:cubicBez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25" name="Полилиния: фигура 15">
              <a:extLst>
                <a:ext uri="{FF2B5EF4-FFF2-40B4-BE49-F238E27FC236}">
                  <a16:creationId xmlns:a16="http://schemas.microsoft.com/office/drawing/2014/main" id="{CB960B10-815B-4FFA-B3E7-8C05F60CB33E}"/>
                </a:ext>
              </a:extLst>
            </p:cNvPr>
            <p:cNvSpPr/>
            <p:nvPr/>
          </p:nvSpPr>
          <p:spPr>
            <a:xfrm>
              <a:off x="938693" y="351903"/>
              <a:ext cx="91335" cy="92567"/>
            </a:xfrm>
            <a:custGeom>
              <a:avLst/>
              <a:gdLst>
                <a:gd name="connsiteX0" fmla="*/ 91335 w 91335"/>
                <a:gd name="connsiteY0" fmla="*/ 46284 h 92567"/>
                <a:gd name="connsiteX1" fmla="*/ 45668 w 91335"/>
                <a:gd name="connsiteY1" fmla="*/ 92568 h 92567"/>
                <a:gd name="connsiteX2" fmla="*/ 0 w 91335"/>
                <a:gd name="connsiteY2" fmla="*/ 46284 h 92567"/>
                <a:gd name="connsiteX3" fmla="*/ 45668 w 91335"/>
                <a:gd name="connsiteY3" fmla="*/ 0 h 92567"/>
                <a:gd name="connsiteX4" fmla="*/ 91335 w 91335"/>
                <a:gd name="connsiteY4" fmla="*/ 46284 h 92567"/>
                <a:gd name="connsiteX5" fmla="*/ 12864 w 91335"/>
                <a:gd name="connsiteY5" fmla="*/ 46284 h 92567"/>
                <a:gd name="connsiteX6" fmla="*/ 45025 w 91335"/>
                <a:gd name="connsiteY6" fmla="*/ 79711 h 92567"/>
                <a:gd name="connsiteX7" fmla="*/ 77181 w 91335"/>
                <a:gd name="connsiteY7" fmla="*/ 46284 h 92567"/>
                <a:gd name="connsiteX8" fmla="*/ 45025 w 91335"/>
                <a:gd name="connsiteY8" fmla="*/ 12857 h 92567"/>
                <a:gd name="connsiteX9" fmla="*/ 12864 w 91335"/>
                <a:gd name="connsiteY9" fmla="*/ 46284 h 92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335" h="92567">
                  <a:moveTo>
                    <a:pt x="91335" y="46284"/>
                  </a:moveTo>
                  <a:cubicBezTo>
                    <a:pt x="91335" y="72640"/>
                    <a:pt x="71395" y="92568"/>
                    <a:pt x="45668" y="92568"/>
                  </a:cubicBezTo>
                  <a:cubicBezTo>
                    <a:pt x="19936" y="92568"/>
                    <a:pt x="0" y="72640"/>
                    <a:pt x="0" y="46284"/>
                  </a:cubicBezTo>
                  <a:cubicBezTo>
                    <a:pt x="0" y="19928"/>
                    <a:pt x="20579" y="0"/>
                    <a:pt x="45668" y="0"/>
                  </a:cubicBezTo>
                  <a:cubicBezTo>
                    <a:pt x="70752" y="0"/>
                    <a:pt x="91335" y="19285"/>
                    <a:pt x="91335" y="46284"/>
                  </a:cubicBezTo>
                  <a:close/>
                  <a:moveTo>
                    <a:pt x="12864" y="46284"/>
                  </a:moveTo>
                  <a:cubicBezTo>
                    <a:pt x="12864" y="65569"/>
                    <a:pt x="27013" y="79711"/>
                    <a:pt x="45025" y="79711"/>
                  </a:cubicBezTo>
                  <a:cubicBezTo>
                    <a:pt x="63032" y="79711"/>
                    <a:pt x="77181" y="65569"/>
                    <a:pt x="77181" y="46284"/>
                  </a:cubicBezTo>
                  <a:cubicBezTo>
                    <a:pt x="77181" y="26999"/>
                    <a:pt x="63032" y="12857"/>
                    <a:pt x="45025" y="12857"/>
                  </a:cubicBezTo>
                  <a:cubicBezTo>
                    <a:pt x="27656" y="12857"/>
                    <a:pt x="12864" y="26356"/>
                    <a:pt x="12864" y="46284"/>
                  </a:cubicBez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26" name="Полилиния: фигура 16">
              <a:extLst>
                <a:ext uri="{FF2B5EF4-FFF2-40B4-BE49-F238E27FC236}">
                  <a16:creationId xmlns:a16="http://schemas.microsoft.com/office/drawing/2014/main" id="{CBA0FD59-7588-4A82-AA06-97354E2FBB45}"/>
                </a:ext>
              </a:extLst>
            </p:cNvPr>
            <p:cNvSpPr/>
            <p:nvPr/>
          </p:nvSpPr>
          <p:spPr>
            <a:xfrm>
              <a:off x="1046106" y="353838"/>
              <a:ext cx="76542" cy="90638"/>
            </a:xfrm>
            <a:custGeom>
              <a:avLst/>
              <a:gdLst>
                <a:gd name="connsiteX0" fmla="*/ 76543 w 76542"/>
                <a:gd name="connsiteY0" fmla="*/ 0 h 90638"/>
                <a:gd name="connsiteX1" fmla="*/ 76543 w 76542"/>
                <a:gd name="connsiteY1" fmla="*/ 88710 h 90638"/>
                <a:gd name="connsiteX2" fmla="*/ 63036 w 76542"/>
                <a:gd name="connsiteY2" fmla="*/ 88710 h 90638"/>
                <a:gd name="connsiteX3" fmla="*/ 63036 w 76542"/>
                <a:gd name="connsiteY3" fmla="*/ 71354 h 90638"/>
                <a:gd name="connsiteX4" fmla="*/ 31518 w 76542"/>
                <a:gd name="connsiteY4" fmla="*/ 90639 h 90638"/>
                <a:gd name="connsiteX5" fmla="*/ 0 w 76542"/>
                <a:gd name="connsiteY5" fmla="*/ 56569 h 90638"/>
                <a:gd name="connsiteX6" fmla="*/ 0 w 76542"/>
                <a:gd name="connsiteY6" fmla="*/ 0 h 90638"/>
                <a:gd name="connsiteX7" fmla="*/ 13506 w 76542"/>
                <a:gd name="connsiteY7" fmla="*/ 0 h 90638"/>
                <a:gd name="connsiteX8" fmla="*/ 13506 w 76542"/>
                <a:gd name="connsiteY8" fmla="*/ 53998 h 90638"/>
                <a:gd name="connsiteX9" fmla="*/ 35376 w 76542"/>
                <a:gd name="connsiteY9" fmla="*/ 77782 h 90638"/>
                <a:gd name="connsiteX10" fmla="*/ 63036 w 76542"/>
                <a:gd name="connsiteY10" fmla="*/ 45641 h 90638"/>
                <a:gd name="connsiteX11" fmla="*/ 63036 w 76542"/>
                <a:gd name="connsiteY11" fmla="*/ 0 h 90638"/>
                <a:gd name="connsiteX12" fmla="*/ 76543 w 76542"/>
                <a:gd name="connsiteY12" fmla="*/ 0 h 90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6542" h="90638">
                  <a:moveTo>
                    <a:pt x="76543" y="0"/>
                  </a:moveTo>
                  <a:lnTo>
                    <a:pt x="76543" y="88710"/>
                  </a:lnTo>
                  <a:lnTo>
                    <a:pt x="63036" y="88710"/>
                  </a:lnTo>
                  <a:lnTo>
                    <a:pt x="63036" y="71354"/>
                  </a:lnTo>
                  <a:cubicBezTo>
                    <a:pt x="57245" y="82925"/>
                    <a:pt x="46954" y="90639"/>
                    <a:pt x="31518" y="90639"/>
                  </a:cubicBezTo>
                  <a:cubicBezTo>
                    <a:pt x="11578" y="90639"/>
                    <a:pt x="0" y="77782"/>
                    <a:pt x="0" y="56569"/>
                  </a:cubicBezTo>
                  <a:lnTo>
                    <a:pt x="0" y="0"/>
                  </a:lnTo>
                  <a:lnTo>
                    <a:pt x="13506" y="0"/>
                  </a:lnTo>
                  <a:lnTo>
                    <a:pt x="13506" y="53998"/>
                  </a:lnTo>
                  <a:cubicBezTo>
                    <a:pt x="13506" y="70068"/>
                    <a:pt x="21226" y="77782"/>
                    <a:pt x="35376" y="77782"/>
                  </a:cubicBezTo>
                  <a:cubicBezTo>
                    <a:pt x="52745" y="77782"/>
                    <a:pt x="63036" y="64926"/>
                    <a:pt x="63036" y="45641"/>
                  </a:cubicBezTo>
                  <a:lnTo>
                    <a:pt x="63036" y="0"/>
                  </a:lnTo>
                  <a:lnTo>
                    <a:pt x="76543" y="0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27" name="Полилиния: фигура 17">
              <a:extLst>
                <a:ext uri="{FF2B5EF4-FFF2-40B4-BE49-F238E27FC236}">
                  <a16:creationId xmlns:a16="http://schemas.microsoft.com/office/drawing/2014/main" id="{71589F7C-8455-4C16-B4EA-B2876329F398}"/>
                </a:ext>
              </a:extLst>
            </p:cNvPr>
            <p:cNvSpPr/>
            <p:nvPr/>
          </p:nvSpPr>
          <p:spPr>
            <a:xfrm>
              <a:off x="1142590" y="351903"/>
              <a:ext cx="88763" cy="131137"/>
            </a:xfrm>
            <a:custGeom>
              <a:avLst/>
              <a:gdLst>
                <a:gd name="connsiteX0" fmla="*/ 88763 w 88763"/>
                <a:gd name="connsiteY0" fmla="*/ 46284 h 131137"/>
                <a:gd name="connsiteX1" fmla="*/ 46953 w 88763"/>
                <a:gd name="connsiteY1" fmla="*/ 92568 h 131137"/>
                <a:gd name="connsiteX2" fmla="*/ 12864 w 88763"/>
                <a:gd name="connsiteY2" fmla="*/ 72640 h 131137"/>
                <a:gd name="connsiteX3" fmla="*/ 12864 w 88763"/>
                <a:gd name="connsiteY3" fmla="*/ 131137 h 131137"/>
                <a:gd name="connsiteX4" fmla="*/ 0 w 88763"/>
                <a:gd name="connsiteY4" fmla="*/ 131137 h 131137"/>
                <a:gd name="connsiteX5" fmla="*/ 0 w 88763"/>
                <a:gd name="connsiteY5" fmla="*/ 1929 h 131137"/>
                <a:gd name="connsiteX6" fmla="*/ 13506 w 88763"/>
                <a:gd name="connsiteY6" fmla="*/ 1929 h 131137"/>
                <a:gd name="connsiteX7" fmla="*/ 13506 w 88763"/>
                <a:gd name="connsiteY7" fmla="*/ 19928 h 131137"/>
                <a:gd name="connsiteX8" fmla="*/ 47596 w 88763"/>
                <a:gd name="connsiteY8" fmla="*/ 0 h 131137"/>
                <a:gd name="connsiteX9" fmla="*/ 88763 w 88763"/>
                <a:gd name="connsiteY9" fmla="*/ 46284 h 131137"/>
                <a:gd name="connsiteX10" fmla="*/ 75257 w 88763"/>
                <a:gd name="connsiteY10" fmla="*/ 46284 h 131137"/>
                <a:gd name="connsiteX11" fmla="*/ 44382 w 88763"/>
                <a:gd name="connsiteY11" fmla="*/ 12857 h 131137"/>
                <a:gd name="connsiteX12" fmla="*/ 12221 w 88763"/>
                <a:gd name="connsiteY12" fmla="*/ 46284 h 131137"/>
                <a:gd name="connsiteX13" fmla="*/ 44382 w 88763"/>
                <a:gd name="connsiteY13" fmla="*/ 79711 h 131137"/>
                <a:gd name="connsiteX14" fmla="*/ 75257 w 88763"/>
                <a:gd name="connsiteY14" fmla="*/ 46284 h 131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8763" h="131137">
                  <a:moveTo>
                    <a:pt x="88763" y="46284"/>
                  </a:moveTo>
                  <a:cubicBezTo>
                    <a:pt x="88763" y="73282"/>
                    <a:pt x="71395" y="92568"/>
                    <a:pt x="46953" y="92568"/>
                  </a:cubicBezTo>
                  <a:cubicBezTo>
                    <a:pt x="31518" y="92568"/>
                    <a:pt x="19941" y="84853"/>
                    <a:pt x="12864" y="72640"/>
                  </a:cubicBezTo>
                  <a:lnTo>
                    <a:pt x="12864" y="131137"/>
                  </a:lnTo>
                  <a:lnTo>
                    <a:pt x="0" y="131137"/>
                  </a:lnTo>
                  <a:lnTo>
                    <a:pt x="0" y="1929"/>
                  </a:lnTo>
                  <a:lnTo>
                    <a:pt x="13506" y="1929"/>
                  </a:lnTo>
                  <a:lnTo>
                    <a:pt x="13506" y="19928"/>
                  </a:lnTo>
                  <a:cubicBezTo>
                    <a:pt x="20583" y="7714"/>
                    <a:pt x="32161" y="0"/>
                    <a:pt x="47596" y="0"/>
                  </a:cubicBezTo>
                  <a:cubicBezTo>
                    <a:pt x="71395" y="0"/>
                    <a:pt x="88763" y="19285"/>
                    <a:pt x="88763" y="46284"/>
                  </a:cubicBezTo>
                  <a:close/>
                  <a:moveTo>
                    <a:pt x="75257" y="46284"/>
                  </a:moveTo>
                  <a:cubicBezTo>
                    <a:pt x="75257" y="26999"/>
                    <a:pt x="62394" y="12857"/>
                    <a:pt x="44382" y="12857"/>
                  </a:cubicBezTo>
                  <a:cubicBezTo>
                    <a:pt x="26370" y="12857"/>
                    <a:pt x="12221" y="26999"/>
                    <a:pt x="12221" y="46284"/>
                  </a:cubicBezTo>
                  <a:cubicBezTo>
                    <a:pt x="12221" y="65569"/>
                    <a:pt x="25727" y="79711"/>
                    <a:pt x="44382" y="79711"/>
                  </a:cubicBezTo>
                  <a:cubicBezTo>
                    <a:pt x="63036" y="79711"/>
                    <a:pt x="75257" y="65569"/>
                    <a:pt x="75257" y="46284"/>
                  </a:cubicBez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9740D079-FD06-4042-8C12-6CB7FE9CEB4D}"/>
              </a:ext>
            </a:extLst>
          </p:cNvPr>
          <p:cNvSpPr txBox="1"/>
          <p:nvPr/>
        </p:nvSpPr>
        <p:spPr>
          <a:xfrm>
            <a:off x="160379" y="348403"/>
            <a:ext cx="115355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ru-RU" sz="2000" b="1" spc="-20" dirty="0">
                <a:latin typeface="X5 Sans Medium" panose="020B0503020203020204" pitchFamily="34" charset="0"/>
                <a:ea typeface="X5 Sans Medium" panose="020B0503020203020204" pitchFamily="34" charset="0"/>
                <a:cs typeface="Open Sans Bold" panose="020B0604020202020204" charset="0"/>
              </a:rPr>
              <a:t>Участники и подходы (1 слайд)</a:t>
            </a:r>
          </a:p>
        </p:txBody>
      </p:sp>
      <p:sp>
        <p:nvSpPr>
          <p:cNvPr id="51" name="Номер слайда 6">
            <a:extLst>
              <a:ext uri="{FF2B5EF4-FFF2-40B4-BE49-F238E27FC236}">
                <a16:creationId xmlns:a16="http://schemas.microsoft.com/office/drawing/2014/main" id="{E86BEAF8-EAAF-4D2C-A912-0E6931DAA2C0}"/>
              </a:ext>
            </a:extLst>
          </p:cNvPr>
          <p:cNvSpPr txBox="1">
            <a:spLocks/>
          </p:cNvSpPr>
          <p:nvPr/>
        </p:nvSpPr>
        <p:spPr>
          <a:xfrm>
            <a:off x="11665862" y="527988"/>
            <a:ext cx="318135" cy="11864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ru-RU"/>
            </a:defPPr>
            <a:lvl1pPr marL="0" algn="ctr" defTabSz="914400" rtl="0" eaLnBrk="1" latinLnBrk="0" hangingPunct="1">
              <a:defRPr sz="800" b="0" kern="12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  <a:cs typeface="Open Sans SemiBold" panose="020B07060308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C96FE9D3-F4ED-4A78-AE68-5D32F6CAB728}" type="slidenum">
              <a:rPr lang="ru-RU" smtClean="0">
                <a:solidFill>
                  <a:srgbClr val="FFFFFF"/>
                </a:solidFill>
              </a:rPr>
              <a:pPr>
                <a:defRPr/>
              </a:pPr>
              <a:t>2</a:t>
            </a:fld>
            <a:endParaRPr lang="ru-RU" dirty="0">
              <a:solidFill>
                <a:srgbClr val="FFFFFF"/>
              </a:solidFill>
            </a:endParaRPr>
          </a:p>
        </p:txBody>
      </p:sp>
      <p:sp>
        <p:nvSpPr>
          <p:cNvPr id="52" name="Овал 51">
            <a:extLst>
              <a:ext uri="{FF2B5EF4-FFF2-40B4-BE49-F238E27FC236}">
                <a16:creationId xmlns:a16="http://schemas.microsoft.com/office/drawing/2014/main" id="{B131399C-3E82-4528-A708-BC80F405FF40}"/>
              </a:ext>
            </a:extLst>
          </p:cNvPr>
          <p:cNvSpPr/>
          <p:nvPr/>
        </p:nvSpPr>
        <p:spPr>
          <a:xfrm>
            <a:off x="11865777" y="62653"/>
            <a:ext cx="285750" cy="285750"/>
          </a:xfrm>
          <a:prstGeom prst="ellipse">
            <a:avLst/>
          </a:prstGeom>
          <a:solidFill>
            <a:srgbClr val="5FAF2D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191923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3" name="Номер слайда 6">
            <a:extLst>
              <a:ext uri="{FF2B5EF4-FFF2-40B4-BE49-F238E27FC236}">
                <a16:creationId xmlns:a16="http://schemas.microsoft.com/office/drawing/2014/main" id="{1B12D6C9-405B-4DB5-B70D-57127FD18902}"/>
              </a:ext>
            </a:extLst>
          </p:cNvPr>
          <p:cNvSpPr txBox="1">
            <a:spLocks/>
          </p:cNvSpPr>
          <p:nvPr/>
        </p:nvSpPr>
        <p:spPr>
          <a:xfrm>
            <a:off x="11849584" y="146205"/>
            <a:ext cx="318135" cy="11864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ru-RU"/>
            </a:defPPr>
            <a:lvl1pPr marL="0" algn="ctr" defTabSz="914400" rtl="0" eaLnBrk="1" latinLnBrk="0" hangingPunct="1">
              <a:defRPr sz="800" b="0" kern="12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  <a:cs typeface="Open Sans SemiBold" panose="020B07060308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C96FE9D3-F4ED-4A78-AE68-5D32F6CAB728}" type="slidenum">
              <a:rPr lang="ru-RU" smtClean="0">
                <a:solidFill>
                  <a:srgbClr val="FFFFFF"/>
                </a:solidFill>
              </a:rPr>
              <a:pPr>
                <a:defRPr/>
              </a:pPr>
              <a:t>2</a:t>
            </a:fld>
            <a:endParaRPr lang="ru-RU" dirty="0">
              <a:solidFill>
                <a:srgbClr val="FFFFFF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5E2A3B-3023-41FB-9E4E-ED61E1BD96E2}"/>
              </a:ext>
            </a:extLst>
          </p:cNvPr>
          <p:cNvSpPr txBox="1"/>
          <p:nvPr/>
        </p:nvSpPr>
        <p:spPr>
          <a:xfrm>
            <a:off x="160379" y="900800"/>
            <a:ext cx="67289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Используем </a:t>
            </a:r>
            <a:r>
              <a:rPr lang="ru-RU" sz="1400" b="1" dirty="0">
                <a:solidFill>
                  <a:srgbClr val="FF0000"/>
                </a:solidFill>
              </a:rPr>
              <a:t>децентрализованный подход </a:t>
            </a:r>
            <a:r>
              <a:rPr lang="ru-RU" sz="1400" b="1" dirty="0"/>
              <a:t>в разрезе ТС и БЕ: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002C07D5-9F35-4DA7-824B-01E4AA0AB2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2175804"/>
              </p:ext>
            </p:extLst>
          </p:nvPr>
        </p:nvGraphicFramePr>
        <p:xfrm>
          <a:off x="176275" y="1360864"/>
          <a:ext cx="11823618" cy="466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3010">
                  <a:extLst>
                    <a:ext uri="{9D8B030D-6E8A-4147-A177-3AD203B41FA5}">
                      <a16:colId xmlns:a16="http://schemas.microsoft.com/office/drawing/2014/main" val="1246407831"/>
                    </a:ext>
                  </a:extLst>
                </a:gridCol>
                <a:gridCol w="8088923">
                  <a:extLst>
                    <a:ext uri="{9D8B030D-6E8A-4147-A177-3AD203B41FA5}">
                      <a16:colId xmlns:a16="http://schemas.microsoft.com/office/drawing/2014/main" val="2535713833"/>
                    </a:ext>
                  </a:extLst>
                </a:gridCol>
                <a:gridCol w="2151685">
                  <a:extLst>
                    <a:ext uri="{9D8B030D-6E8A-4147-A177-3AD203B41FA5}">
                      <a16:colId xmlns:a16="http://schemas.microsoft.com/office/drawing/2014/main" val="25745871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Участники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Функционал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Направления концепции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3848339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ЦЭ по ВК (активы)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/>
                        <a:t>Инициация процесса идентификации рисков </a:t>
                      </a:r>
                      <a:r>
                        <a:rPr lang="en-US" sz="1400" dirty="0"/>
                        <a:t>SoD</a:t>
                      </a:r>
                      <a:r>
                        <a:rPr lang="ru-RU" sz="1400" dirty="0"/>
                        <a:t> подразделениях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/>
                        <a:t>Запрос выгрузки ролей и входящих операций (транзакции и данные)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/>
                        <a:t>Анализ ролей и ролевой модели на риски </a:t>
                      </a:r>
                      <a:r>
                        <a:rPr lang="en-US" sz="1400" dirty="0"/>
                        <a:t>SoD</a:t>
                      </a:r>
                      <a:r>
                        <a:rPr lang="ru-RU" sz="1400" dirty="0"/>
                        <a:t> (включая кросс-системные риски, если ранее уже проведен анализ другой ИС, а также конфликты с ролями других подразделений)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/>
                        <a:t>Коммуникация с бизнесом в части соответствия описанных ролей фактическому функционалу.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/>
                        <a:t>Формирование матрицы </a:t>
                      </a:r>
                      <a:r>
                        <a:rPr lang="en-US" sz="1400" dirty="0"/>
                        <a:t>SoD </a:t>
                      </a:r>
                      <a:r>
                        <a:rPr lang="ru-RU" sz="1400" dirty="0"/>
                        <a:t>по ролям как в ИС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Идентификация и актуализация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6458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/>
                        <a:t>Предоставление Руководителю подразделения конфликтов, требующих устранения.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/>
                        <a:t>Консультация для бизнеса по принятию решения о </a:t>
                      </a:r>
                      <a:r>
                        <a:rPr lang="ru-RU" sz="1400" dirty="0" err="1"/>
                        <a:t>митигации</a:t>
                      </a:r>
                      <a:endParaRPr lang="ru-RU" sz="14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err="1"/>
                        <a:t>Митигация</a:t>
                      </a:r>
                      <a:r>
                        <a:rPr lang="ru-RU" sz="1400" dirty="0"/>
                        <a:t> рисков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55738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/>
                        <a:t>Контроль присвоения конфликтующих ролей сотруднику в процессе управления доступами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/>
                        <a:t>Фиксация обоснования присвоения ролей с конфликтами и КП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Мониторинг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5117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БЕ Тех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/>
                        <a:t>Формирование выгрузки ролей подразделения по конкретной ИС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/>
                        <a:t>Выгрузка транзакций, входящих в роли, описание функционала роли на основе транзакций и данных, к которым имеет доступ роль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/>
                        <a:t>Выгрузка данных о присвоении рассматриваемых ролей пользователям (независимо от принадлежности подразделениям для понимания влияния)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/>
                        <a:t>Организация коммуникации с Руководителем подразделения в случае необходимости консультации при определении функционала роли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Идентификация и актуализация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952996"/>
                  </a:ext>
                </a:extLst>
              </a:tr>
              <a:tr h="185449">
                <a:tc vMerge="1">
                  <a:txBody>
                    <a:bodyPr/>
                    <a:lstStyle/>
                    <a:p>
                      <a:pPr algn="l"/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/>
                        <a:t>Корректировка ролей по запросу бизнеса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 err="1"/>
                        <a:t>Митигация</a:t>
                      </a:r>
                      <a:r>
                        <a:rPr lang="ru-RU" sz="1400" dirty="0"/>
                        <a:t> рисков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163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722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C4D2ED8E-72FC-4231-A2C5-27E1268B7B06}"/>
              </a:ext>
            </a:extLst>
          </p:cNvPr>
          <p:cNvGrpSpPr/>
          <p:nvPr/>
        </p:nvGrpSpPr>
        <p:grpSpPr>
          <a:xfrm>
            <a:off x="63714" y="62653"/>
            <a:ext cx="802728" cy="244915"/>
            <a:chOff x="428625" y="238125"/>
            <a:chExt cx="802728" cy="244915"/>
          </a:xfrm>
        </p:grpSpPr>
        <p:sp>
          <p:nvSpPr>
            <p:cNvPr id="20" name="Полилиния: фигура 10">
              <a:extLst>
                <a:ext uri="{FF2B5EF4-FFF2-40B4-BE49-F238E27FC236}">
                  <a16:creationId xmlns:a16="http://schemas.microsoft.com/office/drawing/2014/main" id="{E9C3ACDA-9615-4FF7-AC91-25E54209AF0D}"/>
                </a:ext>
              </a:extLst>
            </p:cNvPr>
            <p:cNvSpPr/>
            <p:nvPr/>
          </p:nvSpPr>
          <p:spPr>
            <a:xfrm>
              <a:off x="548259" y="331338"/>
              <a:ext cx="98412" cy="109280"/>
            </a:xfrm>
            <a:custGeom>
              <a:avLst/>
              <a:gdLst>
                <a:gd name="connsiteX0" fmla="*/ 72042 w 98412"/>
                <a:gd name="connsiteY0" fmla="*/ 109281 h 109280"/>
                <a:gd name="connsiteX1" fmla="*/ 49530 w 98412"/>
                <a:gd name="connsiteY1" fmla="*/ 71354 h 109280"/>
                <a:gd name="connsiteX2" fmla="*/ 27018 w 98412"/>
                <a:gd name="connsiteY2" fmla="*/ 109281 h 109280"/>
                <a:gd name="connsiteX3" fmla="*/ 643 w 98412"/>
                <a:gd name="connsiteY3" fmla="*/ 109281 h 109280"/>
                <a:gd name="connsiteX4" fmla="*/ 34733 w 98412"/>
                <a:gd name="connsiteY4" fmla="*/ 52712 h 109280"/>
                <a:gd name="connsiteX5" fmla="*/ 0 w 98412"/>
                <a:gd name="connsiteY5" fmla="*/ 0 h 109280"/>
                <a:gd name="connsiteX6" fmla="*/ 27661 w 98412"/>
                <a:gd name="connsiteY6" fmla="*/ 0 h 109280"/>
                <a:gd name="connsiteX7" fmla="*/ 50173 w 98412"/>
                <a:gd name="connsiteY7" fmla="*/ 35355 h 109280"/>
                <a:gd name="connsiteX8" fmla="*/ 71395 w 98412"/>
                <a:gd name="connsiteY8" fmla="*/ 0 h 109280"/>
                <a:gd name="connsiteX9" fmla="*/ 97769 w 98412"/>
                <a:gd name="connsiteY9" fmla="*/ 0 h 109280"/>
                <a:gd name="connsiteX10" fmla="*/ 63679 w 98412"/>
                <a:gd name="connsiteY10" fmla="*/ 53998 h 109280"/>
                <a:gd name="connsiteX11" fmla="*/ 98412 w 98412"/>
                <a:gd name="connsiteY11" fmla="*/ 109281 h 109280"/>
                <a:gd name="connsiteX12" fmla="*/ 72042 w 98412"/>
                <a:gd name="connsiteY12" fmla="*/ 109281 h 109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412" h="109280">
                  <a:moveTo>
                    <a:pt x="72042" y="109281"/>
                  </a:moveTo>
                  <a:lnTo>
                    <a:pt x="49530" y="71354"/>
                  </a:lnTo>
                  <a:lnTo>
                    <a:pt x="27018" y="109281"/>
                  </a:lnTo>
                  <a:lnTo>
                    <a:pt x="643" y="109281"/>
                  </a:lnTo>
                  <a:lnTo>
                    <a:pt x="34733" y="52712"/>
                  </a:lnTo>
                  <a:lnTo>
                    <a:pt x="0" y="0"/>
                  </a:lnTo>
                  <a:lnTo>
                    <a:pt x="27661" y="0"/>
                  </a:lnTo>
                  <a:lnTo>
                    <a:pt x="50173" y="35355"/>
                  </a:lnTo>
                  <a:lnTo>
                    <a:pt x="71395" y="0"/>
                  </a:lnTo>
                  <a:lnTo>
                    <a:pt x="97769" y="0"/>
                  </a:lnTo>
                  <a:lnTo>
                    <a:pt x="63679" y="53998"/>
                  </a:lnTo>
                  <a:lnTo>
                    <a:pt x="98412" y="109281"/>
                  </a:lnTo>
                  <a:lnTo>
                    <a:pt x="72042" y="109281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21" name="Полилиния: фигура 11">
              <a:extLst>
                <a:ext uri="{FF2B5EF4-FFF2-40B4-BE49-F238E27FC236}">
                  <a16:creationId xmlns:a16="http://schemas.microsoft.com/office/drawing/2014/main" id="{6B13766F-8371-4C97-BB36-1CB37E35A8D3}"/>
                </a:ext>
              </a:extLst>
            </p:cNvPr>
            <p:cNvSpPr/>
            <p:nvPr/>
          </p:nvSpPr>
          <p:spPr>
            <a:xfrm>
              <a:off x="651176" y="331979"/>
              <a:ext cx="81691" cy="110566"/>
            </a:xfrm>
            <a:custGeom>
              <a:avLst/>
              <a:gdLst>
                <a:gd name="connsiteX0" fmla="*/ 81691 w 81691"/>
                <a:gd name="connsiteY0" fmla="*/ 71354 h 110566"/>
                <a:gd name="connsiteX1" fmla="*/ 39881 w 81691"/>
                <a:gd name="connsiteY1" fmla="*/ 110567 h 110566"/>
                <a:gd name="connsiteX2" fmla="*/ 0 w 81691"/>
                <a:gd name="connsiteY2" fmla="*/ 73925 h 110566"/>
                <a:gd name="connsiteX3" fmla="*/ 22512 w 81691"/>
                <a:gd name="connsiteY3" fmla="*/ 73925 h 110566"/>
                <a:gd name="connsiteX4" fmla="*/ 42453 w 81691"/>
                <a:gd name="connsiteY4" fmla="*/ 89354 h 110566"/>
                <a:gd name="connsiteX5" fmla="*/ 59179 w 81691"/>
                <a:gd name="connsiteY5" fmla="*/ 71354 h 110566"/>
                <a:gd name="connsiteX6" fmla="*/ 39881 w 81691"/>
                <a:gd name="connsiteY6" fmla="*/ 53998 h 110566"/>
                <a:gd name="connsiteX7" fmla="*/ 21869 w 81691"/>
                <a:gd name="connsiteY7" fmla="*/ 62997 h 110566"/>
                <a:gd name="connsiteX8" fmla="*/ 0 w 81691"/>
                <a:gd name="connsiteY8" fmla="*/ 62997 h 110566"/>
                <a:gd name="connsiteX9" fmla="*/ 7720 w 81691"/>
                <a:gd name="connsiteY9" fmla="*/ 0 h 110566"/>
                <a:gd name="connsiteX10" fmla="*/ 78472 w 81691"/>
                <a:gd name="connsiteY10" fmla="*/ 0 h 110566"/>
                <a:gd name="connsiteX11" fmla="*/ 75900 w 81691"/>
                <a:gd name="connsiteY11" fmla="*/ 21214 h 110566"/>
                <a:gd name="connsiteX12" fmla="*/ 25089 w 81691"/>
                <a:gd name="connsiteY12" fmla="*/ 21214 h 110566"/>
                <a:gd name="connsiteX13" fmla="*/ 23160 w 81691"/>
                <a:gd name="connsiteY13" fmla="*/ 42427 h 110566"/>
                <a:gd name="connsiteX14" fmla="*/ 44382 w 81691"/>
                <a:gd name="connsiteY14" fmla="*/ 35999 h 110566"/>
                <a:gd name="connsiteX15" fmla="*/ 81691 w 81691"/>
                <a:gd name="connsiteY15" fmla="*/ 71354 h 110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1691" h="110566">
                  <a:moveTo>
                    <a:pt x="81691" y="71354"/>
                  </a:moveTo>
                  <a:cubicBezTo>
                    <a:pt x="81691" y="95139"/>
                    <a:pt x="63679" y="110567"/>
                    <a:pt x="39881" y="110567"/>
                  </a:cubicBezTo>
                  <a:cubicBezTo>
                    <a:pt x="19298" y="110567"/>
                    <a:pt x="1291" y="98996"/>
                    <a:pt x="0" y="73925"/>
                  </a:cubicBezTo>
                  <a:lnTo>
                    <a:pt x="22512" y="73925"/>
                  </a:lnTo>
                  <a:cubicBezTo>
                    <a:pt x="23803" y="84853"/>
                    <a:pt x="32804" y="89354"/>
                    <a:pt x="42453" y="89354"/>
                  </a:cubicBezTo>
                  <a:cubicBezTo>
                    <a:pt x="54031" y="89354"/>
                    <a:pt x="59179" y="81639"/>
                    <a:pt x="59179" y="71354"/>
                  </a:cubicBezTo>
                  <a:cubicBezTo>
                    <a:pt x="59179" y="60426"/>
                    <a:pt x="51459" y="53998"/>
                    <a:pt x="39881" y="53998"/>
                  </a:cubicBezTo>
                  <a:cubicBezTo>
                    <a:pt x="30875" y="53998"/>
                    <a:pt x="24446" y="58498"/>
                    <a:pt x="21869" y="62997"/>
                  </a:cubicBezTo>
                  <a:lnTo>
                    <a:pt x="0" y="62997"/>
                  </a:lnTo>
                  <a:lnTo>
                    <a:pt x="7720" y="0"/>
                  </a:lnTo>
                  <a:lnTo>
                    <a:pt x="78472" y="0"/>
                  </a:lnTo>
                  <a:lnTo>
                    <a:pt x="75900" y="21214"/>
                  </a:lnTo>
                  <a:lnTo>
                    <a:pt x="25089" y="21214"/>
                  </a:lnTo>
                  <a:lnTo>
                    <a:pt x="23160" y="42427"/>
                  </a:lnTo>
                  <a:cubicBezTo>
                    <a:pt x="23160" y="42427"/>
                    <a:pt x="28304" y="35999"/>
                    <a:pt x="44382" y="35999"/>
                  </a:cubicBezTo>
                  <a:cubicBezTo>
                    <a:pt x="64965" y="35356"/>
                    <a:pt x="81691" y="48212"/>
                    <a:pt x="81691" y="71354"/>
                  </a:cubicBez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22" name="Полилиния: фигура 12">
              <a:extLst>
                <a:ext uri="{FF2B5EF4-FFF2-40B4-BE49-F238E27FC236}">
                  <a16:creationId xmlns:a16="http://schemas.microsoft.com/office/drawing/2014/main" id="{5EEB6770-9C53-4C36-8E20-3DCE5873EFB8}"/>
                </a:ext>
              </a:extLst>
            </p:cNvPr>
            <p:cNvSpPr/>
            <p:nvPr/>
          </p:nvSpPr>
          <p:spPr>
            <a:xfrm>
              <a:off x="428625" y="238125"/>
              <a:ext cx="225123" cy="201848"/>
            </a:xfrm>
            <a:custGeom>
              <a:avLst/>
              <a:gdLst>
                <a:gd name="connsiteX0" fmla="*/ 225123 w 225123"/>
                <a:gd name="connsiteY0" fmla="*/ 79711 h 201848"/>
                <a:gd name="connsiteX1" fmla="*/ 95841 w 225123"/>
                <a:gd name="connsiteY1" fmla="*/ 0 h 201848"/>
                <a:gd name="connsiteX2" fmla="*/ 0 w 225123"/>
                <a:gd name="connsiteY2" fmla="*/ 0 h 201848"/>
                <a:gd name="connsiteX3" fmla="*/ 12864 w 225123"/>
                <a:gd name="connsiteY3" fmla="*/ 87425 h 201848"/>
                <a:gd name="connsiteX4" fmla="*/ 106775 w 225123"/>
                <a:gd name="connsiteY4" fmla="*/ 201849 h 201848"/>
                <a:gd name="connsiteX5" fmla="*/ 108704 w 225123"/>
                <a:gd name="connsiteY5" fmla="*/ 199920 h 201848"/>
                <a:gd name="connsiteX6" fmla="*/ 107418 w 225123"/>
                <a:gd name="connsiteY6" fmla="*/ 198634 h 201848"/>
                <a:gd name="connsiteX7" fmla="*/ 59174 w 225123"/>
                <a:gd name="connsiteY7" fmla="*/ 82925 h 201848"/>
                <a:gd name="connsiteX8" fmla="*/ 53388 w 225123"/>
                <a:gd name="connsiteY8" fmla="*/ 43070 h 201848"/>
                <a:gd name="connsiteX9" fmla="*/ 108061 w 225123"/>
                <a:gd name="connsiteY9" fmla="*/ 43070 h 201848"/>
                <a:gd name="connsiteX10" fmla="*/ 221909 w 225123"/>
                <a:gd name="connsiteY10" fmla="*/ 80996 h 201848"/>
                <a:gd name="connsiteX11" fmla="*/ 223195 w 225123"/>
                <a:gd name="connsiteY11" fmla="*/ 81639 h 201848"/>
                <a:gd name="connsiteX12" fmla="*/ 225123 w 225123"/>
                <a:gd name="connsiteY12" fmla="*/ 79711 h 201848"/>
                <a:gd name="connsiteX13" fmla="*/ 225123 w 225123"/>
                <a:gd name="connsiteY13" fmla="*/ 79711 h 201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5123" h="201848">
                  <a:moveTo>
                    <a:pt x="225123" y="79711"/>
                  </a:moveTo>
                  <a:cubicBezTo>
                    <a:pt x="212903" y="32784"/>
                    <a:pt x="174955" y="0"/>
                    <a:pt x="95841" y="0"/>
                  </a:cubicBezTo>
                  <a:lnTo>
                    <a:pt x="0" y="0"/>
                  </a:lnTo>
                  <a:lnTo>
                    <a:pt x="12864" y="87425"/>
                  </a:lnTo>
                  <a:cubicBezTo>
                    <a:pt x="22512" y="167136"/>
                    <a:pt x="52745" y="192206"/>
                    <a:pt x="106775" y="201849"/>
                  </a:cubicBezTo>
                  <a:cubicBezTo>
                    <a:pt x="106775" y="201849"/>
                    <a:pt x="108704" y="201849"/>
                    <a:pt x="108704" y="199920"/>
                  </a:cubicBezTo>
                  <a:cubicBezTo>
                    <a:pt x="108704" y="199277"/>
                    <a:pt x="108061" y="198634"/>
                    <a:pt x="107418" y="198634"/>
                  </a:cubicBezTo>
                  <a:cubicBezTo>
                    <a:pt x="71395" y="183206"/>
                    <a:pt x="66894" y="133709"/>
                    <a:pt x="59174" y="82925"/>
                  </a:cubicBezTo>
                  <a:lnTo>
                    <a:pt x="53388" y="43070"/>
                  </a:lnTo>
                  <a:lnTo>
                    <a:pt x="108061" y="43070"/>
                  </a:lnTo>
                  <a:cubicBezTo>
                    <a:pt x="158229" y="43070"/>
                    <a:pt x="197468" y="42427"/>
                    <a:pt x="221909" y="80996"/>
                  </a:cubicBezTo>
                  <a:cubicBezTo>
                    <a:pt x="222552" y="81639"/>
                    <a:pt x="222552" y="81639"/>
                    <a:pt x="223195" y="81639"/>
                  </a:cubicBezTo>
                  <a:cubicBezTo>
                    <a:pt x="224480" y="82282"/>
                    <a:pt x="225123" y="80996"/>
                    <a:pt x="225123" y="79711"/>
                  </a:cubicBezTo>
                  <a:cubicBezTo>
                    <a:pt x="225123" y="80354"/>
                    <a:pt x="225123" y="79711"/>
                    <a:pt x="225123" y="79711"/>
                  </a:cubicBezTo>
                  <a:close/>
                </a:path>
              </a:pathLst>
            </a:custGeom>
            <a:solidFill>
              <a:srgbClr val="5FAF2D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23" name="Полилиния: фигура 13">
              <a:extLst>
                <a:ext uri="{FF2B5EF4-FFF2-40B4-BE49-F238E27FC236}">
                  <a16:creationId xmlns:a16="http://schemas.microsoft.com/office/drawing/2014/main" id="{704B2A9F-5975-4492-9E47-277C2F97FAE5}"/>
                </a:ext>
              </a:extLst>
            </p:cNvPr>
            <p:cNvSpPr/>
            <p:nvPr/>
          </p:nvSpPr>
          <p:spPr>
            <a:xfrm>
              <a:off x="750231" y="326836"/>
              <a:ext cx="112708" cy="116994"/>
            </a:xfrm>
            <a:custGeom>
              <a:avLst/>
              <a:gdLst>
                <a:gd name="connsiteX0" fmla="*/ 112562 w 112708"/>
                <a:gd name="connsiteY0" fmla="*/ 56569 h 116994"/>
                <a:gd name="connsiteX1" fmla="*/ 57245 w 112708"/>
                <a:gd name="connsiteY1" fmla="*/ 116995 h 116994"/>
                <a:gd name="connsiteX2" fmla="*/ 0 w 112708"/>
                <a:gd name="connsiteY2" fmla="*/ 58497 h 116994"/>
                <a:gd name="connsiteX3" fmla="*/ 57888 w 112708"/>
                <a:gd name="connsiteY3" fmla="*/ 0 h 116994"/>
                <a:gd name="connsiteX4" fmla="*/ 111276 w 112708"/>
                <a:gd name="connsiteY4" fmla="*/ 37284 h 116994"/>
                <a:gd name="connsiteX5" fmla="*/ 97126 w 112708"/>
                <a:gd name="connsiteY5" fmla="*/ 37284 h 116994"/>
                <a:gd name="connsiteX6" fmla="*/ 57888 w 112708"/>
                <a:gd name="connsiteY6" fmla="*/ 12856 h 116994"/>
                <a:gd name="connsiteX7" fmla="*/ 13506 w 112708"/>
                <a:gd name="connsiteY7" fmla="*/ 58497 h 116994"/>
                <a:gd name="connsiteX8" fmla="*/ 57888 w 112708"/>
                <a:gd name="connsiteY8" fmla="*/ 104138 h 116994"/>
                <a:gd name="connsiteX9" fmla="*/ 99055 w 112708"/>
                <a:gd name="connsiteY9" fmla="*/ 67497 h 116994"/>
                <a:gd name="connsiteX10" fmla="*/ 55316 w 112708"/>
                <a:gd name="connsiteY10" fmla="*/ 67497 h 116994"/>
                <a:gd name="connsiteX11" fmla="*/ 55316 w 112708"/>
                <a:gd name="connsiteY11" fmla="*/ 55926 h 116994"/>
                <a:gd name="connsiteX12" fmla="*/ 112562 w 112708"/>
                <a:gd name="connsiteY12" fmla="*/ 56569 h 116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2708" h="116994">
                  <a:moveTo>
                    <a:pt x="112562" y="56569"/>
                  </a:moveTo>
                  <a:cubicBezTo>
                    <a:pt x="112562" y="56569"/>
                    <a:pt x="118353" y="116995"/>
                    <a:pt x="57245" y="116995"/>
                  </a:cubicBezTo>
                  <a:cubicBezTo>
                    <a:pt x="25089" y="116995"/>
                    <a:pt x="0" y="92567"/>
                    <a:pt x="0" y="58497"/>
                  </a:cubicBezTo>
                  <a:cubicBezTo>
                    <a:pt x="0" y="25070"/>
                    <a:pt x="25089" y="0"/>
                    <a:pt x="57888" y="0"/>
                  </a:cubicBezTo>
                  <a:cubicBezTo>
                    <a:pt x="83620" y="0"/>
                    <a:pt x="103561" y="14785"/>
                    <a:pt x="111276" y="37284"/>
                  </a:cubicBezTo>
                  <a:lnTo>
                    <a:pt x="97126" y="37284"/>
                  </a:lnTo>
                  <a:cubicBezTo>
                    <a:pt x="90049" y="22499"/>
                    <a:pt x="75900" y="12856"/>
                    <a:pt x="57888" y="12856"/>
                  </a:cubicBezTo>
                  <a:cubicBezTo>
                    <a:pt x="32161" y="12856"/>
                    <a:pt x="13506" y="32141"/>
                    <a:pt x="13506" y="58497"/>
                  </a:cubicBezTo>
                  <a:cubicBezTo>
                    <a:pt x="13506" y="84211"/>
                    <a:pt x="31518" y="104138"/>
                    <a:pt x="57888" y="104138"/>
                  </a:cubicBezTo>
                  <a:cubicBezTo>
                    <a:pt x="80400" y="104138"/>
                    <a:pt x="97126" y="89996"/>
                    <a:pt x="99055" y="67497"/>
                  </a:cubicBezTo>
                  <a:lnTo>
                    <a:pt x="55316" y="67497"/>
                  </a:lnTo>
                  <a:lnTo>
                    <a:pt x="55316" y="55926"/>
                  </a:lnTo>
                  <a:lnTo>
                    <a:pt x="112562" y="56569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24" name="Полилиния: фигура 14">
              <a:extLst>
                <a:ext uri="{FF2B5EF4-FFF2-40B4-BE49-F238E27FC236}">
                  <a16:creationId xmlns:a16="http://schemas.microsoft.com/office/drawing/2014/main" id="{BF66DB3F-16E2-4916-9569-2606F626CD0E}"/>
                </a:ext>
              </a:extLst>
            </p:cNvPr>
            <p:cNvSpPr/>
            <p:nvPr/>
          </p:nvSpPr>
          <p:spPr>
            <a:xfrm>
              <a:off x="880800" y="351903"/>
              <a:ext cx="50815" cy="89353"/>
            </a:xfrm>
            <a:custGeom>
              <a:avLst/>
              <a:gdLst>
                <a:gd name="connsiteX0" fmla="*/ 50816 w 50815"/>
                <a:gd name="connsiteY0" fmla="*/ 0 h 89353"/>
                <a:gd name="connsiteX1" fmla="*/ 50816 w 50815"/>
                <a:gd name="connsiteY1" fmla="*/ 13499 h 89353"/>
                <a:gd name="connsiteX2" fmla="*/ 45025 w 50815"/>
                <a:gd name="connsiteY2" fmla="*/ 12857 h 89353"/>
                <a:gd name="connsiteX3" fmla="*/ 13511 w 50815"/>
                <a:gd name="connsiteY3" fmla="*/ 47569 h 89353"/>
                <a:gd name="connsiteX4" fmla="*/ 13511 w 50815"/>
                <a:gd name="connsiteY4" fmla="*/ 89354 h 89353"/>
                <a:gd name="connsiteX5" fmla="*/ 0 w 50815"/>
                <a:gd name="connsiteY5" fmla="*/ 89354 h 89353"/>
                <a:gd name="connsiteX6" fmla="*/ 0 w 50815"/>
                <a:gd name="connsiteY6" fmla="*/ 1929 h 89353"/>
                <a:gd name="connsiteX7" fmla="*/ 13511 w 50815"/>
                <a:gd name="connsiteY7" fmla="*/ 1929 h 89353"/>
                <a:gd name="connsiteX8" fmla="*/ 13511 w 50815"/>
                <a:gd name="connsiteY8" fmla="*/ 21857 h 89353"/>
                <a:gd name="connsiteX9" fmla="*/ 45025 w 50815"/>
                <a:gd name="connsiteY9" fmla="*/ 0 h 89353"/>
                <a:gd name="connsiteX10" fmla="*/ 50816 w 50815"/>
                <a:gd name="connsiteY10" fmla="*/ 0 h 89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0815" h="89353">
                  <a:moveTo>
                    <a:pt x="50816" y="0"/>
                  </a:moveTo>
                  <a:lnTo>
                    <a:pt x="50816" y="13499"/>
                  </a:lnTo>
                  <a:cubicBezTo>
                    <a:pt x="49530" y="13499"/>
                    <a:pt x="47601" y="12857"/>
                    <a:pt x="45025" y="12857"/>
                  </a:cubicBezTo>
                  <a:cubicBezTo>
                    <a:pt x="26375" y="12857"/>
                    <a:pt x="13511" y="25070"/>
                    <a:pt x="13511" y="47569"/>
                  </a:cubicBezTo>
                  <a:lnTo>
                    <a:pt x="13511" y="89354"/>
                  </a:lnTo>
                  <a:lnTo>
                    <a:pt x="0" y="89354"/>
                  </a:lnTo>
                  <a:lnTo>
                    <a:pt x="0" y="1929"/>
                  </a:lnTo>
                  <a:lnTo>
                    <a:pt x="13511" y="1929"/>
                  </a:lnTo>
                  <a:lnTo>
                    <a:pt x="13511" y="21857"/>
                  </a:lnTo>
                  <a:cubicBezTo>
                    <a:pt x="18655" y="8357"/>
                    <a:pt x="29589" y="0"/>
                    <a:pt x="45025" y="0"/>
                  </a:cubicBezTo>
                  <a:cubicBezTo>
                    <a:pt x="47601" y="0"/>
                    <a:pt x="49530" y="0"/>
                    <a:pt x="50816" y="0"/>
                  </a:cubicBez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25" name="Полилиния: фигура 15">
              <a:extLst>
                <a:ext uri="{FF2B5EF4-FFF2-40B4-BE49-F238E27FC236}">
                  <a16:creationId xmlns:a16="http://schemas.microsoft.com/office/drawing/2014/main" id="{CB960B10-815B-4FFA-B3E7-8C05F60CB33E}"/>
                </a:ext>
              </a:extLst>
            </p:cNvPr>
            <p:cNvSpPr/>
            <p:nvPr/>
          </p:nvSpPr>
          <p:spPr>
            <a:xfrm>
              <a:off x="938693" y="351903"/>
              <a:ext cx="91335" cy="92567"/>
            </a:xfrm>
            <a:custGeom>
              <a:avLst/>
              <a:gdLst>
                <a:gd name="connsiteX0" fmla="*/ 91335 w 91335"/>
                <a:gd name="connsiteY0" fmla="*/ 46284 h 92567"/>
                <a:gd name="connsiteX1" fmla="*/ 45668 w 91335"/>
                <a:gd name="connsiteY1" fmla="*/ 92568 h 92567"/>
                <a:gd name="connsiteX2" fmla="*/ 0 w 91335"/>
                <a:gd name="connsiteY2" fmla="*/ 46284 h 92567"/>
                <a:gd name="connsiteX3" fmla="*/ 45668 w 91335"/>
                <a:gd name="connsiteY3" fmla="*/ 0 h 92567"/>
                <a:gd name="connsiteX4" fmla="*/ 91335 w 91335"/>
                <a:gd name="connsiteY4" fmla="*/ 46284 h 92567"/>
                <a:gd name="connsiteX5" fmla="*/ 12864 w 91335"/>
                <a:gd name="connsiteY5" fmla="*/ 46284 h 92567"/>
                <a:gd name="connsiteX6" fmla="*/ 45025 w 91335"/>
                <a:gd name="connsiteY6" fmla="*/ 79711 h 92567"/>
                <a:gd name="connsiteX7" fmla="*/ 77181 w 91335"/>
                <a:gd name="connsiteY7" fmla="*/ 46284 h 92567"/>
                <a:gd name="connsiteX8" fmla="*/ 45025 w 91335"/>
                <a:gd name="connsiteY8" fmla="*/ 12857 h 92567"/>
                <a:gd name="connsiteX9" fmla="*/ 12864 w 91335"/>
                <a:gd name="connsiteY9" fmla="*/ 46284 h 92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335" h="92567">
                  <a:moveTo>
                    <a:pt x="91335" y="46284"/>
                  </a:moveTo>
                  <a:cubicBezTo>
                    <a:pt x="91335" y="72640"/>
                    <a:pt x="71395" y="92568"/>
                    <a:pt x="45668" y="92568"/>
                  </a:cubicBezTo>
                  <a:cubicBezTo>
                    <a:pt x="19936" y="92568"/>
                    <a:pt x="0" y="72640"/>
                    <a:pt x="0" y="46284"/>
                  </a:cubicBezTo>
                  <a:cubicBezTo>
                    <a:pt x="0" y="19928"/>
                    <a:pt x="20579" y="0"/>
                    <a:pt x="45668" y="0"/>
                  </a:cubicBezTo>
                  <a:cubicBezTo>
                    <a:pt x="70752" y="0"/>
                    <a:pt x="91335" y="19285"/>
                    <a:pt x="91335" y="46284"/>
                  </a:cubicBezTo>
                  <a:close/>
                  <a:moveTo>
                    <a:pt x="12864" y="46284"/>
                  </a:moveTo>
                  <a:cubicBezTo>
                    <a:pt x="12864" y="65569"/>
                    <a:pt x="27013" y="79711"/>
                    <a:pt x="45025" y="79711"/>
                  </a:cubicBezTo>
                  <a:cubicBezTo>
                    <a:pt x="63032" y="79711"/>
                    <a:pt x="77181" y="65569"/>
                    <a:pt x="77181" y="46284"/>
                  </a:cubicBezTo>
                  <a:cubicBezTo>
                    <a:pt x="77181" y="26999"/>
                    <a:pt x="63032" y="12857"/>
                    <a:pt x="45025" y="12857"/>
                  </a:cubicBezTo>
                  <a:cubicBezTo>
                    <a:pt x="27656" y="12857"/>
                    <a:pt x="12864" y="26356"/>
                    <a:pt x="12864" y="46284"/>
                  </a:cubicBez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26" name="Полилиния: фигура 16">
              <a:extLst>
                <a:ext uri="{FF2B5EF4-FFF2-40B4-BE49-F238E27FC236}">
                  <a16:creationId xmlns:a16="http://schemas.microsoft.com/office/drawing/2014/main" id="{CBA0FD59-7588-4A82-AA06-97354E2FBB45}"/>
                </a:ext>
              </a:extLst>
            </p:cNvPr>
            <p:cNvSpPr/>
            <p:nvPr/>
          </p:nvSpPr>
          <p:spPr>
            <a:xfrm>
              <a:off x="1046106" y="353838"/>
              <a:ext cx="76542" cy="90638"/>
            </a:xfrm>
            <a:custGeom>
              <a:avLst/>
              <a:gdLst>
                <a:gd name="connsiteX0" fmla="*/ 76543 w 76542"/>
                <a:gd name="connsiteY0" fmla="*/ 0 h 90638"/>
                <a:gd name="connsiteX1" fmla="*/ 76543 w 76542"/>
                <a:gd name="connsiteY1" fmla="*/ 88710 h 90638"/>
                <a:gd name="connsiteX2" fmla="*/ 63036 w 76542"/>
                <a:gd name="connsiteY2" fmla="*/ 88710 h 90638"/>
                <a:gd name="connsiteX3" fmla="*/ 63036 w 76542"/>
                <a:gd name="connsiteY3" fmla="*/ 71354 h 90638"/>
                <a:gd name="connsiteX4" fmla="*/ 31518 w 76542"/>
                <a:gd name="connsiteY4" fmla="*/ 90639 h 90638"/>
                <a:gd name="connsiteX5" fmla="*/ 0 w 76542"/>
                <a:gd name="connsiteY5" fmla="*/ 56569 h 90638"/>
                <a:gd name="connsiteX6" fmla="*/ 0 w 76542"/>
                <a:gd name="connsiteY6" fmla="*/ 0 h 90638"/>
                <a:gd name="connsiteX7" fmla="*/ 13506 w 76542"/>
                <a:gd name="connsiteY7" fmla="*/ 0 h 90638"/>
                <a:gd name="connsiteX8" fmla="*/ 13506 w 76542"/>
                <a:gd name="connsiteY8" fmla="*/ 53998 h 90638"/>
                <a:gd name="connsiteX9" fmla="*/ 35376 w 76542"/>
                <a:gd name="connsiteY9" fmla="*/ 77782 h 90638"/>
                <a:gd name="connsiteX10" fmla="*/ 63036 w 76542"/>
                <a:gd name="connsiteY10" fmla="*/ 45641 h 90638"/>
                <a:gd name="connsiteX11" fmla="*/ 63036 w 76542"/>
                <a:gd name="connsiteY11" fmla="*/ 0 h 90638"/>
                <a:gd name="connsiteX12" fmla="*/ 76543 w 76542"/>
                <a:gd name="connsiteY12" fmla="*/ 0 h 90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6542" h="90638">
                  <a:moveTo>
                    <a:pt x="76543" y="0"/>
                  </a:moveTo>
                  <a:lnTo>
                    <a:pt x="76543" y="88710"/>
                  </a:lnTo>
                  <a:lnTo>
                    <a:pt x="63036" y="88710"/>
                  </a:lnTo>
                  <a:lnTo>
                    <a:pt x="63036" y="71354"/>
                  </a:lnTo>
                  <a:cubicBezTo>
                    <a:pt x="57245" y="82925"/>
                    <a:pt x="46954" y="90639"/>
                    <a:pt x="31518" y="90639"/>
                  </a:cubicBezTo>
                  <a:cubicBezTo>
                    <a:pt x="11578" y="90639"/>
                    <a:pt x="0" y="77782"/>
                    <a:pt x="0" y="56569"/>
                  </a:cubicBezTo>
                  <a:lnTo>
                    <a:pt x="0" y="0"/>
                  </a:lnTo>
                  <a:lnTo>
                    <a:pt x="13506" y="0"/>
                  </a:lnTo>
                  <a:lnTo>
                    <a:pt x="13506" y="53998"/>
                  </a:lnTo>
                  <a:cubicBezTo>
                    <a:pt x="13506" y="70068"/>
                    <a:pt x="21226" y="77782"/>
                    <a:pt x="35376" y="77782"/>
                  </a:cubicBezTo>
                  <a:cubicBezTo>
                    <a:pt x="52745" y="77782"/>
                    <a:pt x="63036" y="64926"/>
                    <a:pt x="63036" y="45641"/>
                  </a:cubicBezTo>
                  <a:lnTo>
                    <a:pt x="63036" y="0"/>
                  </a:lnTo>
                  <a:lnTo>
                    <a:pt x="76543" y="0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27" name="Полилиния: фигура 17">
              <a:extLst>
                <a:ext uri="{FF2B5EF4-FFF2-40B4-BE49-F238E27FC236}">
                  <a16:creationId xmlns:a16="http://schemas.microsoft.com/office/drawing/2014/main" id="{71589F7C-8455-4C16-B4EA-B2876329F398}"/>
                </a:ext>
              </a:extLst>
            </p:cNvPr>
            <p:cNvSpPr/>
            <p:nvPr/>
          </p:nvSpPr>
          <p:spPr>
            <a:xfrm>
              <a:off x="1142590" y="351903"/>
              <a:ext cx="88763" cy="131137"/>
            </a:xfrm>
            <a:custGeom>
              <a:avLst/>
              <a:gdLst>
                <a:gd name="connsiteX0" fmla="*/ 88763 w 88763"/>
                <a:gd name="connsiteY0" fmla="*/ 46284 h 131137"/>
                <a:gd name="connsiteX1" fmla="*/ 46953 w 88763"/>
                <a:gd name="connsiteY1" fmla="*/ 92568 h 131137"/>
                <a:gd name="connsiteX2" fmla="*/ 12864 w 88763"/>
                <a:gd name="connsiteY2" fmla="*/ 72640 h 131137"/>
                <a:gd name="connsiteX3" fmla="*/ 12864 w 88763"/>
                <a:gd name="connsiteY3" fmla="*/ 131137 h 131137"/>
                <a:gd name="connsiteX4" fmla="*/ 0 w 88763"/>
                <a:gd name="connsiteY4" fmla="*/ 131137 h 131137"/>
                <a:gd name="connsiteX5" fmla="*/ 0 w 88763"/>
                <a:gd name="connsiteY5" fmla="*/ 1929 h 131137"/>
                <a:gd name="connsiteX6" fmla="*/ 13506 w 88763"/>
                <a:gd name="connsiteY6" fmla="*/ 1929 h 131137"/>
                <a:gd name="connsiteX7" fmla="*/ 13506 w 88763"/>
                <a:gd name="connsiteY7" fmla="*/ 19928 h 131137"/>
                <a:gd name="connsiteX8" fmla="*/ 47596 w 88763"/>
                <a:gd name="connsiteY8" fmla="*/ 0 h 131137"/>
                <a:gd name="connsiteX9" fmla="*/ 88763 w 88763"/>
                <a:gd name="connsiteY9" fmla="*/ 46284 h 131137"/>
                <a:gd name="connsiteX10" fmla="*/ 75257 w 88763"/>
                <a:gd name="connsiteY10" fmla="*/ 46284 h 131137"/>
                <a:gd name="connsiteX11" fmla="*/ 44382 w 88763"/>
                <a:gd name="connsiteY11" fmla="*/ 12857 h 131137"/>
                <a:gd name="connsiteX12" fmla="*/ 12221 w 88763"/>
                <a:gd name="connsiteY12" fmla="*/ 46284 h 131137"/>
                <a:gd name="connsiteX13" fmla="*/ 44382 w 88763"/>
                <a:gd name="connsiteY13" fmla="*/ 79711 h 131137"/>
                <a:gd name="connsiteX14" fmla="*/ 75257 w 88763"/>
                <a:gd name="connsiteY14" fmla="*/ 46284 h 131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8763" h="131137">
                  <a:moveTo>
                    <a:pt x="88763" y="46284"/>
                  </a:moveTo>
                  <a:cubicBezTo>
                    <a:pt x="88763" y="73282"/>
                    <a:pt x="71395" y="92568"/>
                    <a:pt x="46953" y="92568"/>
                  </a:cubicBezTo>
                  <a:cubicBezTo>
                    <a:pt x="31518" y="92568"/>
                    <a:pt x="19941" y="84853"/>
                    <a:pt x="12864" y="72640"/>
                  </a:cubicBezTo>
                  <a:lnTo>
                    <a:pt x="12864" y="131137"/>
                  </a:lnTo>
                  <a:lnTo>
                    <a:pt x="0" y="131137"/>
                  </a:lnTo>
                  <a:lnTo>
                    <a:pt x="0" y="1929"/>
                  </a:lnTo>
                  <a:lnTo>
                    <a:pt x="13506" y="1929"/>
                  </a:lnTo>
                  <a:lnTo>
                    <a:pt x="13506" y="19928"/>
                  </a:lnTo>
                  <a:cubicBezTo>
                    <a:pt x="20583" y="7714"/>
                    <a:pt x="32161" y="0"/>
                    <a:pt x="47596" y="0"/>
                  </a:cubicBezTo>
                  <a:cubicBezTo>
                    <a:pt x="71395" y="0"/>
                    <a:pt x="88763" y="19285"/>
                    <a:pt x="88763" y="46284"/>
                  </a:cubicBezTo>
                  <a:close/>
                  <a:moveTo>
                    <a:pt x="75257" y="46284"/>
                  </a:moveTo>
                  <a:cubicBezTo>
                    <a:pt x="75257" y="26999"/>
                    <a:pt x="62394" y="12857"/>
                    <a:pt x="44382" y="12857"/>
                  </a:cubicBezTo>
                  <a:cubicBezTo>
                    <a:pt x="26370" y="12857"/>
                    <a:pt x="12221" y="26999"/>
                    <a:pt x="12221" y="46284"/>
                  </a:cubicBezTo>
                  <a:cubicBezTo>
                    <a:pt x="12221" y="65569"/>
                    <a:pt x="25727" y="79711"/>
                    <a:pt x="44382" y="79711"/>
                  </a:cubicBezTo>
                  <a:cubicBezTo>
                    <a:pt x="63036" y="79711"/>
                    <a:pt x="75257" y="65569"/>
                    <a:pt x="75257" y="46284"/>
                  </a:cubicBez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9740D079-FD06-4042-8C12-6CB7FE9CEB4D}"/>
              </a:ext>
            </a:extLst>
          </p:cNvPr>
          <p:cNvSpPr txBox="1"/>
          <p:nvPr/>
        </p:nvSpPr>
        <p:spPr>
          <a:xfrm>
            <a:off x="160379" y="348403"/>
            <a:ext cx="115355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ru-RU" sz="2000" b="1" spc="-20" dirty="0">
                <a:latin typeface="X5 Sans Medium" panose="020B0503020203020204" pitchFamily="34" charset="0"/>
                <a:ea typeface="X5 Sans Medium" panose="020B0503020203020204" pitchFamily="34" charset="0"/>
                <a:cs typeface="Open Sans Bold" panose="020B0604020202020204" charset="0"/>
              </a:rPr>
              <a:t>Участники и подходы (2 слайд)</a:t>
            </a:r>
          </a:p>
        </p:txBody>
      </p:sp>
      <p:sp>
        <p:nvSpPr>
          <p:cNvPr id="51" name="Номер слайда 6">
            <a:extLst>
              <a:ext uri="{FF2B5EF4-FFF2-40B4-BE49-F238E27FC236}">
                <a16:creationId xmlns:a16="http://schemas.microsoft.com/office/drawing/2014/main" id="{E86BEAF8-EAAF-4D2C-A912-0E6931DAA2C0}"/>
              </a:ext>
            </a:extLst>
          </p:cNvPr>
          <p:cNvSpPr txBox="1">
            <a:spLocks/>
          </p:cNvSpPr>
          <p:nvPr/>
        </p:nvSpPr>
        <p:spPr>
          <a:xfrm>
            <a:off x="11665862" y="527988"/>
            <a:ext cx="318135" cy="11864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ru-RU"/>
            </a:defPPr>
            <a:lvl1pPr marL="0" algn="ctr" defTabSz="914400" rtl="0" eaLnBrk="1" latinLnBrk="0" hangingPunct="1">
              <a:defRPr sz="800" b="0" kern="12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  <a:cs typeface="Open Sans SemiBold" panose="020B07060308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C96FE9D3-F4ED-4A78-AE68-5D32F6CAB728}" type="slidenum">
              <a:rPr lang="ru-RU" smtClean="0">
                <a:solidFill>
                  <a:srgbClr val="FFFFFF"/>
                </a:solidFill>
              </a:rPr>
              <a:pPr>
                <a:defRPr/>
              </a:pPr>
              <a:t>3</a:t>
            </a:fld>
            <a:endParaRPr lang="ru-RU" dirty="0">
              <a:solidFill>
                <a:srgbClr val="FFFFFF"/>
              </a:solidFill>
            </a:endParaRPr>
          </a:p>
        </p:txBody>
      </p:sp>
      <p:sp>
        <p:nvSpPr>
          <p:cNvPr id="52" name="Овал 51">
            <a:extLst>
              <a:ext uri="{FF2B5EF4-FFF2-40B4-BE49-F238E27FC236}">
                <a16:creationId xmlns:a16="http://schemas.microsoft.com/office/drawing/2014/main" id="{B131399C-3E82-4528-A708-BC80F405FF40}"/>
              </a:ext>
            </a:extLst>
          </p:cNvPr>
          <p:cNvSpPr/>
          <p:nvPr/>
        </p:nvSpPr>
        <p:spPr>
          <a:xfrm>
            <a:off x="11865777" y="62653"/>
            <a:ext cx="285750" cy="285750"/>
          </a:xfrm>
          <a:prstGeom prst="ellipse">
            <a:avLst/>
          </a:prstGeom>
          <a:solidFill>
            <a:srgbClr val="5FAF2D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191923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3" name="Номер слайда 6">
            <a:extLst>
              <a:ext uri="{FF2B5EF4-FFF2-40B4-BE49-F238E27FC236}">
                <a16:creationId xmlns:a16="http://schemas.microsoft.com/office/drawing/2014/main" id="{1B12D6C9-405B-4DB5-B70D-57127FD18902}"/>
              </a:ext>
            </a:extLst>
          </p:cNvPr>
          <p:cNvSpPr txBox="1">
            <a:spLocks/>
          </p:cNvSpPr>
          <p:nvPr/>
        </p:nvSpPr>
        <p:spPr>
          <a:xfrm>
            <a:off x="11849584" y="146205"/>
            <a:ext cx="318135" cy="11864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ru-RU"/>
            </a:defPPr>
            <a:lvl1pPr marL="0" algn="ctr" defTabSz="914400" rtl="0" eaLnBrk="1" latinLnBrk="0" hangingPunct="1">
              <a:defRPr sz="800" b="0" kern="12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  <a:cs typeface="Open Sans SemiBold" panose="020B07060308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C96FE9D3-F4ED-4A78-AE68-5D32F6CAB728}" type="slidenum">
              <a:rPr lang="ru-RU" smtClean="0">
                <a:solidFill>
                  <a:srgbClr val="FFFFFF"/>
                </a:solidFill>
              </a:rPr>
              <a:pPr>
                <a:defRPr/>
              </a:pPr>
              <a:t>3</a:t>
            </a:fld>
            <a:endParaRPr lang="ru-RU" dirty="0">
              <a:solidFill>
                <a:srgbClr val="FFFFFF"/>
              </a:solidFill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002C07D5-9F35-4DA7-824B-01E4AA0AB2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780951"/>
              </p:ext>
            </p:extLst>
          </p:nvPr>
        </p:nvGraphicFramePr>
        <p:xfrm>
          <a:off x="176275" y="1360864"/>
          <a:ext cx="11823618" cy="2656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3010">
                  <a:extLst>
                    <a:ext uri="{9D8B030D-6E8A-4147-A177-3AD203B41FA5}">
                      <a16:colId xmlns:a16="http://schemas.microsoft.com/office/drawing/2014/main" val="1246407831"/>
                    </a:ext>
                  </a:extLst>
                </a:gridCol>
                <a:gridCol w="8088923">
                  <a:extLst>
                    <a:ext uri="{9D8B030D-6E8A-4147-A177-3AD203B41FA5}">
                      <a16:colId xmlns:a16="http://schemas.microsoft.com/office/drawing/2014/main" val="2535713833"/>
                    </a:ext>
                  </a:extLst>
                </a:gridCol>
                <a:gridCol w="2151685">
                  <a:extLst>
                    <a:ext uri="{9D8B030D-6E8A-4147-A177-3AD203B41FA5}">
                      <a16:colId xmlns:a16="http://schemas.microsoft.com/office/drawing/2014/main" val="25745871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Участники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Функционал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Направления концепции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3848339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Руководитель подразделения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/>
                        <a:t>Консультационная поддержка подразделений БЕ Тех при определении функционала роли в ИС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/>
                        <a:t>Анализ соответствия итогового описания всех ролей фактическому функционалу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Идентификация и актуализация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53880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/>
                        <a:t>Проработка способов устранения конфликтов в ролях и на сотрудниках (корректировка ролевой модели, изъятие конфликтующих ролей у сотрудников, формирование КП и обоснования при необходимости совмещения конфликтных ролей)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 err="1"/>
                        <a:t>Митигация</a:t>
                      </a:r>
                      <a:r>
                        <a:rPr lang="ru-RU" sz="1400" dirty="0"/>
                        <a:t> рисков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020196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ДР (УК)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/>
                        <a:t>Консультация в случае методологических вопросов 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Идентификация и актуализация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00800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ru-RU" sz="1400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/>
                        <a:t>Организация решения возникающих вопросов в части устранения конфликтов в ролях, использующихся в разных ТС/БЕ (критично для ТОРГ-систем) – </a:t>
                      </a:r>
                      <a:r>
                        <a:rPr lang="ru-RU" sz="1400" i="1" dirty="0">
                          <a:solidFill>
                            <a:srgbClr val="FF0000"/>
                          </a:solidFill>
                        </a:rPr>
                        <a:t>предложение, требует проработки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 err="1"/>
                        <a:t>Митигация</a:t>
                      </a:r>
                      <a:r>
                        <a:rPr lang="ru-RU" sz="1400" dirty="0"/>
                        <a:t> рисков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42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2414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C4D2ED8E-72FC-4231-A2C5-27E1268B7B06}"/>
              </a:ext>
            </a:extLst>
          </p:cNvPr>
          <p:cNvGrpSpPr/>
          <p:nvPr/>
        </p:nvGrpSpPr>
        <p:grpSpPr>
          <a:xfrm>
            <a:off x="63714" y="62653"/>
            <a:ext cx="802728" cy="244915"/>
            <a:chOff x="428625" y="238125"/>
            <a:chExt cx="802728" cy="244915"/>
          </a:xfrm>
        </p:grpSpPr>
        <p:sp>
          <p:nvSpPr>
            <p:cNvPr id="20" name="Полилиния: фигура 10">
              <a:extLst>
                <a:ext uri="{FF2B5EF4-FFF2-40B4-BE49-F238E27FC236}">
                  <a16:creationId xmlns:a16="http://schemas.microsoft.com/office/drawing/2014/main" id="{E9C3ACDA-9615-4FF7-AC91-25E54209AF0D}"/>
                </a:ext>
              </a:extLst>
            </p:cNvPr>
            <p:cNvSpPr/>
            <p:nvPr/>
          </p:nvSpPr>
          <p:spPr>
            <a:xfrm>
              <a:off x="548259" y="331338"/>
              <a:ext cx="98412" cy="109280"/>
            </a:xfrm>
            <a:custGeom>
              <a:avLst/>
              <a:gdLst>
                <a:gd name="connsiteX0" fmla="*/ 72042 w 98412"/>
                <a:gd name="connsiteY0" fmla="*/ 109281 h 109280"/>
                <a:gd name="connsiteX1" fmla="*/ 49530 w 98412"/>
                <a:gd name="connsiteY1" fmla="*/ 71354 h 109280"/>
                <a:gd name="connsiteX2" fmla="*/ 27018 w 98412"/>
                <a:gd name="connsiteY2" fmla="*/ 109281 h 109280"/>
                <a:gd name="connsiteX3" fmla="*/ 643 w 98412"/>
                <a:gd name="connsiteY3" fmla="*/ 109281 h 109280"/>
                <a:gd name="connsiteX4" fmla="*/ 34733 w 98412"/>
                <a:gd name="connsiteY4" fmla="*/ 52712 h 109280"/>
                <a:gd name="connsiteX5" fmla="*/ 0 w 98412"/>
                <a:gd name="connsiteY5" fmla="*/ 0 h 109280"/>
                <a:gd name="connsiteX6" fmla="*/ 27661 w 98412"/>
                <a:gd name="connsiteY6" fmla="*/ 0 h 109280"/>
                <a:gd name="connsiteX7" fmla="*/ 50173 w 98412"/>
                <a:gd name="connsiteY7" fmla="*/ 35355 h 109280"/>
                <a:gd name="connsiteX8" fmla="*/ 71395 w 98412"/>
                <a:gd name="connsiteY8" fmla="*/ 0 h 109280"/>
                <a:gd name="connsiteX9" fmla="*/ 97769 w 98412"/>
                <a:gd name="connsiteY9" fmla="*/ 0 h 109280"/>
                <a:gd name="connsiteX10" fmla="*/ 63679 w 98412"/>
                <a:gd name="connsiteY10" fmla="*/ 53998 h 109280"/>
                <a:gd name="connsiteX11" fmla="*/ 98412 w 98412"/>
                <a:gd name="connsiteY11" fmla="*/ 109281 h 109280"/>
                <a:gd name="connsiteX12" fmla="*/ 72042 w 98412"/>
                <a:gd name="connsiteY12" fmla="*/ 109281 h 109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412" h="109280">
                  <a:moveTo>
                    <a:pt x="72042" y="109281"/>
                  </a:moveTo>
                  <a:lnTo>
                    <a:pt x="49530" y="71354"/>
                  </a:lnTo>
                  <a:lnTo>
                    <a:pt x="27018" y="109281"/>
                  </a:lnTo>
                  <a:lnTo>
                    <a:pt x="643" y="109281"/>
                  </a:lnTo>
                  <a:lnTo>
                    <a:pt x="34733" y="52712"/>
                  </a:lnTo>
                  <a:lnTo>
                    <a:pt x="0" y="0"/>
                  </a:lnTo>
                  <a:lnTo>
                    <a:pt x="27661" y="0"/>
                  </a:lnTo>
                  <a:lnTo>
                    <a:pt x="50173" y="35355"/>
                  </a:lnTo>
                  <a:lnTo>
                    <a:pt x="71395" y="0"/>
                  </a:lnTo>
                  <a:lnTo>
                    <a:pt x="97769" y="0"/>
                  </a:lnTo>
                  <a:lnTo>
                    <a:pt x="63679" y="53998"/>
                  </a:lnTo>
                  <a:lnTo>
                    <a:pt x="98412" y="109281"/>
                  </a:lnTo>
                  <a:lnTo>
                    <a:pt x="72042" y="109281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21" name="Полилиния: фигура 11">
              <a:extLst>
                <a:ext uri="{FF2B5EF4-FFF2-40B4-BE49-F238E27FC236}">
                  <a16:creationId xmlns:a16="http://schemas.microsoft.com/office/drawing/2014/main" id="{6B13766F-8371-4C97-BB36-1CB37E35A8D3}"/>
                </a:ext>
              </a:extLst>
            </p:cNvPr>
            <p:cNvSpPr/>
            <p:nvPr/>
          </p:nvSpPr>
          <p:spPr>
            <a:xfrm>
              <a:off x="651176" y="331979"/>
              <a:ext cx="81691" cy="110566"/>
            </a:xfrm>
            <a:custGeom>
              <a:avLst/>
              <a:gdLst>
                <a:gd name="connsiteX0" fmla="*/ 81691 w 81691"/>
                <a:gd name="connsiteY0" fmla="*/ 71354 h 110566"/>
                <a:gd name="connsiteX1" fmla="*/ 39881 w 81691"/>
                <a:gd name="connsiteY1" fmla="*/ 110567 h 110566"/>
                <a:gd name="connsiteX2" fmla="*/ 0 w 81691"/>
                <a:gd name="connsiteY2" fmla="*/ 73925 h 110566"/>
                <a:gd name="connsiteX3" fmla="*/ 22512 w 81691"/>
                <a:gd name="connsiteY3" fmla="*/ 73925 h 110566"/>
                <a:gd name="connsiteX4" fmla="*/ 42453 w 81691"/>
                <a:gd name="connsiteY4" fmla="*/ 89354 h 110566"/>
                <a:gd name="connsiteX5" fmla="*/ 59179 w 81691"/>
                <a:gd name="connsiteY5" fmla="*/ 71354 h 110566"/>
                <a:gd name="connsiteX6" fmla="*/ 39881 w 81691"/>
                <a:gd name="connsiteY6" fmla="*/ 53998 h 110566"/>
                <a:gd name="connsiteX7" fmla="*/ 21869 w 81691"/>
                <a:gd name="connsiteY7" fmla="*/ 62997 h 110566"/>
                <a:gd name="connsiteX8" fmla="*/ 0 w 81691"/>
                <a:gd name="connsiteY8" fmla="*/ 62997 h 110566"/>
                <a:gd name="connsiteX9" fmla="*/ 7720 w 81691"/>
                <a:gd name="connsiteY9" fmla="*/ 0 h 110566"/>
                <a:gd name="connsiteX10" fmla="*/ 78472 w 81691"/>
                <a:gd name="connsiteY10" fmla="*/ 0 h 110566"/>
                <a:gd name="connsiteX11" fmla="*/ 75900 w 81691"/>
                <a:gd name="connsiteY11" fmla="*/ 21214 h 110566"/>
                <a:gd name="connsiteX12" fmla="*/ 25089 w 81691"/>
                <a:gd name="connsiteY12" fmla="*/ 21214 h 110566"/>
                <a:gd name="connsiteX13" fmla="*/ 23160 w 81691"/>
                <a:gd name="connsiteY13" fmla="*/ 42427 h 110566"/>
                <a:gd name="connsiteX14" fmla="*/ 44382 w 81691"/>
                <a:gd name="connsiteY14" fmla="*/ 35999 h 110566"/>
                <a:gd name="connsiteX15" fmla="*/ 81691 w 81691"/>
                <a:gd name="connsiteY15" fmla="*/ 71354 h 110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1691" h="110566">
                  <a:moveTo>
                    <a:pt x="81691" y="71354"/>
                  </a:moveTo>
                  <a:cubicBezTo>
                    <a:pt x="81691" y="95139"/>
                    <a:pt x="63679" y="110567"/>
                    <a:pt x="39881" y="110567"/>
                  </a:cubicBezTo>
                  <a:cubicBezTo>
                    <a:pt x="19298" y="110567"/>
                    <a:pt x="1291" y="98996"/>
                    <a:pt x="0" y="73925"/>
                  </a:cubicBezTo>
                  <a:lnTo>
                    <a:pt x="22512" y="73925"/>
                  </a:lnTo>
                  <a:cubicBezTo>
                    <a:pt x="23803" y="84853"/>
                    <a:pt x="32804" y="89354"/>
                    <a:pt x="42453" y="89354"/>
                  </a:cubicBezTo>
                  <a:cubicBezTo>
                    <a:pt x="54031" y="89354"/>
                    <a:pt x="59179" y="81639"/>
                    <a:pt x="59179" y="71354"/>
                  </a:cubicBezTo>
                  <a:cubicBezTo>
                    <a:pt x="59179" y="60426"/>
                    <a:pt x="51459" y="53998"/>
                    <a:pt x="39881" y="53998"/>
                  </a:cubicBezTo>
                  <a:cubicBezTo>
                    <a:pt x="30875" y="53998"/>
                    <a:pt x="24446" y="58498"/>
                    <a:pt x="21869" y="62997"/>
                  </a:cubicBezTo>
                  <a:lnTo>
                    <a:pt x="0" y="62997"/>
                  </a:lnTo>
                  <a:lnTo>
                    <a:pt x="7720" y="0"/>
                  </a:lnTo>
                  <a:lnTo>
                    <a:pt x="78472" y="0"/>
                  </a:lnTo>
                  <a:lnTo>
                    <a:pt x="75900" y="21214"/>
                  </a:lnTo>
                  <a:lnTo>
                    <a:pt x="25089" y="21214"/>
                  </a:lnTo>
                  <a:lnTo>
                    <a:pt x="23160" y="42427"/>
                  </a:lnTo>
                  <a:cubicBezTo>
                    <a:pt x="23160" y="42427"/>
                    <a:pt x="28304" y="35999"/>
                    <a:pt x="44382" y="35999"/>
                  </a:cubicBezTo>
                  <a:cubicBezTo>
                    <a:pt x="64965" y="35356"/>
                    <a:pt x="81691" y="48212"/>
                    <a:pt x="81691" y="71354"/>
                  </a:cubicBez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22" name="Полилиния: фигура 12">
              <a:extLst>
                <a:ext uri="{FF2B5EF4-FFF2-40B4-BE49-F238E27FC236}">
                  <a16:creationId xmlns:a16="http://schemas.microsoft.com/office/drawing/2014/main" id="{5EEB6770-9C53-4C36-8E20-3DCE5873EFB8}"/>
                </a:ext>
              </a:extLst>
            </p:cNvPr>
            <p:cNvSpPr/>
            <p:nvPr/>
          </p:nvSpPr>
          <p:spPr>
            <a:xfrm>
              <a:off x="428625" y="238125"/>
              <a:ext cx="225123" cy="201848"/>
            </a:xfrm>
            <a:custGeom>
              <a:avLst/>
              <a:gdLst>
                <a:gd name="connsiteX0" fmla="*/ 225123 w 225123"/>
                <a:gd name="connsiteY0" fmla="*/ 79711 h 201848"/>
                <a:gd name="connsiteX1" fmla="*/ 95841 w 225123"/>
                <a:gd name="connsiteY1" fmla="*/ 0 h 201848"/>
                <a:gd name="connsiteX2" fmla="*/ 0 w 225123"/>
                <a:gd name="connsiteY2" fmla="*/ 0 h 201848"/>
                <a:gd name="connsiteX3" fmla="*/ 12864 w 225123"/>
                <a:gd name="connsiteY3" fmla="*/ 87425 h 201848"/>
                <a:gd name="connsiteX4" fmla="*/ 106775 w 225123"/>
                <a:gd name="connsiteY4" fmla="*/ 201849 h 201848"/>
                <a:gd name="connsiteX5" fmla="*/ 108704 w 225123"/>
                <a:gd name="connsiteY5" fmla="*/ 199920 h 201848"/>
                <a:gd name="connsiteX6" fmla="*/ 107418 w 225123"/>
                <a:gd name="connsiteY6" fmla="*/ 198634 h 201848"/>
                <a:gd name="connsiteX7" fmla="*/ 59174 w 225123"/>
                <a:gd name="connsiteY7" fmla="*/ 82925 h 201848"/>
                <a:gd name="connsiteX8" fmla="*/ 53388 w 225123"/>
                <a:gd name="connsiteY8" fmla="*/ 43070 h 201848"/>
                <a:gd name="connsiteX9" fmla="*/ 108061 w 225123"/>
                <a:gd name="connsiteY9" fmla="*/ 43070 h 201848"/>
                <a:gd name="connsiteX10" fmla="*/ 221909 w 225123"/>
                <a:gd name="connsiteY10" fmla="*/ 80996 h 201848"/>
                <a:gd name="connsiteX11" fmla="*/ 223195 w 225123"/>
                <a:gd name="connsiteY11" fmla="*/ 81639 h 201848"/>
                <a:gd name="connsiteX12" fmla="*/ 225123 w 225123"/>
                <a:gd name="connsiteY12" fmla="*/ 79711 h 201848"/>
                <a:gd name="connsiteX13" fmla="*/ 225123 w 225123"/>
                <a:gd name="connsiteY13" fmla="*/ 79711 h 201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5123" h="201848">
                  <a:moveTo>
                    <a:pt x="225123" y="79711"/>
                  </a:moveTo>
                  <a:cubicBezTo>
                    <a:pt x="212903" y="32784"/>
                    <a:pt x="174955" y="0"/>
                    <a:pt x="95841" y="0"/>
                  </a:cubicBezTo>
                  <a:lnTo>
                    <a:pt x="0" y="0"/>
                  </a:lnTo>
                  <a:lnTo>
                    <a:pt x="12864" y="87425"/>
                  </a:lnTo>
                  <a:cubicBezTo>
                    <a:pt x="22512" y="167136"/>
                    <a:pt x="52745" y="192206"/>
                    <a:pt x="106775" y="201849"/>
                  </a:cubicBezTo>
                  <a:cubicBezTo>
                    <a:pt x="106775" y="201849"/>
                    <a:pt x="108704" y="201849"/>
                    <a:pt x="108704" y="199920"/>
                  </a:cubicBezTo>
                  <a:cubicBezTo>
                    <a:pt x="108704" y="199277"/>
                    <a:pt x="108061" y="198634"/>
                    <a:pt x="107418" y="198634"/>
                  </a:cubicBezTo>
                  <a:cubicBezTo>
                    <a:pt x="71395" y="183206"/>
                    <a:pt x="66894" y="133709"/>
                    <a:pt x="59174" y="82925"/>
                  </a:cubicBezTo>
                  <a:lnTo>
                    <a:pt x="53388" y="43070"/>
                  </a:lnTo>
                  <a:lnTo>
                    <a:pt x="108061" y="43070"/>
                  </a:lnTo>
                  <a:cubicBezTo>
                    <a:pt x="158229" y="43070"/>
                    <a:pt x="197468" y="42427"/>
                    <a:pt x="221909" y="80996"/>
                  </a:cubicBezTo>
                  <a:cubicBezTo>
                    <a:pt x="222552" y="81639"/>
                    <a:pt x="222552" y="81639"/>
                    <a:pt x="223195" y="81639"/>
                  </a:cubicBezTo>
                  <a:cubicBezTo>
                    <a:pt x="224480" y="82282"/>
                    <a:pt x="225123" y="80996"/>
                    <a:pt x="225123" y="79711"/>
                  </a:cubicBezTo>
                  <a:cubicBezTo>
                    <a:pt x="225123" y="80354"/>
                    <a:pt x="225123" y="79711"/>
                    <a:pt x="225123" y="79711"/>
                  </a:cubicBezTo>
                  <a:close/>
                </a:path>
              </a:pathLst>
            </a:custGeom>
            <a:solidFill>
              <a:srgbClr val="5FAF2D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23" name="Полилиния: фигура 13">
              <a:extLst>
                <a:ext uri="{FF2B5EF4-FFF2-40B4-BE49-F238E27FC236}">
                  <a16:creationId xmlns:a16="http://schemas.microsoft.com/office/drawing/2014/main" id="{704B2A9F-5975-4492-9E47-277C2F97FAE5}"/>
                </a:ext>
              </a:extLst>
            </p:cNvPr>
            <p:cNvSpPr/>
            <p:nvPr/>
          </p:nvSpPr>
          <p:spPr>
            <a:xfrm>
              <a:off x="750231" y="326836"/>
              <a:ext cx="112708" cy="116994"/>
            </a:xfrm>
            <a:custGeom>
              <a:avLst/>
              <a:gdLst>
                <a:gd name="connsiteX0" fmla="*/ 112562 w 112708"/>
                <a:gd name="connsiteY0" fmla="*/ 56569 h 116994"/>
                <a:gd name="connsiteX1" fmla="*/ 57245 w 112708"/>
                <a:gd name="connsiteY1" fmla="*/ 116995 h 116994"/>
                <a:gd name="connsiteX2" fmla="*/ 0 w 112708"/>
                <a:gd name="connsiteY2" fmla="*/ 58497 h 116994"/>
                <a:gd name="connsiteX3" fmla="*/ 57888 w 112708"/>
                <a:gd name="connsiteY3" fmla="*/ 0 h 116994"/>
                <a:gd name="connsiteX4" fmla="*/ 111276 w 112708"/>
                <a:gd name="connsiteY4" fmla="*/ 37284 h 116994"/>
                <a:gd name="connsiteX5" fmla="*/ 97126 w 112708"/>
                <a:gd name="connsiteY5" fmla="*/ 37284 h 116994"/>
                <a:gd name="connsiteX6" fmla="*/ 57888 w 112708"/>
                <a:gd name="connsiteY6" fmla="*/ 12856 h 116994"/>
                <a:gd name="connsiteX7" fmla="*/ 13506 w 112708"/>
                <a:gd name="connsiteY7" fmla="*/ 58497 h 116994"/>
                <a:gd name="connsiteX8" fmla="*/ 57888 w 112708"/>
                <a:gd name="connsiteY8" fmla="*/ 104138 h 116994"/>
                <a:gd name="connsiteX9" fmla="*/ 99055 w 112708"/>
                <a:gd name="connsiteY9" fmla="*/ 67497 h 116994"/>
                <a:gd name="connsiteX10" fmla="*/ 55316 w 112708"/>
                <a:gd name="connsiteY10" fmla="*/ 67497 h 116994"/>
                <a:gd name="connsiteX11" fmla="*/ 55316 w 112708"/>
                <a:gd name="connsiteY11" fmla="*/ 55926 h 116994"/>
                <a:gd name="connsiteX12" fmla="*/ 112562 w 112708"/>
                <a:gd name="connsiteY12" fmla="*/ 56569 h 116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2708" h="116994">
                  <a:moveTo>
                    <a:pt x="112562" y="56569"/>
                  </a:moveTo>
                  <a:cubicBezTo>
                    <a:pt x="112562" y="56569"/>
                    <a:pt x="118353" y="116995"/>
                    <a:pt x="57245" y="116995"/>
                  </a:cubicBezTo>
                  <a:cubicBezTo>
                    <a:pt x="25089" y="116995"/>
                    <a:pt x="0" y="92567"/>
                    <a:pt x="0" y="58497"/>
                  </a:cubicBezTo>
                  <a:cubicBezTo>
                    <a:pt x="0" y="25070"/>
                    <a:pt x="25089" y="0"/>
                    <a:pt x="57888" y="0"/>
                  </a:cubicBezTo>
                  <a:cubicBezTo>
                    <a:pt x="83620" y="0"/>
                    <a:pt x="103561" y="14785"/>
                    <a:pt x="111276" y="37284"/>
                  </a:cubicBezTo>
                  <a:lnTo>
                    <a:pt x="97126" y="37284"/>
                  </a:lnTo>
                  <a:cubicBezTo>
                    <a:pt x="90049" y="22499"/>
                    <a:pt x="75900" y="12856"/>
                    <a:pt x="57888" y="12856"/>
                  </a:cubicBezTo>
                  <a:cubicBezTo>
                    <a:pt x="32161" y="12856"/>
                    <a:pt x="13506" y="32141"/>
                    <a:pt x="13506" y="58497"/>
                  </a:cubicBezTo>
                  <a:cubicBezTo>
                    <a:pt x="13506" y="84211"/>
                    <a:pt x="31518" y="104138"/>
                    <a:pt x="57888" y="104138"/>
                  </a:cubicBezTo>
                  <a:cubicBezTo>
                    <a:pt x="80400" y="104138"/>
                    <a:pt x="97126" y="89996"/>
                    <a:pt x="99055" y="67497"/>
                  </a:cubicBezTo>
                  <a:lnTo>
                    <a:pt x="55316" y="67497"/>
                  </a:lnTo>
                  <a:lnTo>
                    <a:pt x="55316" y="55926"/>
                  </a:lnTo>
                  <a:lnTo>
                    <a:pt x="112562" y="56569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24" name="Полилиния: фигура 14">
              <a:extLst>
                <a:ext uri="{FF2B5EF4-FFF2-40B4-BE49-F238E27FC236}">
                  <a16:creationId xmlns:a16="http://schemas.microsoft.com/office/drawing/2014/main" id="{BF66DB3F-16E2-4916-9569-2606F626CD0E}"/>
                </a:ext>
              </a:extLst>
            </p:cNvPr>
            <p:cNvSpPr/>
            <p:nvPr/>
          </p:nvSpPr>
          <p:spPr>
            <a:xfrm>
              <a:off x="880800" y="351903"/>
              <a:ext cx="50815" cy="89353"/>
            </a:xfrm>
            <a:custGeom>
              <a:avLst/>
              <a:gdLst>
                <a:gd name="connsiteX0" fmla="*/ 50816 w 50815"/>
                <a:gd name="connsiteY0" fmla="*/ 0 h 89353"/>
                <a:gd name="connsiteX1" fmla="*/ 50816 w 50815"/>
                <a:gd name="connsiteY1" fmla="*/ 13499 h 89353"/>
                <a:gd name="connsiteX2" fmla="*/ 45025 w 50815"/>
                <a:gd name="connsiteY2" fmla="*/ 12857 h 89353"/>
                <a:gd name="connsiteX3" fmla="*/ 13511 w 50815"/>
                <a:gd name="connsiteY3" fmla="*/ 47569 h 89353"/>
                <a:gd name="connsiteX4" fmla="*/ 13511 w 50815"/>
                <a:gd name="connsiteY4" fmla="*/ 89354 h 89353"/>
                <a:gd name="connsiteX5" fmla="*/ 0 w 50815"/>
                <a:gd name="connsiteY5" fmla="*/ 89354 h 89353"/>
                <a:gd name="connsiteX6" fmla="*/ 0 w 50815"/>
                <a:gd name="connsiteY6" fmla="*/ 1929 h 89353"/>
                <a:gd name="connsiteX7" fmla="*/ 13511 w 50815"/>
                <a:gd name="connsiteY7" fmla="*/ 1929 h 89353"/>
                <a:gd name="connsiteX8" fmla="*/ 13511 w 50815"/>
                <a:gd name="connsiteY8" fmla="*/ 21857 h 89353"/>
                <a:gd name="connsiteX9" fmla="*/ 45025 w 50815"/>
                <a:gd name="connsiteY9" fmla="*/ 0 h 89353"/>
                <a:gd name="connsiteX10" fmla="*/ 50816 w 50815"/>
                <a:gd name="connsiteY10" fmla="*/ 0 h 89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0815" h="89353">
                  <a:moveTo>
                    <a:pt x="50816" y="0"/>
                  </a:moveTo>
                  <a:lnTo>
                    <a:pt x="50816" y="13499"/>
                  </a:lnTo>
                  <a:cubicBezTo>
                    <a:pt x="49530" y="13499"/>
                    <a:pt x="47601" y="12857"/>
                    <a:pt x="45025" y="12857"/>
                  </a:cubicBezTo>
                  <a:cubicBezTo>
                    <a:pt x="26375" y="12857"/>
                    <a:pt x="13511" y="25070"/>
                    <a:pt x="13511" y="47569"/>
                  </a:cubicBezTo>
                  <a:lnTo>
                    <a:pt x="13511" y="89354"/>
                  </a:lnTo>
                  <a:lnTo>
                    <a:pt x="0" y="89354"/>
                  </a:lnTo>
                  <a:lnTo>
                    <a:pt x="0" y="1929"/>
                  </a:lnTo>
                  <a:lnTo>
                    <a:pt x="13511" y="1929"/>
                  </a:lnTo>
                  <a:lnTo>
                    <a:pt x="13511" y="21857"/>
                  </a:lnTo>
                  <a:cubicBezTo>
                    <a:pt x="18655" y="8357"/>
                    <a:pt x="29589" y="0"/>
                    <a:pt x="45025" y="0"/>
                  </a:cubicBezTo>
                  <a:cubicBezTo>
                    <a:pt x="47601" y="0"/>
                    <a:pt x="49530" y="0"/>
                    <a:pt x="50816" y="0"/>
                  </a:cubicBez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25" name="Полилиния: фигура 15">
              <a:extLst>
                <a:ext uri="{FF2B5EF4-FFF2-40B4-BE49-F238E27FC236}">
                  <a16:creationId xmlns:a16="http://schemas.microsoft.com/office/drawing/2014/main" id="{CB960B10-815B-4FFA-B3E7-8C05F60CB33E}"/>
                </a:ext>
              </a:extLst>
            </p:cNvPr>
            <p:cNvSpPr/>
            <p:nvPr/>
          </p:nvSpPr>
          <p:spPr>
            <a:xfrm>
              <a:off x="938693" y="351903"/>
              <a:ext cx="91335" cy="92567"/>
            </a:xfrm>
            <a:custGeom>
              <a:avLst/>
              <a:gdLst>
                <a:gd name="connsiteX0" fmla="*/ 91335 w 91335"/>
                <a:gd name="connsiteY0" fmla="*/ 46284 h 92567"/>
                <a:gd name="connsiteX1" fmla="*/ 45668 w 91335"/>
                <a:gd name="connsiteY1" fmla="*/ 92568 h 92567"/>
                <a:gd name="connsiteX2" fmla="*/ 0 w 91335"/>
                <a:gd name="connsiteY2" fmla="*/ 46284 h 92567"/>
                <a:gd name="connsiteX3" fmla="*/ 45668 w 91335"/>
                <a:gd name="connsiteY3" fmla="*/ 0 h 92567"/>
                <a:gd name="connsiteX4" fmla="*/ 91335 w 91335"/>
                <a:gd name="connsiteY4" fmla="*/ 46284 h 92567"/>
                <a:gd name="connsiteX5" fmla="*/ 12864 w 91335"/>
                <a:gd name="connsiteY5" fmla="*/ 46284 h 92567"/>
                <a:gd name="connsiteX6" fmla="*/ 45025 w 91335"/>
                <a:gd name="connsiteY6" fmla="*/ 79711 h 92567"/>
                <a:gd name="connsiteX7" fmla="*/ 77181 w 91335"/>
                <a:gd name="connsiteY7" fmla="*/ 46284 h 92567"/>
                <a:gd name="connsiteX8" fmla="*/ 45025 w 91335"/>
                <a:gd name="connsiteY8" fmla="*/ 12857 h 92567"/>
                <a:gd name="connsiteX9" fmla="*/ 12864 w 91335"/>
                <a:gd name="connsiteY9" fmla="*/ 46284 h 92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335" h="92567">
                  <a:moveTo>
                    <a:pt x="91335" y="46284"/>
                  </a:moveTo>
                  <a:cubicBezTo>
                    <a:pt x="91335" y="72640"/>
                    <a:pt x="71395" y="92568"/>
                    <a:pt x="45668" y="92568"/>
                  </a:cubicBezTo>
                  <a:cubicBezTo>
                    <a:pt x="19936" y="92568"/>
                    <a:pt x="0" y="72640"/>
                    <a:pt x="0" y="46284"/>
                  </a:cubicBezTo>
                  <a:cubicBezTo>
                    <a:pt x="0" y="19928"/>
                    <a:pt x="20579" y="0"/>
                    <a:pt x="45668" y="0"/>
                  </a:cubicBezTo>
                  <a:cubicBezTo>
                    <a:pt x="70752" y="0"/>
                    <a:pt x="91335" y="19285"/>
                    <a:pt x="91335" y="46284"/>
                  </a:cubicBezTo>
                  <a:close/>
                  <a:moveTo>
                    <a:pt x="12864" y="46284"/>
                  </a:moveTo>
                  <a:cubicBezTo>
                    <a:pt x="12864" y="65569"/>
                    <a:pt x="27013" y="79711"/>
                    <a:pt x="45025" y="79711"/>
                  </a:cubicBezTo>
                  <a:cubicBezTo>
                    <a:pt x="63032" y="79711"/>
                    <a:pt x="77181" y="65569"/>
                    <a:pt x="77181" y="46284"/>
                  </a:cubicBezTo>
                  <a:cubicBezTo>
                    <a:pt x="77181" y="26999"/>
                    <a:pt x="63032" y="12857"/>
                    <a:pt x="45025" y="12857"/>
                  </a:cubicBezTo>
                  <a:cubicBezTo>
                    <a:pt x="27656" y="12857"/>
                    <a:pt x="12864" y="26356"/>
                    <a:pt x="12864" y="46284"/>
                  </a:cubicBez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26" name="Полилиния: фигура 16">
              <a:extLst>
                <a:ext uri="{FF2B5EF4-FFF2-40B4-BE49-F238E27FC236}">
                  <a16:creationId xmlns:a16="http://schemas.microsoft.com/office/drawing/2014/main" id="{CBA0FD59-7588-4A82-AA06-97354E2FBB45}"/>
                </a:ext>
              </a:extLst>
            </p:cNvPr>
            <p:cNvSpPr/>
            <p:nvPr/>
          </p:nvSpPr>
          <p:spPr>
            <a:xfrm>
              <a:off x="1046106" y="353838"/>
              <a:ext cx="76542" cy="90638"/>
            </a:xfrm>
            <a:custGeom>
              <a:avLst/>
              <a:gdLst>
                <a:gd name="connsiteX0" fmla="*/ 76543 w 76542"/>
                <a:gd name="connsiteY0" fmla="*/ 0 h 90638"/>
                <a:gd name="connsiteX1" fmla="*/ 76543 w 76542"/>
                <a:gd name="connsiteY1" fmla="*/ 88710 h 90638"/>
                <a:gd name="connsiteX2" fmla="*/ 63036 w 76542"/>
                <a:gd name="connsiteY2" fmla="*/ 88710 h 90638"/>
                <a:gd name="connsiteX3" fmla="*/ 63036 w 76542"/>
                <a:gd name="connsiteY3" fmla="*/ 71354 h 90638"/>
                <a:gd name="connsiteX4" fmla="*/ 31518 w 76542"/>
                <a:gd name="connsiteY4" fmla="*/ 90639 h 90638"/>
                <a:gd name="connsiteX5" fmla="*/ 0 w 76542"/>
                <a:gd name="connsiteY5" fmla="*/ 56569 h 90638"/>
                <a:gd name="connsiteX6" fmla="*/ 0 w 76542"/>
                <a:gd name="connsiteY6" fmla="*/ 0 h 90638"/>
                <a:gd name="connsiteX7" fmla="*/ 13506 w 76542"/>
                <a:gd name="connsiteY7" fmla="*/ 0 h 90638"/>
                <a:gd name="connsiteX8" fmla="*/ 13506 w 76542"/>
                <a:gd name="connsiteY8" fmla="*/ 53998 h 90638"/>
                <a:gd name="connsiteX9" fmla="*/ 35376 w 76542"/>
                <a:gd name="connsiteY9" fmla="*/ 77782 h 90638"/>
                <a:gd name="connsiteX10" fmla="*/ 63036 w 76542"/>
                <a:gd name="connsiteY10" fmla="*/ 45641 h 90638"/>
                <a:gd name="connsiteX11" fmla="*/ 63036 w 76542"/>
                <a:gd name="connsiteY11" fmla="*/ 0 h 90638"/>
                <a:gd name="connsiteX12" fmla="*/ 76543 w 76542"/>
                <a:gd name="connsiteY12" fmla="*/ 0 h 90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6542" h="90638">
                  <a:moveTo>
                    <a:pt x="76543" y="0"/>
                  </a:moveTo>
                  <a:lnTo>
                    <a:pt x="76543" y="88710"/>
                  </a:lnTo>
                  <a:lnTo>
                    <a:pt x="63036" y="88710"/>
                  </a:lnTo>
                  <a:lnTo>
                    <a:pt x="63036" y="71354"/>
                  </a:lnTo>
                  <a:cubicBezTo>
                    <a:pt x="57245" y="82925"/>
                    <a:pt x="46954" y="90639"/>
                    <a:pt x="31518" y="90639"/>
                  </a:cubicBezTo>
                  <a:cubicBezTo>
                    <a:pt x="11578" y="90639"/>
                    <a:pt x="0" y="77782"/>
                    <a:pt x="0" y="56569"/>
                  </a:cubicBezTo>
                  <a:lnTo>
                    <a:pt x="0" y="0"/>
                  </a:lnTo>
                  <a:lnTo>
                    <a:pt x="13506" y="0"/>
                  </a:lnTo>
                  <a:lnTo>
                    <a:pt x="13506" y="53998"/>
                  </a:lnTo>
                  <a:cubicBezTo>
                    <a:pt x="13506" y="70068"/>
                    <a:pt x="21226" y="77782"/>
                    <a:pt x="35376" y="77782"/>
                  </a:cubicBezTo>
                  <a:cubicBezTo>
                    <a:pt x="52745" y="77782"/>
                    <a:pt x="63036" y="64926"/>
                    <a:pt x="63036" y="45641"/>
                  </a:cubicBezTo>
                  <a:lnTo>
                    <a:pt x="63036" y="0"/>
                  </a:lnTo>
                  <a:lnTo>
                    <a:pt x="76543" y="0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27" name="Полилиния: фигура 17">
              <a:extLst>
                <a:ext uri="{FF2B5EF4-FFF2-40B4-BE49-F238E27FC236}">
                  <a16:creationId xmlns:a16="http://schemas.microsoft.com/office/drawing/2014/main" id="{71589F7C-8455-4C16-B4EA-B2876329F398}"/>
                </a:ext>
              </a:extLst>
            </p:cNvPr>
            <p:cNvSpPr/>
            <p:nvPr/>
          </p:nvSpPr>
          <p:spPr>
            <a:xfrm>
              <a:off x="1142590" y="351903"/>
              <a:ext cx="88763" cy="131137"/>
            </a:xfrm>
            <a:custGeom>
              <a:avLst/>
              <a:gdLst>
                <a:gd name="connsiteX0" fmla="*/ 88763 w 88763"/>
                <a:gd name="connsiteY0" fmla="*/ 46284 h 131137"/>
                <a:gd name="connsiteX1" fmla="*/ 46953 w 88763"/>
                <a:gd name="connsiteY1" fmla="*/ 92568 h 131137"/>
                <a:gd name="connsiteX2" fmla="*/ 12864 w 88763"/>
                <a:gd name="connsiteY2" fmla="*/ 72640 h 131137"/>
                <a:gd name="connsiteX3" fmla="*/ 12864 w 88763"/>
                <a:gd name="connsiteY3" fmla="*/ 131137 h 131137"/>
                <a:gd name="connsiteX4" fmla="*/ 0 w 88763"/>
                <a:gd name="connsiteY4" fmla="*/ 131137 h 131137"/>
                <a:gd name="connsiteX5" fmla="*/ 0 w 88763"/>
                <a:gd name="connsiteY5" fmla="*/ 1929 h 131137"/>
                <a:gd name="connsiteX6" fmla="*/ 13506 w 88763"/>
                <a:gd name="connsiteY6" fmla="*/ 1929 h 131137"/>
                <a:gd name="connsiteX7" fmla="*/ 13506 w 88763"/>
                <a:gd name="connsiteY7" fmla="*/ 19928 h 131137"/>
                <a:gd name="connsiteX8" fmla="*/ 47596 w 88763"/>
                <a:gd name="connsiteY8" fmla="*/ 0 h 131137"/>
                <a:gd name="connsiteX9" fmla="*/ 88763 w 88763"/>
                <a:gd name="connsiteY9" fmla="*/ 46284 h 131137"/>
                <a:gd name="connsiteX10" fmla="*/ 75257 w 88763"/>
                <a:gd name="connsiteY10" fmla="*/ 46284 h 131137"/>
                <a:gd name="connsiteX11" fmla="*/ 44382 w 88763"/>
                <a:gd name="connsiteY11" fmla="*/ 12857 h 131137"/>
                <a:gd name="connsiteX12" fmla="*/ 12221 w 88763"/>
                <a:gd name="connsiteY12" fmla="*/ 46284 h 131137"/>
                <a:gd name="connsiteX13" fmla="*/ 44382 w 88763"/>
                <a:gd name="connsiteY13" fmla="*/ 79711 h 131137"/>
                <a:gd name="connsiteX14" fmla="*/ 75257 w 88763"/>
                <a:gd name="connsiteY14" fmla="*/ 46284 h 131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8763" h="131137">
                  <a:moveTo>
                    <a:pt x="88763" y="46284"/>
                  </a:moveTo>
                  <a:cubicBezTo>
                    <a:pt x="88763" y="73282"/>
                    <a:pt x="71395" y="92568"/>
                    <a:pt x="46953" y="92568"/>
                  </a:cubicBezTo>
                  <a:cubicBezTo>
                    <a:pt x="31518" y="92568"/>
                    <a:pt x="19941" y="84853"/>
                    <a:pt x="12864" y="72640"/>
                  </a:cubicBezTo>
                  <a:lnTo>
                    <a:pt x="12864" y="131137"/>
                  </a:lnTo>
                  <a:lnTo>
                    <a:pt x="0" y="131137"/>
                  </a:lnTo>
                  <a:lnTo>
                    <a:pt x="0" y="1929"/>
                  </a:lnTo>
                  <a:lnTo>
                    <a:pt x="13506" y="1929"/>
                  </a:lnTo>
                  <a:lnTo>
                    <a:pt x="13506" y="19928"/>
                  </a:lnTo>
                  <a:cubicBezTo>
                    <a:pt x="20583" y="7714"/>
                    <a:pt x="32161" y="0"/>
                    <a:pt x="47596" y="0"/>
                  </a:cubicBezTo>
                  <a:cubicBezTo>
                    <a:pt x="71395" y="0"/>
                    <a:pt x="88763" y="19285"/>
                    <a:pt x="88763" y="46284"/>
                  </a:cubicBezTo>
                  <a:close/>
                  <a:moveTo>
                    <a:pt x="75257" y="46284"/>
                  </a:moveTo>
                  <a:cubicBezTo>
                    <a:pt x="75257" y="26999"/>
                    <a:pt x="62394" y="12857"/>
                    <a:pt x="44382" y="12857"/>
                  </a:cubicBezTo>
                  <a:cubicBezTo>
                    <a:pt x="26370" y="12857"/>
                    <a:pt x="12221" y="26999"/>
                    <a:pt x="12221" y="46284"/>
                  </a:cubicBezTo>
                  <a:cubicBezTo>
                    <a:pt x="12221" y="65569"/>
                    <a:pt x="25727" y="79711"/>
                    <a:pt x="44382" y="79711"/>
                  </a:cubicBezTo>
                  <a:cubicBezTo>
                    <a:pt x="63036" y="79711"/>
                    <a:pt x="75257" y="65569"/>
                    <a:pt x="75257" y="46284"/>
                  </a:cubicBez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9740D079-FD06-4042-8C12-6CB7FE9CEB4D}"/>
              </a:ext>
            </a:extLst>
          </p:cNvPr>
          <p:cNvSpPr txBox="1"/>
          <p:nvPr/>
        </p:nvSpPr>
        <p:spPr>
          <a:xfrm>
            <a:off x="160379" y="348403"/>
            <a:ext cx="115355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ru-RU" sz="2000" b="1" spc="-20" dirty="0">
                <a:latin typeface="X5 Sans Medium" panose="020B0503020203020204" pitchFamily="34" charset="0"/>
                <a:ea typeface="X5 Sans Medium" panose="020B0503020203020204" pitchFamily="34" charset="0"/>
                <a:cs typeface="Open Sans Bold" panose="020B0604020202020204" charset="0"/>
              </a:rPr>
              <a:t>Приоритезация и особенности</a:t>
            </a:r>
          </a:p>
        </p:txBody>
      </p:sp>
      <p:sp>
        <p:nvSpPr>
          <p:cNvPr id="51" name="Номер слайда 6">
            <a:extLst>
              <a:ext uri="{FF2B5EF4-FFF2-40B4-BE49-F238E27FC236}">
                <a16:creationId xmlns:a16="http://schemas.microsoft.com/office/drawing/2014/main" id="{E86BEAF8-EAAF-4D2C-A912-0E6931DAA2C0}"/>
              </a:ext>
            </a:extLst>
          </p:cNvPr>
          <p:cNvSpPr txBox="1">
            <a:spLocks/>
          </p:cNvSpPr>
          <p:nvPr/>
        </p:nvSpPr>
        <p:spPr>
          <a:xfrm>
            <a:off x="11665862" y="527988"/>
            <a:ext cx="318135" cy="11864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ru-RU"/>
            </a:defPPr>
            <a:lvl1pPr marL="0" algn="ctr" defTabSz="914400" rtl="0" eaLnBrk="1" latinLnBrk="0" hangingPunct="1">
              <a:defRPr sz="800" b="0" kern="12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  <a:cs typeface="Open Sans SemiBold" panose="020B07060308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C96FE9D3-F4ED-4A78-AE68-5D32F6CAB728}" type="slidenum">
              <a:rPr lang="ru-RU" smtClean="0">
                <a:solidFill>
                  <a:srgbClr val="FFFFFF"/>
                </a:solidFill>
              </a:rPr>
              <a:pPr>
                <a:defRPr/>
              </a:pPr>
              <a:t>4</a:t>
            </a:fld>
            <a:endParaRPr lang="ru-RU" dirty="0">
              <a:solidFill>
                <a:srgbClr val="FFFFFF"/>
              </a:solidFill>
            </a:endParaRPr>
          </a:p>
        </p:txBody>
      </p:sp>
      <p:sp>
        <p:nvSpPr>
          <p:cNvPr id="52" name="Овал 51">
            <a:extLst>
              <a:ext uri="{FF2B5EF4-FFF2-40B4-BE49-F238E27FC236}">
                <a16:creationId xmlns:a16="http://schemas.microsoft.com/office/drawing/2014/main" id="{B131399C-3E82-4528-A708-BC80F405FF40}"/>
              </a:ext>
            </a:extLst>
          </p:cNvPr>
          <p:cNvSpPr/>
          <p:nvPr/>
        </p:nvSpPr>
        <p:spPr>
          <a:xfrm>
            <a:off x="11865777" y="62653"/>
            <a:ext cx="285750" cy="285750"/>
          </a:xfrm>
          <a:prstGeom prst="ellipse">
            <a:avLst/>
          </a:prstGeom>
          <a:solidFill>
            <a:srgbClr val="5FAF2D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191923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3" name="Номер слайда 6">
            <a:extLst>
              <a:ext uri="{FF2B5EF4-FFF2-40B4-BE49-F238E27FC236}">
                <a16:creationId xmlns:a16="http://schemas.microsoft.com/office/drawing/2014/main" id="{1B12D6C9-405B-4DB5-B70D-57127FD18902}"/>
              </a:ext>
            </a:extLst>
          </p:cNvPr>
          <p:cNvSpPr txBox="1">
            <a:spLocks/>
          </p:cNvSpPr>
          <p:nvPr/>
        </p:nvSpPr>
        <p:spPr>
          <a:xfrm>
            <a:off x="11849584" y="146205"/>
            <a:ext cx="318135" cy="11864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ru-RU"/>
            </a:defPPr>
            <a:lvl1pPr marL="0" algn="ctr" defTabSz="914400" rtl="0" eaLnBrk="1" latinLnBrk="0" hangingPunct="1">
              <a:defRPr sz="800" b="0" kern="12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  <a:cs typeface="Open Sans SemiBold" panose="020B07060308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C96FE9D3-F4ED-4A78-AE68-5D32F6CAB728}" type="slidenum">
              <a:rPr lang="ru-RU" smtClean="0">
                <a:solidFill>
                  <a:srgbClr val="FFFFFF"/>
                </a:solidFill>
              </a:rPr>
              <a:pPr>
                <a:defRPr/>
              </a:pPr>
              <a:t>4</a:t>
            </a:fld>
            <a:endParaRPr lang="ru-RU" dirty="0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98E33D-C3A3-4894-B376-927C56D9E9C7}"/>
              </a:ext>
            </a:extLst>
          </p:cNvPr>
          <p:cNvSpPr txBox="1"/>
          <p:nvPr/>
        </p:nvSpPr>
        <p:spPr>
          <a:xfrm>
            <a:off x="160379" y="789348"/>
            <a:ext cx="67289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1. Поэтапный подход: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A00F58E2-9C65-44C0-9733-53C10C556B51}"/>
              </a:ext>
            </a:extLst>
          </p:cNvPr>
          <p:cNvSpPr/>
          <p:nvPr/>
        </p:nvSpPr>
        <p:spPr>
          <a:xfrm>
            <a:off x="498028" y="1127902"/>
            <a:ext cx="5395330" cy="3161780"/>
          </a:xfrm>
          <a:prstGeom prst="roundRect">
            <a:avLst>
              <a:gd name="adj" fmla="val 801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600" b="1" dirty="0">
                <a:solidFill>
                  <a:schemeClr val="tx1"/>
                </a:solidFill>
              </a:rPr>
              <a:t>1 этап</a:t>
            </a:r>
          </a:p>
          <a:p>
            <a:pPr algn="ctr"/>
            <a:r>
              <a:rPr lang="ru-RU" sz="1600" b="1" dirty="0">
                <a:solidFill>
                  <a:schemeClr val="tx1"/>
                </a:solidFill>
              </a:rPr>
              <a:t>Платформы -</a:t>
            </a:r>
            <a:r>
              <a:rPr lang="en-US" sz="1600" b="1" dirty="0">
                <a:solidFill>
                  <a:schemeClr val="tx1"/>
                </a:solidFill>
              </a:rPr>
              <a:t>&gt; </a:t>
            </a:r>
            <a:r>
              <a:rPr lang="ru-RU" sz="1600" b="1" dirty="0">
                <a:solidFill>
                  <a:schemeClr val="tx1"/>
                </a:solidFill>
              </a:rPr>
              <a:t>продукты</a:t>
            </a:r>
          </a:p>
          <a:p>
            <a:endParaRPr lang="ru-RU" sz="1600" dirty="0">
              <a:solidFill>
                <a:schemeClr val="tx1"/>
              </a:solidFill>
            </a:endParaRPr>
          </a:p>
          <a:p>
            <a:r>
              <a:rPr lang="ru-RU" sz="1600" dirty="0">
                <a:solidFill>
                  <a:schemeClr val="tx1"/>
                </a:solidFill>
              </a:rPr>
              <a:t>Приоритезация: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Сфера </a:t>
            </a:r>
            <a:r>
              <a:rPr lang="en-US" sz="1600" dirty="0">
                <a:solidFill>
                  <a:schemeClr val="tx1"/>
                </a:solidFill>
              </a:rPr>
              <a:t>(</a:t>
            </a:r>
            <a:r>
              <a:rPr lang="ru-RU" sz="1600" dirty="0">
                <a:solidFill>
                  <a:schemeClr val="tx1"/>
                </a:solidFill>
              </a:rPr>
              <a:t>за исключением ТОРГ)</a:t>
            </a:r>
          </a:p>
          <a:p>
            <a:pPr lvl="1"/>
            <a:r>
              <a:rPr lang="ru-RU" sz="1600" i="1" dirty="0">
                <a:solidFill>
                  <a:schemeClr val="tx1"/>
                </a:solidFill>
              </a:rPr>
              <a:t>Цифровые продукты за исключением ТОРГ </a:t>
            </a:r>
            <a:r>
              <a:rPr lang="en-US" sz="1600" i="1" dirty="0">
                <a:solidFill>
                  <a:schemeClr val="tx1"/>
                </a:solidFill>
              </a:rPr>
              <a:t>HR</a:t>
            </a:r>
            <a:endParaRPr lang="ru-RU" sz="1600" i="1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Аура*</a:t>
            </a:r>
          </a:p>
          <a:p>
            <a:pPr lvl="1"/>
            <a:r>
              <a:rPr lang="ru-RU" sz="1600" i="1" dirty="0">
                <a:solidFill>
                  <a:schemeClr val="tx1"/>
                </a:solidFill>
              </a:rPr>
              <a:t>Операции и </a:t>
            </a:r>
            <a:r>
              <a:rPr lang="ru-RU" sz="1600" i="1" dirty="0" err="1">
                <a:solidFill>
                  <a:schemeClr val="tx1"/>
                </a:solidFill>
              </a:rPr>
              <a:t>проактивно</a:t>
            </a:r>
            <a:r>
              <a:rPr lang="ru-RU" sz="1600" i="1" dirty="0">
                <a:solidFill>
                  <a:schemeClr val="tx1"/>
                </a:solidFill>
              </a:rPr>
              <a:t> цифровое ядро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Орбита (КД МАКС)</a:t>
            </a:r>
          </a:p>
          <a:p>
            <a:pPr marL="800100" lvl="1" indent="-342900">
              <a:buFont typeface="+mj-lt"/>
              <a:buAutoNum type="alphaLcPeriod"/>
            </a:pPr>
            <a:r>
              <a:rPr lang="ru-RU" sz="1600" i="1" dirty="0">
                <a:solidFill>
                  <a:schemeClr val="tx1"/>
                </a:solidFill>
              </a:rPr>
              <a:t>Ценообразование</a:t>
            </a:r>
          </a:p>
          <a:p>
            <a:pPr marL="800100" lvl="1" indent="-342900">
              <a:buFont typeface="+mj-lt"/>
              <a:buAutoNum type="alphaLcPeriod"/>
            </a:pPr>
            <a:r>
              <a:rPr lang="ru-RU" sz="1600" i="1" dirty="0">
                <a:solidFill>
                  <a:schemeClr val="tx1"/>
                </a:solidFill>
              </a:rPr>
              <a:t>Ассортимент</a:t>
            </a:r>
          </a:p>
          <a:p>
            <a:pPr marL="800100" lvl="1" indent="-342900">
              <a:buFont typeface="+mj-lt"/>
              <a:buAutoNum type="alphaLcPeriod"/>
            </a:pPr>
            <a:r>
              <a:rPr lang="ru-RU" sz="1600" i="1" dirty="0">
                <a:solidFill>
                  <a:schemeClr val="tx1"/>
                </a:solidFill>
              </a:rPr>
              <a:t>Работа </a:t>
            </a:r>
            <a:r>
              <a:rPr lang="ru-RU" sz="1600" i="1">
                <a:solidFill>
                  <a:schemeClr val="tx1"/>
                </a:solidFill>
              </a:rPr>
              <a:t>с поставщиками</a:t>
            </a:r>
            <a:endParaRPr lang="ru-RU" sz="1600" i="1" dirty="0">
              <a:solidFill>
                <a:schemeClr val="tx1"/>
              </a:solidFill>
            </a:endParaRP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9E9E5724-0AAE-4E1B-8A73-F9F35BDB1AC2}"/>
              </a:ext>
            </a:extLst>
          </p:cNvPr>
          <p:cNvSpPr/>
          <p:nvPr/>
        </p:nvSpPr>
        <p:spPr>
          <a:xfrm>
            <a:off x="6423206" y="1127901"/>
            <a:ext cx="5395330" cy="3161780"/>
          </a:xfrm>
          <a:prstGeom prst="roundRect">
            <a:avLst>
              <a:gd name="adj" fmla="val 801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600" b="1" dirty="0">
                <a:solidFill>
                  <a:schemeClr val="tx1"/>
                </a:solidFill>
              </a:rPr>
              <a:t>2 этап</a:t>
            </a:r>
          </a:p>
          <a:p>
            <a:pPr algn="ctr"/>
            <a:r>
              <a:rPr lang="ru-RU" sz="1600" b="1" dirty="0">
                <a:solidFill>
                  <a:schemeClr val="tx1"/>
                </a:solidFill>
              </a:rPr>
              <a:t>ТОРГ</a:t>
            </a:r>
          </a:p>
          <a:p>
            <a:endParaRPr lang="ru-RU" sz="1600" dirty="0">
              <a:solidFill>
                <a:schemeClr val="tx1"/>
              </a:solidFill>
            </a:endParaRPr>
          </a:p>
          <a:p>
            <a:r>
              <a:rPr lang="ru-RU" sz="1600" dirty="0">
                <a:solidFill>
                  <a:schemeClr val="tx1"/>
                </a:solidFill>
              </a:rPr>
              <a:t>Определение подразделений, использующих ТОРГ. </a:t>
            </a:r>
            <a:r>
              <a:rPr lang="ru-RU" sz="1600" i="1" dirty="0">
                <a:solidFill>
                  <a:schemeClr val="tx1"/>
                </a:solidFill>
              </a:rPr>
              <a:t>Приоритезация будет определена по мере детализации концепции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E19EC7C-4C5B-40E6-AA73-D8DA69B2B6BA}"/>
              </a:ext>
            </a:extLst>
          </p:cNvPr>
          <p:cNvSpPr txBox="1"/>
          <p:nvPr/>
        </p:nvSpPr>
        <p:spPr>
          <a:xfrm>
            <a:off x="248747" y="4289682"/>
            <a:ext cx="1161703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2. Дорожная карта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/>
              <a:t>На уровне ДР формируется </a:t>
            </a:r>
            <a:r>
              <a:rPr lang="ru-RU" sz="1600" dirty="0" err="1"/>
              <a:t>верхнеуровневая</a:t>
            </a:r>
            <a:r>
              <a:rPr lang="ru-RU" sz="1600" dirty="0"/>
              <a:t> дорожная карта с шагами по каждому продукту/подразделению.</a:t>
            </a:r>
            <a:r>
              <a:rPr lang="en-US" sz="1600" dirty="0"/>
              <a:t> </a:t>
            </a:r>
            <a:r>
              <a:rPr lang="ru-RU" sz="1600" dirty="0"/>
              <a:t>Длительность шага </a:t>
            </a:r>
            <a:r>
              <a:rPr lang="en-US" sz="1600" dirty="0"/>
              <a:t>~</a:t>
            </a:r>
            <a:r>
              <a:rPr lang="ru-RU" sz="1600" dirty="0"/>
              <a:t>3 месяца.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/>
              <a:t>Дорожная карта должна учитывать проработку ВНД.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/>
              <a:t>В аналогичных процессах разных ТС проводим идентификацию рисков в разные периоды без правки ролей и ролевой модели, если используются шаблонные роли для разных ТС. Корректировка таких ролей должна осуществляться централизовано (</a:t>
            </a:r>
            <a:r>
              <a:rPr lang="ru-RU" sz="1600" i="1" dirty="0"/>
              <a:t>требуется проработка концепции, предложено привлекать ДР</a:t>
            </a:r>
            <a:r>
              <a:rPr lang="ru-RU" sz="1600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/>
              <a:t>Учесть возможность пилота.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37AA2B-852D-45D4-9789-5203D8FF0F49}"/>
              </a:ext>
            </a:extLst>
          </p:cNvPr>
          <p:cNvSpPr txBox="1"/>
          <p:nvPr/>
        </p:nvSpPr>
        <p:spPr>
          <a:xfrm>
            <a:off x="195675" y="6373241"/>
            <a:ext cx="118006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solidFill>
                  <a:srgbClr val="FF0000"/>
                </a:solidFill>
              </a:rPr>
              <a:t>* Приоритезация платформ обсуждается: рассматривается вариант 1. Сфера, 2. Орбита, 3. Аура</a:t>
            </a:r>
          </a:p>
        </p:txBody>
      </p:sp>
    </p:spTree>
    <p:extLst>
      <p:ext uri="{BB962C8B-B14F-4D97-AF65-F5344CB8AC3E}">
        <p14:creationId xmlns:p14="http://schemas.microsoft.com/office/powerpoint/2010/main" val="133270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C4D2ED8E-72FC-4231-A2C5-27E1268B7B06}"/>
              </a:ext>
            </a:extLst>
          </p:cNvPr>
          <p:cNvGrpSpPr/>
          <p:nvPr/>
        </p:nvGrpSpPr>
        <p:grpSpPr>
          <a:xfrm>
            <a:off x="63714" y="62653"/>
            <a:ext cx="802728" cy="244915"/>
            <a:chOff x="428625" y="238125"/>
            <a:chExt cx="802728" cy="244915"/>
          </a:xfrm>
        </p:grpSpPr>
        <p:sp>
          <p:nvSpPr>
            <p:cNvPr id="20" name="Полилиния: фигура 10">
              <a:extLst>
                <a:ext uri="{FF2B5EF4-FFF2-40B4-BE49-F238E27FC236}">
                  <a16:creationId xmlns:a16="http://schemas.microsoft.com/office/drawing/2014/main" id="{E9C3ACDA-9615-4FF7-AC91-25E54209AF0D}"/>
                </a:ext>
              </a:extLst>
            </p:cNvPr>
            <p:cNvSpPr/>
            <p:nvPr/>
          </p:nvSpPr>
          <p:spPr>
            <a:xfrm>
              <a:off x="548259" y="331338"/>
              <a:ext cx="98412" cy="109280"/>
            </a:xfrm>
            <a:custGeom>
              <a:avLst/>
              <a:gdLst>
                <a:gd name="connsiteX0" fmla="*/ 72042 w 98412"/>
                <a:gd name="connsiteY0" fmla="*/ 109281 h 109280"/>
                <a:gd name="connsiteX1" fmla="*/ 49530 w 98412"/>
                <a:gd name="connsiteY1" fmla="*/ 71354 h 109280"/>
                <a:gd name="connsiteX2" fmla="*/ 27018 w 98412"/>
                <a:gd name="connsiteY2" fmla="*/ 109281 h 109280"/>
                <a:gd name="connsiteX3" fmla="*/ 643 w 98412"/>
                <a:gd name="connsiteY3" fmla="*/ 109281 h 109280"/>
                <a:gd name="connsiteX4" fmla="*/ 34733 w 98412"/>
                <a:gd name="connsiteY4" fmla="*/ 52712 h 109280"/>
                <a:gd name="connsiteX5" fmla="*/ 0 w 98412"/>
                <a:gd name="connsiteY5" fmla="*/ 0 h 109280"/>
                <a:gd name="connsiteX6" fmla="*/ 27661 w 98412"/>
                <a:gd name="connsiteY6" fmla="*/ 0 h 109280"/>
                <a:gd name="connsiteX7" fmla="*/ 50173 w 98412"/>
                <a:gd name="connsiteY7" fmla="*/ 35355 h 109280"/>
                <a:gd name="connsiteX8" fmla="*/ 71395 w 98412"/>
                <a:gd name="connsiteY8" fmla="*/ 0 h 109280"/>
                <a:gd name="connsiteX9" fmla="*/ 97769 w 98412"/>
                <a:gd name="connsiteY9" fmla="*/ 0 h 109280"/>
                <a:gd name="connsiteX10" fmla="*/ 63679 w 98412"/>
                <a:gd name="connsiteY10" fmla="*/ 53998 h 109280"/>
                <a:gd name="connsiteX11" fmla="*/ 98412 w 98412"/>
                <a:gd name="connsiteY11" fmla="*/ 109281 h 109280"/>
                <a:gd name="connsiteX12" fmla="*/ 72042 w 98412"/>
                <a:gd name="connsiteY12" fmla="*/ 109281 h 109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412" h="109280">
                  <a:moveTo>
                    <a:pt x="72042" y="109281"/>
                  </a:moveTo>
                  <a:lnTo>
                    <a:pt x="49530" y="71354"/>
                  </a:lnTo>
                  <a:lnTo>
                    <a:pt x="27018" y="109281"/>
                  </a:lnTo>
                  <a:lnTo>
                    <a:pt x="643" y="109281"/>
                  </a:lnTo>
                  <a:lnTo>
                    <a:pt x="34733" y="52712"/>
                  </a:lnTo>
                  <a:lnTo>
                    <a:pt x="0" y="0"/>
                  </a:lnTo>
                  <a:lnTo>
                    <a:pt x="27661" y="0"/>
                  </a:lnTo>
                  <a:lnTo>
                    <a:pt x="50173" y="35355"/>
                  </a:lnTo>
                  <a:lnTo>
                    <a:pt x="71395" y="0"/>
                  </a:lnTo>
                  <a:lnTo>
                    <a:pt x="97769" y="0"/>
                  </a:lnTo>
                  <a:lnTo>
                    <a:pt x="63679" y="53998"/>
                  </a:lnTo>
                  <a:lnTo>
                    <a:pt x="98412" y="109281"/>
                  </a:lnTo>
                  <a:lnTo>
                    <a:pt x="72042" y="109281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21" name="Полилиния: фигура 11">
              <a:extLst>
                <a:ext uri="{FF2B5EF4-FFF2-40B4-BE49-F238E27FC236}">
                  <a16:creationId xmlns:a16="http://schemas.microsoft.com/office/drawing/2014/main" id="{6B13766F-8371-4C97-BB36-1CB37E35A8D3}"/>
                </a:ext>
              </a:extLst>
            </p:cNvPr>
            <p:cNvSpPr/>
            <p:nvPr/>
          </p:nvSpPr>
          <p:spPr>
            <a:xfrm>
              <a:off x="651176" y="331979"/>
              <a:ext cx="81691" cy="110566"/>
            </a:xfrm>
            <a:custGeom>
              <a:avLst/>
              <a:gdLst>
                <a:gd name="connsiteX0" fmla="*/ 81691 w 81691"/>
                <a:gd name="connsiteY0" fmla="*/ 71354 h 110566"/>
                <a:gd name="connsiteX1" fmla="*/ 39881 w 81691"/>
                <a:gd name="connsiteY1" fmla="*/ 110567 h 110566"/>
                <a:gd name="connsiteX2" fmla="*/ 0 w 81691"/>
                <a:gd name="connsiteY2" fmla="*/ 73925 h 110566"/>
                <a:gd name="connsiteX3" fmla="*/ 22512 w 81691"/>
                <a:gd name="connsiteY3" fmla="*/ 73925 h 110566"/>
                <a:gd name="connsiteX4" fmla="*/ 42453 w 81691"/>
                <a:gd name="connsiteY4" fmla="*/ 89354 h 110566"/>
                <a:gd name="connsiteX5" fmla="*/ 59179 w 81691"/>
                <a:gd name="connsiteY5" fmla="*/ 71354 h 110566"/>
                <a:gd name="connsiteX6" fmla="*/ 39881 w 81691"/>
                <a:gd name="connsiteY6" fmla="*/ 53998 h 110566"/>
                <a:gd name="connsiteX7" fmla="*/ 21869 w 81691"/>
                <a:gd name="connsiteY7" fmla="*/ 62997 h 110566"/>
                <a:gd name="connsiteX8" fmla="*/ 0 w 81691"/>
                <a:gd name="connsiteY8" fmla="*/ 62997 h 110566"/>
                <a:gd name="connsiteX9" fmla="*/ 7720 w 81691"/>
                <a:gd name="connsiteY9" fmla="*/ 0 h 110566"/>
                <a:gd name="connsiteX10" fmla="*/ 78472 w 81691"/>
                <a:gd name="connsiteY10" fmla="*/ 0 h 110566"/>
                <a:gd name="connsiteX11" fmla="*/ 75900 w 81691"/>
                <a:gd name="connsiteY11" fmla="*/ 21214 h 110566"/>
                <a:gd name="connsiteX12" fmla="*/ 25089 w 81691"/>
                <a:gd name="connsiteY12" fmla="*/ 21214 h 110566"/>
                <a:gd name="connsiteX13" fmla="*/ 23160 w 81691"/>
                <a:gd name="connsiteY13" fmla="*/ 42427 h 110566"/>
                <a:gd name="connsiteX14" fmla="*/ 44382 w 81691"/>
                <a:gd name="connsiteY14" fmla="*/ 35999 h 110566"/>
                <a:gd name="connsiteX15" fmla="*/ 81691 w 81691"/>
                <a:gd name="connsiteY15" fmla="*/ 71354 h 110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1691" h="110566">
                  <a:moveTo>
                    <a:pt x="81691" y="71354"/>
                  </a:moveTo>
                  <a:cubicBezTo>
                    <a:pt x="81691" y="95139"/>
                    <a:pt x="63679" y="110567"/>
                    <a:pt x="39881" y="110567"/>
                  </a:cubicBezTo>
                  <a:cubicBezTo>
                    <a:pt x="19298" y="110567"/>
                    <a:pt x="1291" y="98996"/>
                    <a:pt x="0" y="73925"/>
                  </a:cubicBezTo>
                  <a:lnTo>
                    <a:pt x="22512" y="73925"/>
                  </a:lnTo>
                  <a:cubicBezTo>
                    <a:pt x="23803" y="84853"/>
                    <a:pt x="32804" y="89354"/>
                    <a:pt x="42453" y="89354"/>
                  </a:cubicBezTo>
                  <a:cubicBezTo>
                    <a:pt x="54031" y="89354"/>
                    <a:pt x="59179" y="81639"/>
                    <a:pt x="59179" y="71354"/>
                  </a:cubicBezTo>
                  <a:cubicBezTo>
                    <a:pt x="59179" y="60426"/>
                    <a:pt x="51459" y="53998"/>
                    <a:pt x="39881" y="53998"/>
                  </a:cubicBezTo>
                  <a:cubicBezTo>
                    <a:pt x="30875" y="53998"/>
                    <a:pt x="24446" y="58498"/>
                    <a:pt x="21869" y="62997"/>
                  </a:cubicBezTo>
                  <a:lnTo>
                    <a:pt x="0" y="62997"/>
                  </a:lnTo>
                  <a:lnTo>
                    <a:pt x="7720" y="0"/>
                  </a:lnTo>
                  <a:lnTo>
                    <a:pt x="78472" y="0"/>
                  </a:lnTo>
                  <a:lnTo>
                    <a:pt x="75900" y="21214"/>
                  </a:lnTo>
                  <a:lnTo>
                    <a:pt x="25089" y="21214"/>
                  </a:lnTo>
                  <a:lnTo>
                    <a:pt x="23160" y="42427"/>
                  </a:lnTo>
                  <a:cubicBezTo>
                    <a:pt x="23160" y="42427"/>
                    <a:pt x="28304" y="35999"/>
                    <a:pt x="44382" y="35999"/>
                  </a:cubicBezTo>
                  <a:cubicBezTo>
                    <a:pt x="64965" y="35356"/>
                    <a:pt x="81691" y="48212"/>
                    <a:pt x="81691" y="71354"/>
                  </a:cubicBez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22" name="Полилиния: фигура 12">
              <a:extLst>
                <a:ext uri="{FF2B5EF4-FFF2-40B4-BE49-F238E27FC236}">
                  <a16:creationId xmlns:a16="http://schemas.microsoft.com/office/drawing/2014/main" id="{5EEB6770-9C53-4C36-8E20-3DCE5873EFB8}"/>
                </a:ext>
              </a:extLst>
            </p:cNvPr>
            <p:cNvSpPr/>
            <p:nvPr/>
          </p:nvSpPr>
          <p:spPr>
            <a:xfrm>
              <a:off x="428625" y="238125"/>
              <a:ext cx="225123" cy="201848"/>
            </a:xfrm>
            <a:custGeom>
              <a:avLst/>
              <a:gdLst>
                <a:gd name="connsiteX0" fmla="*/ 225123 w 225123"/>
                <a:gd name="connsiteY0" fmla="*/ 79711 h 201848"/>
                <a:gd name="connsiteX1" fmla="*/ 95841 w 225123"/>
                <a:gd name="connsiteY1" fmla="*/ 0 h 201848"/>
                <a:gd name="connsiteX2" fmla="*/ 0 w 225123"/>
                <a:gd name="connsiteY2" fmla="*/ 0 h 201848"/>
                <a:gd name="connsiteX3" fmla="*/ 12864 w 225123"/>
                <a:gd name="connsiteY3" fmla="*/ 87425 h 201848"/>
                <a:gd name="connsiteX4" fmla="*/ 106775 w 225123"/>
                <a:gd name="connsiteY4" fmla="*/ 201849 h 201848"/>
                <a:gd name="connsiteX5" fmla="*/ 108704 w 225123"/>
                <a:gd name="connsiteY5" fmla="*/ 199920 h 201848"/>
                <a:gd name="connsiteX6" fmla="*/ 107418 w 225123"/>
                <a:gd name="connsiteY6" fmla="*/ 198634 h 201848"/>
                <a:gd name="connsiteX7" fmla="*/ 59174 w 225123"/>
                <a:gd name="connsiteY7" fmla="*/ 82925 h 201848"/>
                <a:gd name="connsiteX8" fmla="*/ 53388 w 225123"/>
                <a:gd name="connsiteY8" fmla="*/ 43070 h 201848"/>
                <a:gd name="connsiteX9" fmla="*/ 108061 w 225123"/>
                <a:gd name="connsiteY9" fmla="*/ 43070 h 201848"/>
                <a:gd name="connsiteX10" fmla="*/ 221909 w 225123"/>
                <a:gd name="connsiteY10" fmla="*/ 80996 h 201848"/>
                <a:gd name="connsiteX11" fmla="*/ 223195 w 225123"/>
                <a:gd name="connsiteY11" fmla="*/ 81639 h 201848"/>
                <a:gd name="connsiteX12" fmla="*/ 225123 w 225123"/>
                <a:gd name="connsiteY12" fmla="*/ 79711 h 201848"/>
                <a:gd name="connsiteX13" fmla="*/ 225123 w 225123"/>
                <a:gd name="connsiteY13" fmla="*/ 79711 h 201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5123" h="201848">
                  <a:moveTo>
                    <a:pt x="225123" y="79711"/>
                  </a:moveTo>
                  <a:cubicBezTo>
                    <a:pt x="212903" y="32784"/>
                    <a:pt x="174955" y="0"/>
                    <a:pt x="95841" y="0"/>
                  </a:cubicBezTo>
                  <a:lnTo>
                    <a:pt x="0" y="0"/>
                  </a:lnTo>
                  <a:lnTo>
                    <a:pt x="12864" y="87425"/>
                  </a:lnTo>
                  <a:cubicBezTo>
                    <a:pt x="22512" y="167136"/>
                    <a:pt x="52745" y="192206"/>
                    <a:pt x="106775" y="201849"/>
                  </a:cubicBezTo>
                  <a:cubicBezTo>
                    <a:pt x="106775" y="201849"/>
                    <a:pt x="108704" y="201849"/>
                    <a:pt x="108704" y="199920"/>
                  </a:cubicBezTo>
                  <a:cubicBezTo>
                    <a:pt x="108704" y="199277"/>
                    <a:pt x="108061" y="198634"/>
                    <a:pt x="107418" y="198634"/>
                  </a:cubicBezTo>
                  <a:cubicBezTo>
                    <a:pt x="71395" y="183206"/>
                    <a:pt x="66894" y="133709"/>
                    <a:pt x="59174" y="82925"/>
                  </a:cubicBezTo>
                  <a:lnTo>
                    <a:pt x="53388" y="43070"/>
                  </a:lnTo>
                  <a:lnTo>
                    <a:pt x="108061" y="43070"/>
                  </a:lnTo>
                  <a:cubicBezTo>
                    <a:pt x="158229" y="43070"/>
                    <a:pt x="197468" y="42427"/>
                    <a:pt x="221909" y="80996"/>
                  </a:cubicBezTo>
                  <a:cubicBezTo>
                    <a:pt x="222552" y="81639"/>
                    <a:pt x="222552" y="81639"/>
                    <a:pt x="223195" y="81639"/>
                  </a:cubicBezTo>
                  <a:cubicBezTo>
                    <a:pt x="224480" y="82282"/>
                    <a:pt x="225123" y="80996"/>
                    <a:pt x="225123" y="79711"/>
                  </a:cubicBezTo>
                  <a:cubicBezTo>
                    <a:pt x="225123" y="80354"/>
                    <a:pt x="225123" y="79711"/>
                    <a:pt x="225123" y="79711"/>
                  </a:cubicBezTo>
                  <a:close/>
                </a:path>
              </a:pathLst>
            </a:custGeom>
            <a:solidFill>
              <a:srgbClr val="5FAF2D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23" name="Полилиния: фигура 13">
              <a:extLst>
                <a:ext uri="{FF2B5EF4-FFF2-40B4-BE49-F238E27FC236}">
                  <a16:creationId xmlns:a16="http://schemas.microsoft.com/office/drawing/2014/main" id="{704B2A9F-5975-4492-9E47-277C2F97FAE5}"/>
                </a:ext>
              </a:extLst>
            </p:cNvPr>
            <p:cNvSpPr/>
            <p:nvPr/>
          </p:nvSpPr>
          <p:spPr>
            <a:xfrm>
              <a:off x="750231" y="326836"/>
              <a:ext cx="112708" cy="116994"/>
            </a:xfrm>
            <a:custGeom>
              <a:avLst/>
              <a:gdLst>
                <a:gd name="connsiteX0" fmla="*/ 112562 w 112708"/>
                <a:gd name="connsiteY0" fmla="*/ 56569 h 116994"/>
                <a:gd name="connsiteX1" fmla="*/ 57245 w 112708"/>
                <a:gd name="connsiteY1" fmla="*/ 116995 h 116994"/>
                <a:gd name="connsiteX2" fmla="*/ 0 w 112708"/>
                <a:gd name="connsiteY2" fmla="*/ 58497 h 116994"/>
                <a:gd name="connsiteX3" fmla="*/ 57888 w 112708"/>
                <a:gd name="connsiteY3" fmla="*/ 0 h 116994"/>
                <a:gd name="connsiteX4" fmla="*/ 111276 w 112708"/>
                <a:gd name="connsiteY4" fmla="*/ 37284 h 116994"/>
                <a:gd name="connsiteX5" fmla="*/ 97126 w 112708"/>
                <a:gd name="connsiteY5" fmla="*/ 37284 h 116994"/>
                <a:gd name="connsiteX6" fmla="*/ 57888 w 112708"/>
                <a:gd name="connsiteY6" fmla="*/ 12856 h 116994"/>
                <a:gd name="connsiteX7" fmla="*/ 13506 w 112708"/>
                <a:gd name="connsiteY7" fmla="*/ 58497 h 116994"/>
                <a:gd name="connsiteX8" fmla="*/ 57888 w 112708"/>
                <a:gd name="connsiteY8" fmla="*/ 104138 h 116994"/>
                <a:gd name="connsiteX9" fmla="*/ 99055 w 112708"/>
                <a:gd name="connsiteY9" fmla="*/ 67497 h 116994"/>
                <a:gd name="connsiteX10" fmla="*/ 55316 w 112708"/>
                <a:gd name="connsiteY10" fmla="*/ 67497 h 116994"/>
                <a:gd name="connsiteX11" fmla="*/ 55316 w 112708"/>
                <a:gd name="connsiteY11" fmla="*/ 55926 h 116994"/>
                <a:gd name="connsiteX12" fmla="*/ 112562 w 112708"/>
                <a:gd name="connsiteY12" fmla="*/ 56569 h 116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2708" h="116994">
                  <a:moveTo>
                    <a:pt x="112562" y="56569"/>
                  </a:moveTo>
                  <a:cubicBezTo>
                    <a:pt x="112562" y="56569"/>
                    <a:pt x="118353" y="116995"/>
                    <a:pt x="57245" y="116995"/>
                  </a:cubicBezTo>
                  <a:cubicBezTo>
                    <a:pt x="25089" y="116995"/>
                    <a:pt x="0" y="92567"/>
                    <a:pt x="0" y="58497"/>
                  </a:cubicBezTo>
                  <a:cubicBezTo>
                    <a:pt x="0" y="25070"/>
                    <a:pt x="25089" y="0"/>
                    <a:pt x="57888" y="0"/>
                  </a:cubicBezTo>
                  <a:cubicBezTo>
                    <a:pt x="83620" y="0"/>
                    <a:pt x="103561" y="14785"/>
                    <a:pt x="111276" y="37284"/>
                  </a:cubicBezTo>
                  <a:lnTo>
                    <a:pt x="97126" y="37284"/>
                  </a:lnTo>
                  <a:cubicBezTo>
                    <a:pt x="90049" y="22499"/>
                    <a:pt x="75900" y="12856"/>
                    <a:pt x="57888" y="12856"/>
                  </a:cubicBezTo>
                  <a:cubicBezTo>
                    <a:pt x="32161" y="12856"/>
                    <a:pt x="13506" y="32141"/>
                    <a:pt x="13506" y="58497"/>
                  </a:cubicBezTo>
                  <a:cubicBezTo>
                    <a:pt x="13506" y="84211"/>
                    <a:pt x="31518" y="104138"/>
                    <a:pt x="57888" y="104138"/>
                  </a:cubicBezTo>
                  <a:cubicBezTo>
                    <a:pt x="80400" y="104138"/>
                    <a:pt x="97126" y="89996"/>
                    <a:pt x="99055" y="67497"/>
                  </a:cubicBezTo>
                  <a:lnTo>
                    <a:pt x="55316" y="67497"/>
                  </a:lnTo>
                  <a:lnTo>
                    <a:pt x="55316" y="55926"/>
                  </a:lnTo>
                  <a:lnTo>
                    <a:pt x="112562" y="56569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24" name="Полилиния: фигура 14">
              <a:extLst>
                <a:ext uri="{FF2B5EF4-FFF2-40B4-BE49-F238E27FC236}">
                  <a16:creationId xmlns:a16="http://schemas.microsoft.com/office/drawing/2014/main" id="{BF66DB3F-16E2-4916-9569-2606F626CD0E}"/>
                </a:ext>
              </a:extLst>
            </p:cNvPr>
            <p:cNvSpPr/>
            <p:nvPr/>
          </p:nvSpPr>
          <p:spPr>
            <a:xfrm>
              <a:off x="880800" y="351903"/>
              <a:ext cx="50815" cy="89353"/>
            </a:xfrm>
            <a:custGeom>
              <a:avLst/>
              <a:gdLst>
                <a:gd name="connsiteX0" fmla="*/ 50816 w 50815"/>
                <a:gd name="connsiteY0" fmla="*/ 0 h 89353"/>
                <a:gd name="connsiteX1" fmla="*/ 50816 w 50815"/>
                <a:gd name="connsiteY1" fmla="*/ 13499 h 89353"/>
                <a:gd name="connsiteX2" fmla="*/ 45025 w 50815"/>
                <a:gd name="connsiteY2" fmla="*/ 12857 h 89353"/>
                <a:gd name="connsiteX3" fmla="*/ 13511 w 50815"/>
                <a:gd name="connsiteY3" fmla="*/ 47569 h 89353"/>
                <a:gd name="connsiteX4" fmla="*/ 13511 w 50815"/>
                <a:gd name="connsiteY4" fmla="*/ 89354 h 89353"/>
                <a:gd name="connsiteX5" fmla="*/ 0 w 50815"/>
                <a:gd name="connsiteY5" fmla="*/ 89354 h 89353"/>
                <a:gd name="connsiteX6" fmla="*/ 0 w 50815"/>
                <a:gd name="connsiteY6" fmla="*/ 1929 h 89353"/>
                <a:gd name="connsiteX7" fmla="*/ 13511 w 50815"/>
                <a:gd name="connsiteY7" fmla="*/ 1929 h 89353"/>
                <a:gd name="connsiteX8" fmla="*/ 13511 w 50815"/>
                <a:gd name="connsiteY8" fmla="*/ 21857 h 89353"/>
                <a:gd name="connsiteX9" fmla="*/ 45025 w 50815"/>
                <a:gd name="connsiteY9" fmla="*/ 0 h 89353"/>
                <a:gd name="connsiteX10" fmla="*/ 50816 w 50815"/>
                <a:gd name="connsiteY10" fmla="*/ 0 h 89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0815" h="89353">
                  <a:moveTo>
                    <a:pt x="50816" y="0"/>
                  </a:moveTo>
                  <a:lnTo>
                    <a:pt x="50816" y="13499"/>
                  </a:lnTo>
                  <a:cubicBezTo>
                    <a:pt x="49530" y="13499"/>
                    <a:pt x="47601" y="12857"/>
                    <a:pt x="45025" y="12857"/>
                  </a:cubicBezTo>
                  <a:cubicBezTo>
                    <a:pt x="26375" y="12857"/>
                    <a:pt x="13511" y="25070"/>
                    <a:pt x="13511" y="47569"/>
                  </a:cubicBezTo>
                  <a:lnTo>
                    <a:pt x="13511" y="89354"/>
                  </a:lnTo>
                  <a:lnTo>
                    <a:pt x="0" y="89354"/>
                  </a:lnTo>
                  <a:lnTo>
                    <a:pt x="0" y="1929"/>
                  </a:lnTo>
                  <a:lnTo>
                    <a:pt x="13511" y="1929"/>
                  </a:lnTo>
                  <a:lnTo>
                    <a:pt x="13511" y="21857"/>
                  </a:lnTo>
                  <a:cubicBezTo>
                    <a:pt x="18655" y="8357"/>
                    <a:pt x="29589" y="0"/>
                    <a:pt x="45025" y="0"/>
                  </a:cubicBezTo>
                  <a:cubicBezTo>
                    <a:pt x="47601" y="0"/>
                    <a:pt x="49530" y="0"/>
                    <a:pt x="50816" y="0"/>
                  </a:cubicBez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25" name="Полилиния: фигура 15">
              <a:extLst>
                <a:ext uri="{FF2B5EF4-FFF2-40B4-BE49-F238E27FC236}">
                  <a16:creationId xmlns:a16="http://schemas.microsoft.com/office/drawing/2014/main" id="{CB960B10-815B-4FFA-B3E7-8C05F60CB33E}"/>
                </a:ext>
              </a:extLst>
            </p:cNvPr>
            <p:cNvSpPr/>
            <p:nvPr/>
          </p:nvSpPr>
          <p:spPr>
            <a:xfrm>
              <a:off x="938693" y="351903"/>
              <a:ext cx="91335" cy="92567"/>
            </a:xfrm>
            <a:custGeom>
              <a:avLst/>
              <a:gdLst>
                <a:gd name="connsiteX0" fmla="*/ 91335 w 91335"/>
                <a:gd name="connsiteY0" fmla="*/ 46284 h 92567"/>
                <a:gd name="connsiteX1" fmla="*/ 45668 w 91335"/>
                <a:gd name="connsiteY1" fmla="*/ 92568 h 92567"/>
                <a:gd name="connsiteX2" fmla="*/ 0 w 91335"/>
                <a:gd name="connsiteY2" fmla="*/ 46284 h 92567"/>
                <a:gd name="connsiteX3" fmla="*/ 45668 w 91335"/>
                <a:gd name="connsiteY3" fmla="*/ 0 h 92567"/>
                <a:gd name="connsiteX4" fmla="*/ 91335 w 91335"/>
                <a:gd name="connsiteY4" fmla="*/ 46284 h 92567"/>
                <a:gd name="connsiteX5" fmla="*/ 12864 w 91335"/>
                <a:gd name="connsiteY5" fmla="*/ 46284 h 92567"/>
                <a:gd name="connsiteX6" fmla="*/ 45025 w 91335"/>
                <a:gd name="connsiteY6" fmla="*/ 79711 h 92567"/>
                <a:gd name="connsiteX7" fmla="*/ 77181 w 91335"/>
                <a:gd name="connsiteY7" fmla="*/ 46284 h 92567"/>
                <a:gd name="connsiteX8" fmla="*/ 45025 w 91335"/>
                <a:gd name="connsiteY8" fmla="*/ 12857 h 92567"/>
                <a:gd name="connsiteX9" fmla="*/ 12864 w 91335"/>
                <a:gd name="connsiteY9" fmla="*/ 46284 h 92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335" h="92567">
                  <a:moveTo>
                    <a:pt x="91335" y="46284"/>
                  </a:moveTo>
                  <a:cubicBezTo>
                    <a:pt x="91335" y="72640"/>
                    <a:pt x="71395" y="92568"/>
                    <a:pt x="45668" y="92568"/>
                  </a:cubicBezTo>
                  <a:cubicBezTo>
                    <a:pt x="19936" y="92568"/>
                    <a:pt x="0" y="72640"/>
                    <a:pt x="0" y="46284"/>
                  </a:cubicBezTo>
                  <a:cubicBezTo>
                    <a:pt x="0" y="19928"/>
                    <a:pt x="20579" y="0"/>
                    <a:pt x="45668" y="0"/>
                  </a:cubicBezTo>
                  <a:cubicBezTo>
                    <a:pt x="70752" y="0"/>
                    <a:pt x="91335" y="19285"/>
                    <a:pt x="91335" y="46284"/>
                  </a:cubicBezTo>
                  <a:close/>
                  <a:moveTo>
                    <a:pt x="12864" y="46284"/>
                  </a:moveTo>
                  <a:cubicBezTo>
                    <a:pt x="12864" y="65569"/>
                    <a:pt x="27013" y="79711"/>
                    <a:pt x="45025" y="79711"/>
                  </a:cubicBezTo>
                  <a:cubicBezTo>
                    <a:pt x="63032" y="79711"/>
                    <a:pt x="77181" y="65569"/>
                    <a:pt x="77181" y="46284"/>
                  </a:cubicBezTo>
                  <a:cubicBezTo>
                    <a:pt x="77181" y="26999"/>
                    <a:pt x="63032" y="12857"/>
                    <a:pt x="45025" y="12857"/>
                  </a:cubicBezTo>
                  <a:cubicBezTo>
                    <a:pt x="27656" y="12857"/>
                    <a:pt x="12864" y="26356"/>
                    <a:pt x="12864" y="46284"/>
                  </a:cubicBez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26" name="Полилиния: фигура 16">
              <a:extLst>
                <a:ext uri="{FF2B5EF4-FFF2-40B4-BE49-F238E27FC236}">
                  <a16:creationId xmlns:a16="http://schemas.microsoft.com/office/drawing/2014/main" id="{CBA0FD59-7588-4A82-AA06-97354E2FBB45}"/>
                </a:ext>
              </a:extLst>
            </p:cNvPr>
            <p:cNvSpPr/>
            <p:nvPr/>
          </p:nvSpPr>
          <p:spPr>
            <a:xfrm>
              <a:off x="1046106" y="353838"/>
              <a:ext cx="76542" cy="90638"/>
            </a:xfrm>
            <a:custGeom>
              <a:avLst/>
              <a:gdLst>
                <a:gd name="connsiteX0" fmla="*/ 76543 w 76542"/>
                <a:gd name="connsiteY0" fmla="*/ 0 h 90638"/>
                <a:gd name="connsiteX1" fmla="*/ 76543 w 76542"/>
                <a:gd name="connsiteY1" fmla="*/ 88710 h 90638"/>
                <a:gd name="connsiteX2" fmla="*/ 63036 w 76542"/>
                <a:gd name="connsiteY2" fmla="*/ 88710 h 90638"/>
                <a:gd name="connsiteX3" fmla="*/ 63036 w 76542"/>
                <a:gd name="connsiteY3" fmla="*/ 71354 h 90638"/>
                <a:gd name="connsiteX4" fmla="*/ 31518 w 76542"/>
                <a:gd name="connsiteY4" fmla="*/ 90639 h 90638"/>
                <a:gd name="connsiteX5" fmla="*/ 0 w 76542"/>
                <a:gd name="connsiteY5" fmla="*/ 56569 h 90638"/>
                <a:gd name="connsiteX6" fmla="*/ 0 w 76542"/>
                <a:gd name="connsiteY6" fmla="*/ 0 h 90638"/>
                <a:gd name="connsiteX7" fmla="*/ 13506 w 76542"/>
                <a:gd name="connsiteY7" fmla="*/ 0 h 90638"/>
                <a:gd name="connsiteX8" fmla="*/ 13506 w 76542"/>
                <a:gd name="connsiteY8" fmla="*/ 53998 h 90638"/>
                <a:gd name="connsiteX9" fmla="*/ 35376 w 76542"/>
                <a:gd name="connsiteY9" fmla="*/ 77782 h 90638"/>
                <a:gd name="connsiteX10" fmla="*/ 63036 w 76542"/>
                <a:gd name="connsiteY10" fmla="*/ 45641 h 90638"/>
                <a:gd name="connsiteX11" fmla="*/ 63036 w 76542"/>
                <a:gd name="connsiteY11" fmla="*/ 0 h 90638"/>
                <a:gd name="connsiteX12" fmla="*/ 76543 w 76542"/>
                <a:gd name="connsiteY12" fmla="*/ 0 h 90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6542" h="90638">
                  <a:moveTo>
                    <a:pt x="76543" y="0"/>
                  </a:moveTo>
                  <a:lnTo>
                    <a:pt x="76543" y="88710"/>
                  </a:lnTo>
                  <a:lnTo>
                    <a:pt x="63036" y="88710"/>
                  </a:lnTo>
                  <a:lnTo>
                    <a:pt x="63036" y="71354"/>
                  </a:lnTo>
                  <a:cubicBezTo>
                    <a:pt x="57245" y="82925"/>
                    <a:pt x="46954" y="90639"/>
                    <a:pt x="31518" y="90639"/>
                  </a:cubicBezTo>
                  <a:cubicBezTo>
                    <a:pt x="11578" y="90639"/>
                    <a:pt x="0" y="77782"/>
                    <a:pt x="0" y="56569"/>
                  </a:cubicBezTo>
                  <a:lnTo>
                    <a:pt x="0" y="0"/>
                  </a:lnTo>
                  <a:lnTo>
                    <a:pt x="13506" y="0"/>
                  </a:lnTo>
                  <a:lnTo>
                    <a:pt x="13506" y="53998"/>
                  </a:lnTo>
                  <a:cubicBezTo>
                    <a:pt x="13506" y="70068"/>
                    <a:pt x="21226" y="77782"/>
                    <a:pt x="35376" y="77782"/>
                  </a:cubicBezTo>
                  <a:cubicBezTo>
                    <a:pt x="52745" y="77782"/>
                    <a:pt x="63036" y="64926"/>
                    <a:pt x="63036" y="45641"/>
                  </a:cubicBezTo>
                  <a:lnTo>
                    <a:pt x="63036" y="0"/>
                  </a:lnTo>
                  <a:lnTo>
                    <a:pt x="76543" y="0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27" name="Полилиния: фигура 17">
              <a:extLst>
                <a:ext uri="{FF2B5EF4-FFF2-40B4-BE49-F238E27FC236}">
                  <a16:creationId xmlns:a16="http://schemas.microsoft.com/office/drawing/2014/main" id="{71589F7C-8455-4C16-B4EA-B2876329F398}"/>
                </a:ext>
              </a:extLst>
            </p:cNvPr>
            <p:cNvSpPr/>
            <p:nvPr/>
          </p:nvSpPr>
          <p:spPr>
            <a:xfrm>
              <a:off x="1142590" y="351903"/>
              <a:ext cx="88763" cy="131137"/>
            </a:xfrm>
            <a:custGeom>
              <a:avLst/>
              <a:gdLst>
                <a:gd name="connsiteX0" fmla="*/ 88763 w 88763"/>
                <a:gd name="connsiteY0" fmla="*/ 46284 h 131137"/>
                <a:gd name="connsiteX1" fmla="*/ 46953 w 88763"/>
                <a:gd name="connsiteY1" fmla="*/ 92568 h 131137"/>
                <a:gd name="connsiteX2" fmla="*/ 12864 w 88763"/>
                <a:gd name="connsiteY2" fmla="*/ 72640 h 131137"/>
                <a:gd name="connsiteX3" fmla="*/ 12864 w 88763"/>
                <a:gd name="connsiteY3" fmla="*/ 131137 h 131137"/>
                <a:gd name="connsiteX4" fmla="*/ 0 w 88763"/>
                <a:gd name="connsiteY4" fmla="*/ 131137 h 131137"/>
                <a:gd name="connsiteX5" fmla="*/ 0 w 88763"/>
                <a:gd name="connsiteY5" fmla="*/ 1929 h 131137"/>
                <a:gd name="connsiteX6" fmla="*/ 13506 w 88763"/>
                <a:gd name="connsiteY6" fmla="*/ 1929 h 131137"/>
                <a:gd name="connsiteX7" fmla="*/ 13506 w 88763"/>
                <a:gd name="connsiteY7" fmla="*/ 19928 h 131137"/>
                <a:gd name="connsiteX8" fmla="*/ 47596 w 88763"/>
                <a:gd name="connsiteY8" fmla="*/ 0 h 131137"/>
                <a:gd name="connsiteX9" fmla="*/ 88763 w 88763"/>
                <a:gd name="connsiteY9" fmla="*/ 46284 h 131137"/>
                <a:gd name="connsiteX10" fmla="*/ 75257 w 88763"/>
                <a:gd name="connsiteY10" fmla="*/ 46284 h 131137"/>
                <a:gd name="connsiteX11" fmla="*/ 44382 w 88763"/>
                <a:gd name="connsiteY11" fmla="*/ 12857 h 131137"/>
                <a:gd name="connsiteX12" fmla="*/ 12221 w 88763"/>
                <a:gd name="connsiteY12" fmla="*/ 46284 h 131137"/>
                <a:gd name="connsiteX13" fmla="*/ 44382 w 88763"/>
                <a:gd name="connsiteY13" fmla="*/ 79711 h 131137"/>
                <a:gd name="connsiteX14" fmla="*/ 75257 w 88763"/>
                <a:gd name="connsiteY14" fmla="*/ 46284 h 131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8763" h="131137">
                  <a:moveTo>
                    <a:pt x="88763" y="46284"/>
                  </a:moveTo>
                  <a:cubicBezTo>
                    <a:pt x="88763" y="73282"/>
                    <a:pt x="71395" y="92568"/>
                    <a:pt x="46953" y="92568"/>
                  </a:cubicBezTo>
                  <a:cubicBezTo>
                    <a:pt x="31518" y="92568"/>
                    <a:pt x="19941" y="84853"/>
                    <a:pt x="12864" y="72640"/>
                  </a:cubicBezTo>
                  <a:lnTo>
                    <a:pt x="12864" y="131137"/>
                  </a:lnTo>
                  <a:lnTo>
                    <a:pt x="0" y="131137"/>
                  </a:lnTo>
                  <a:lnTo>
                    <a:pt x="0" y="1929"/>
                  </a:lnTo>
                  <a:lnTo>
                    <a:pt x="13506" y="1929"/>
                  </a:lnTo>
                  <a:lnTo>
                    <a:pt x="13506" y="19928"/>
                  </a:lnTo>
                  <a:cubicBezTo>
                    <a:pt x="20583" y="7714"/>
                    <a:pt x="32161" y="0"/>
                    <a:pt x="47596" y="0"/>
                  </a:cubicBezTo>
                  <a:cubicBezTo>
                    <a:pt x="71395" y="0"/>
                    <a:pt x="88763" y="19285"/>
                    <a:pt x="88763" y="46284"/>
                  </a:cubicBezTo>
                  <a:close/>
                  <a:moveTo>
                    <a:pt x="75257" y="46284"/>
                  </a:moveTo>
                  <a:cubicBezTo>
                    <a:pt x="75257" y="26999"/>
                    <a:pt x="62394" y="12857"/>
                    <a:pt x="44382" y="12857"/>
                  </a:cubicBezTo>
                  <a:cubicBezTo>
                    <a:pt x="26370" y="12857"/>
                    <a:pt x="12221" y="26999"/>
                    <a:pt x="12221" y="46284"/>
                  </a:cubicBezTo>
                  <a:cubicBezTo>
                    <a:pt x="12221" y="65569"/>
                    <a:pt x="25727" y="79711"/>
                    <a:pt x="44382" y="79711"/>
                  </a:cubicBezTo>
                  <a:cubicBezTo>
                    <a:pt x="63036" y="79711"/>
                    <a:pt x="75257" y="65569"/>
                    <a:pt x="75257" y="46284"/>
                  </a:cubicBez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9740D079-FD06-4042-8C12-6CB7FE9CEB4D}"/>
              </a:ext>
            </a:extLst>
          </p:cNvPr>
          <p:cNvSpPr txBox="1"/>
          <p:nvPr/>
        </p:nvSpPr>
        <p:spPr>
          <a:xfrm>
            <a:off x="160379" y="348403"/>
            <a:ext cx="115355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ru-RU" sz="2000" b="1" spc="-20" dirty="0">
                <a:latin typeface="X5 Sans Medium" panose="020B0503020203020204" pitchFamily="34" charset="0"/>
                <a:ea typeface="X5 Sans Medium" panose="020B0503020203020204" pitchFamily="34" charset="0"/>
                <a:cs typeface="Open Sans Bold" panose="020B0604020202020204" charset="0"/>
              </a:rPr>
              <a:t>Дальнейшие шаги</a:t>
            </a:r>
          </a:p>
        </p:txBody>
      </p:sp>
      <p:sp>
        <p:nvSpPr>
          <p:cNvPr id="51" name="Номер слайда 6">
            <a:extLst>
              <a:ext uri="{FF2B5EF4-FFF2-40B4-BE49-F238E27FC236}">
                <a16:creationId xmlns:a16="http://schemas.microsoft.com/office/drawing/2014/main" id="{E86BEAF8-EAAF-4D2C-A912-0E6931DAA2C0}"/>
              </a:ext>
            </a:extLst>
          </p:cNvPr>
          <p:cNvSpPr txBox="1">
            <a:spLocks/>
          </p:cNvSpPr>
          <p:nvPr/>
        </p:nvSpPr>
        <p:spPr>
          <a:xfrm>
            <a:off x="11665862" y="527988"/>
            <a:ext cx="318135" cy="11864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ru-RU"/>
            </a:defPPr>
            <a:lvl1pPr marL="0" algn="ctr" defTabSz="914400" rtl="0" eaLnBrk="1" latinLnBrk="0" hangingPunct="1">
              <a:defRPr sz="800" b="0" kern="12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  <a:cs typeface="Open Sans SemiBold" panose="020B07060308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C96FE9D3-F4ED-4A78-AE68-5D32F6CAB728}" type="slidenum">
              <a:rPr lang="ru-RU" smtClean="0">
                <a:solidFill>
                  <a:srgbClr val="FFFFFF"/>
                </a:solidFill>
              </a:rPr>
              <a:pPr>
                <a:defRPr/>
              </a:pPr>
              <a:t>5</a:t>
            </a:fld>
            <a:endParaRPr lang="ru-RU" dirty="0">
              <a:solidFill>
                <a:srgbClr val="FFFFFF"/>
              </a:solidFill>
            </a:endParaRPr>
          </a:p>
        </p:txBody>
      </p:sp>
      <p:sp>
        <p:nvSpPr>
          <p:cNvPr id="52" name="Овал 51">
            <a:extLst>
              <a:ext uri="{FF2B5EF4-FFF2-40B4-BE49-F238E27FC236}">
                <a16:creationId xmlns:a16="http://schemas.microsoft.com/office/drawing/2014/main" id="{B131399C-3E82-4528-A708-BC80F405FF40}"/>
              </a:ext>
            </a:extLst>
          </p:cNvPr>
          <p:cNvSpPr/>
          <p:nvPr/>
        </p:nvSpPr>
        <p:spPr>
          <a:xfrm>
            <a:off x="11865777" y="62653"/>
            <a:ext cx="285750" cy="285750"/>
          </a:xfrm>
          <a:prstGeom prst="ellipse">
            <a:avLst/>
          </a:prstGeom>
          <a:solidFill>
            <a:srgbClr val="5FAF2D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191923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3" name="Номер слайда 6">
            <a:extLst>
              <a:ext uri="{FF2B5EF4-FFF2-40B4-BE49-F238E27FC236}">
                <a16:creationId xmlns:a16="http://schemas.microsoft.com/office/drawing/2014/main" id="{1B12D6C9-405B-4DB5-B70D-57127FD18902}"/>
              </a:ext>
            </a:extLst>
          </p:cNvPr>
          <p:cNvSpPr txBox="1">
            <a:spLocks/>
          </p:cNvSpPr>
          <p:nvPr/>
        </p:nvSpPr>
        <p:spPr>
          <a:xfrm>
            <a:off x="11849584" y="146205"/>
            <a:ext cx="318135" cy="11864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ru-RU"/>
            </a:defPPr>
            <a:lvl1pPr marL="0" algn="ctr" defTabSz="914400" rtl="0" eaLnBrk="1" latinLnBrk="0" hangingPunct="1">
              <a:defRPr sz="800" b="0" kern="12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  <a:cs typeface="Open Sans SemiBold" panose="020B07060308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C96FE9D3-F4ED-4A78-AE68-5D32F6CAB728}" type="slidenum">
              <a:rPr lang="ru-RU" smtClean="0">
                <a:solidFill>
                  <a:srgbClr val="FFFFFF"/>
                </a:solidFill>
              </a:rPr>
              <a:pPr>
                <a:defRPr/>
              </a:pPr>
              <a:t>5</a:t>
            </a:fld>
            <a:endParaRPr lang="ru-RU" dirty="0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98E33D-C3A3-4894-B376-927C56D9E9C7}"/>
              </a:ext>
            </a:extLst>
          </p:cNvPr>
          <p:cNvSpPr txBox="1"/>
          <p:nvPr/>
        </p:nvSpPr>
        <p:spPr>
          <a:xfrm>
            <a:off x="160379" y="1035533"/>
            <a:ext cx="877260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1600" dirty="0"/>
              <a:t>Формирование детализированной концепции и дорожной карты – </a:t>
            </a:r>
            <a:r>
              <a:rPr lang="ru-RU" sz="1600" dirty="0">
                <a:solidFill>
                  <a:srgbClr val="FF0000"/>
                </a:solidFill>
              </a:rPr>
              <a:t>28 августа</a:t>
            </a:r>
          </a:p>
          <a:p>
            <a:pPr marL="342900" indent="-342900">
              <a:buFont typeface="+mj-lt"/>
              <a:buAutoNum type="arabicPeriod"/>
            </a:pPr>
            <a:endParaRPr lang="ru-RU" sz="1600" dirty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Согласование концепции* – ДР. Необходимо получить согласование: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1600" dirty="0"/>
              <a:t>Дирекция по внутреннему аудиту(Иван Ворона)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1600" dirty="0"/>
              <a:t>Финансовая дирекция (Николай Иванов)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1600" dirty="0"/>
              <a:t>БЕ Технологии (Александр Костин)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1600" dirty="0"/>
              <a:t>Направление «Организационная эффективность» (Денис Дудоров)</a:t>
            </a:r>
          </a:p>
          <a:p>
            <a:pPr marL="342900" indent="-342900">
              <a:buFont typeface="+mj-lt"/>
              <a:buAutoNum type="arabicPeriod"/>
            </a:pPr>
            <a:endParaRPr lang="ru-RU" sz="1600" dirty="0"/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Подписание приказа* у Игоря </a:t>
            </a:r>
            <a:r>
              <a:rPr lang="ru-RU" sz="1600" dirty="0" err="1"/>
              <a:t>Шехтермана</a:t>
            </a:r>
            <a:endParaRPr lang="ru-RU" sz="1600" dirty="0"/>
          </a:p>
          <a:p>
            <a:pPr marL="342900" indent="-342900">
              <a:buFont typeface="+mj-lt"/>
              <a:buAutoNum type="arabicPeriod"/>
            </a:pPr>
            <a:endParaRPr lang="ru-RU" sz="1600" dirty="0"/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Рассмотрение на Аудиторском комитете (</a:t>
            </a:r>
            <a:r>
              <a:rPr lang="ru-RU" sz="1600" dirty="0">
                <a:solidFill>
                  <a:srgbClr val="FF0000"/>
                </a:solidFill>
              </a:rPr>
              <a:t>20-е числа сентября</a:t>
            </a:r>
            <a:r>
              <a:rPr lang="ru-RU" sz="1600" dirty="0"/>
              <a:t>)</a:t>
            </a:r>
          </a:p>
          <a:p>
            <a:pPr marL="342900" indent="-342900">
              <a:buFont typeface="+mj-lt"/>
              <a:buAutoNum type="arabicPeriod"/>
            </a:pPr>
            <a:endParaRPr lang="ru-RU" sz="1600" dirty="0"/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Запуск процесса согласно дорожной карты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ru-RU" sz="16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6ACDFA4-5875-493D-B9D8-58EDF867E908}"/>
              </a:ext>
            </a:extLst>
          </p:cNvPr>
          <p:cNvSpPr txBox="1"/>
          <p:nvPr/>
        </p:nvSpPr>
        <p:spPr>
          <a:xfrm>
            <a:off x="190524" y="5607180"/>
            <a:ext cx="118006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solidFill>
                  <a:srgbClr val="FF0000"/>
                </a:solidFill>
              </a:rPr>
              <a:t>* На встрече проговорили, что период отпусков может не позволить выполнить 2 и 3 пункты до проведения Аудиторского комитета</a:t>
            </a:r>
          </a:p>
        </p:txBody>
      </p:sp>
    </p:spTree>
    <p:extLst>
      <p:ext uri="{BB962C8B-B14F-4D97-AF65-F5344CB8AC3E}">
        <p14:creationId xmlns:p14="http://schemas.microsoft.com/office/powerpoint/2010/main" val="214340136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13341</TotalTime>
  <Words>675</Words>
  <Application>Microsoft Office PowerPoint</Application>
  <PresentationFormat>Широкоэкранный</PresentationFormat>
  <Paragraphs>133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3" baseType="lpstr">
      <vt:lpstr>Arial</vt:lpstr>
      <vt:lpstr>Calibri</vt:lpstr>
      <vt:lpstr>Calibri Light</vt:lpstr>
      <vt:lpstr>Open Sans</vt:lpstr>
      <vt:lpstr>Open Sans Bold</vt:lpstr>
      <vt:lpstr>Open Sans SemiBold</vt:lpstr>
      <vt:lpstr>X5 Sans Medium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Malinin, Petr</dc:creator>
  <cp:lastModifiedBy>Komarov, Andrey</cp:lastModifiedBy>
  <cp:revision>299</cp:revision>
  <dcterms:created xsi:type="dcterms:W3CDTF">2024-12-18T06:54:10Z</dcterms:created>
  <dcterms:modified xsi:type="dcterms:W3CDTF">2026-07-17T08:15:33Z</dcterms:modified>
</cp:coreProperties>
</file>